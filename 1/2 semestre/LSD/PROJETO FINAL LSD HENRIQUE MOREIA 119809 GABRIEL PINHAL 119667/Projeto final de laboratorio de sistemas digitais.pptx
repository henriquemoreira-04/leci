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3" r:id="rId6"/>
    <p:sldId id="277" r:id="rId7"/>
    <p:sldId id="258" r:id="rId8"/>
    <p:sldId id="264" r:id="rId9"/>
    <p:sldId id="291" r:id="rId10"/>
    <p:sldId id="268" r:id="rId11"/>
    <p:sldId id="286" r:id="rId12"/>
    <p:sldId id="292" r:id="rId13"/>
    <p:sldId id="279" r:id="rId14"/>
    <p:sldId id="260" r:id="rId15"/>
    <p:sldId id="276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01/06/2024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01/06/2024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P</a:t>
            </a:r>
            <a:r>
              <a:rPr lang="es-ES" dirty="0" err="1"/>
              <a:t>rojeto</a:t>
            </a:r>
            <a:r>
              <a:rPr lang="es-ES" dirty="0"/>
              <a:t> final de laboratorio de sistemas </a:t>
            </a:r>
            <a:r>
              <a:rPr lang="es-ES" dirty="0" err="1"/>
              <a:t>digitais</a:t>
            </a:r>
            <a:br>
              <a:rPr lang="es-ES" dirty="0"/>
            </a:br>
            <a:r>
              <a:rPr lang="es-ES" dirty="0"/>
              <a:t>         2023/2024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7E99F-DBE8-D510-F66B-482F7A19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Controlador de forno elétrico (versão 3) 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9FB0EA-58A0-54C0-C86B-970194E7790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Henrique Moreira (119809)</a:t>
            </a:r>
          </a:p>
          <a:p>
            <a:r>
              <a:rPr lang="en-US" dirty="0"/>
              <a:t>Gabriel </a:t>
            </a:r>
            <a:r>
              <a:rPr lang="en-US" dirty="0" err="1"/>
              <a:t>Pinhal</a:t>
            </a:r>
            <a:r>
              <a:rPr lang="en-US" dirty="0"/>
              <a:t> (119667)</a:t>
            </a:r>
          </a:p>
          <a:p>
            <a:r>
              <a:rPr lang="en-US" dirty="0"/>
              <a:t>UNIVERSIDADE DE AVEIRO</a:t>
            </a:r>
          </a:p>
          <a:p>
            <a:r>
              <a:rPr lang="en-US" dirty="0"/>
              <a:t>DETI</a:t>
            </a:r>
          </a:p>
          <a:p>
            <a:endParaRPr lang="en-US" dirty="0"/>
          </a:p>
          <a:p>
            <a:r>
              <a:rPr lang="en-US" dirty="0"/>
              <a:t>03/06/2024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C08303-5F13-9128-099C-CE8BDDF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159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-685799"/>
            <a:ext cx="6343650" cy="2534477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7200" b="0" i="0" dirty="0" err="1">
                <a:effectLst/>
                <a:latin typeface="Google Sans"/>
              </a:rPr>
              <a:t>conteúdo</a:t>
            </a:r>
            <a:endParaRPr lang="es-ES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1958009"/>
            <a:ext cx="6338887" cy="4010992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sz="3200" dirty="0" err="1"/>
              <a:t>Introdução</a:t>
            </a:r>
            <a:endParaRPr lang="es-ES" sz="3200" dirty="0"/>
          </a:p>
          <a:p>
            <a:pPr rtl="0"/>
            <a:r>
              <a:rPr lang="es-ES" sz="3200" dirty="0"/>
              <a:t>FPGA</a:t>
            </a:r>
          </a:p>
          <a:p>
            <a:pPr rtl="0"/>
            <a:r>
              <a:rPr lang="es-ES" sz="3200" dirty="0" err="1"/>
              <a:t>Arquitetura</a:t>
            </a:r>
            <a:r>
              <a:rPr lang="es-ES" sz="3200" dirty="0"/>
              <a:t> do sistema</a:t>
            </a:r>
          </a:p>
          <a:p>
            <a:pPr rtl="0"/>
            <a:r>
              <a:rPr lang="es-ES" sz="3200" dirty="0"/>
              <a:t>Manual do utilizador </a:t>
            </a:r>
          </a:p>
          <a:p>
            <a:pPr rtl="0"/>
            <a:r>
              <a:rPr lang="es-ES" sz="3200" dirty="0" err="1"/>
              <a:t>Conclusões</a:t>
            </a:r>
            <a:endParaRPr lang="es-ES" sz="32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Marcador de posición de imagen 33" descr="Vista aérea de una intersección de autopista de neó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Elipse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2F28DEE7-98A6-76E6-FC90-25A485C7CC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546652"/>
            <a:ext cx="6597650" cy="617355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>
            <a:defPPr>
              <a:defRPr lang="es-ES"/>
            </a:defPPr>
          </a:lstStyle>
          <a:p>
            <a:pPr rtl="0"/>
            <a:endParaRPr lang="es-ES" sz="3600" dirty="0"/>
          </a:p>
          <a:p>
            <a:pPr rtl="0"/>
            <a:r>
              <a:rPr lang="es-ES" sz="3400" dirty="0"/>
              <a:t>1) Objetivo do </a:t>
            </a:r>
            <a:r>
              <a:rPr lang="es-ES" sz="3400" dirty="0" err="1"/>
              <a:t>projeto</a:t>
            </a:r>
            <a:r>
              <a:rPr lang="es-ES" sz="3400" dirty="0"/>
              <a:t>:</a:t>
            </a:r>
          </a:p>
          <a:p>
            <a:pPr rtl="0"/>
            <a:r>
              <a:rPr lang="pt-BR" sz="3400" dirty="0"/>
              <a:t>-Projetar e implementar um controlador   digital de forno usando linguagem VHDL e </a:t>
            </a:r>
          </a:p>
          <a:p>
            <a:pPr rtl="0"/>
            <a:r>
              <a:rPr lang="pt-BR" sz="3400" dirty="0"/>
              <a:t>usando a FPGA</a:t>
            </a:r>
          </a:p>
          <a:p>
            <a:pPr rtl="0"/>
            <a:r>
              <a:rPr lang="pt-BR" sz="3400" dirty="0"/>
              <a:t>-Gerenciar modos de </a:t>
            </a:r>
          </a:p>
          <a:p>
            <a:pPr rtl="0"/>
            <a:r>
              <a:rPr lang="pt-BR" sz="3400" dirty="0"/>
              <a:t> operação manual e </a:t>
            </a:r>
          </a:p>
          <a:p>
            <a:pPr rtl="0"/>
            <a:r>
              <a:rPr lang="pt-BR" sz="3400" dirty="0"/>
              <a:t>automático.</a:t>
            </a:r>
          </a:p>
          <a:p>
            <a:pPr rtl="0"/>
            <a:endParaRPr lang="es-ES" sz="3400" dirty="0"/>
          </a:p>
          <a:p>
            <a:pPr rtl="0"/>
            <a:r>
              <a:rPr lang="es-ES" sz="3400" dirty="0"/>
              <a:t>2) Metodología:</a:t>
            </a:r>
          </a:p>
          <a:p>
            <a:pPr rtl="0"/>
            <a:r>
              <a:rPr lang="es-ES" sz="3400" dirty="0"/>
              <a:t>-Uso de VHDL y FPGA </a:t>
            </a:r>
          </a:p>
          <a:p>
            <a:pPr rtl="0"/>
            <a:r>
              <a:rPr lang="es-ES" sz="3400" dirty="0"/>
              <a:t>DE2-115</a:t>
            </a:r>
          </a:p>
          <a:p>
            <a:pPr rtl="0"/>
            <a:endParaRPr lang="es-ES" sz="3400" dirty="0"/>
          </a:p>
          <a:p>
            <a:pPr rtl="0"/>
            <a:r>
              <a:rPr lang="es-ES" sz="3400" dirty="0"/>
              <a:t>-</a:t>
            </a:r>
            <a:r>
              <a:rPr lang="pt-BR" sz="3400" dirty="0"/>
              <a:t>Implementação e validação </a:t>
            </a:r>
          </a:p>
          <a:p>
            <a:pPr rtl="0"/>
            <a:r>
              <a:rPr lang="pt-BR" sz="3400" dirty="0"/>
              <a:t>em fases</a:t>
            </a:r>
          </a:p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2" y="643492"/>
            <a:ext cx="5924877" cy="278550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7200" dirty="0"/>
              <a:t>FPGA </a:t>
            </a:r>
            <a:br>
              <a:rPr lang="es-ES" sz="7200" dirty="0"/>
            </a:br>
            <a:r>
              <a:rPr lang="es-ES" sz="7200" dirty="0"/>
              <a:t>DE2-115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dirty="0"/>
              <a:t>FPGA – Field Programmable Gate Array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4" y="2590800"/>
            <a:ext cx="4650867" cy="350520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pt-BR" dirty="0"/>
              <a:t>E uma matriz de blocos lógicos </a:t>
            </a:r>
          </a:p>
          <a:p>
            <a:pPr rtl="0"/>
            <a:r>
              <a:rPr lang="pt-BR" dirty="0"/>
              <a:t>interligados de modo inteligente</a:t>
            </a:r>
            <a:endParaRPr lang="es-ES" dirty="0"/>
          </a:p>
          <a:p>
            <a:pPr lvl="1" rtl="0"/>
            <a:r>
              <a:rPr lang="pt-BR" dirty="0"/>
              <a:t>O modelo utilizado para testar o forno foi o Kit </a:t>
            </a:r>
            <a:r>
              <a:rPr lang="pt-BR" dirty="0" err="1"/>
              <a:t>Terasic</a:t>
            </a:r>
            <a:r>
              <a:rPr lang="pt-BR" dirty="0"/>
              <a:t> DE2-115 utilizado nas aulas práticas de LSD.</a:t>
            </a:r>
          </a:p>
          <a:p>
            <a:pPr lvl="1" rtl="0"/>
            <a:endParaRPr lang="es-ES" dirty="0"/>
          </a:p>
          <a:p>
            <a:pPr marL="228600" lvl="1" indent="0" rtl="0">
              <a:buNone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EC19221-CDAF-9025-C6DF-5CABFCD4C709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646738" y="2649022"/>
            <a:ext cx="4514850" cy="3388756"/>
          </a:xfr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653528" cy="203934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Arquitetura</a:t>
            </a:r>
            <a:r>
              <a:rPr lang="es-ES" dirty="0"/>
              <a:t> do Sistema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65C92F-99A1-811B-EE89-D578B3E0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086" y="2261245"/>
            <a:ext cx="9083827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Arquitetura</a:t>
            </a:r>
            <a:r>
              <a:rPr lang="es-ES" dirty="0"/>
              <a:t> do Sistema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1" y="1679713"/>
            <a:ext cx="9723782" cy="447502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400" dirty="0"/>
              <a:t>Controlador de temperatura </a:t>
            </a:r>
          </a:p>
          <a:p>
            <a:pPr rtl="0"/>
            <a:r>
              <a:rPr lang="es-ES" sz="2400" dirty="0"/>
              <a:t>Ajuste de Parámetros</a:t>
            </a:r>
          </a:p>
          <a:p>
            <a:pPr rtl="0"/>
            <a:r>
              <a:rPr lang="es-ES" sz="2400" dirty="0"/>
              <a:t>Control automático</a:t>
            </a:r>
          </a:p>
          <a:p>
            <a:pPr rtl="0"/>
            <a:r>
              <a:rPr lang="es-ES" sz="2400" dirty="0"/>
              <a:t>Horno controlador </a:t>
            </a:r>
          </a:p>
          <a:p>
            <a:pPr rtl="0"/>
            <a:r>
              <a:rPr lang="es-ES" sz="2400" dirty="0" err="1"/>
              <a:t>Bin</a:t>
            </a:r>
            <a:r>
              <a:rPr lang="es-ES" sz="2400" dirty="0"/>
              <a:t> 7 </a:t>
            </a:r>
            <a:r>
              <a:rPr lang="es-ES" sz="2400" dirty="0" err="1"/>
              <a:t>seg</a:t>
            </a:r>
            <a:r>
              <a:rPr lang="es-ES" sz="2400" dirty="0"/>
              <a:t> </a:t>
            </a:r>
            <a:r>
              <a:rPr lang="es-ES" sz="2400" dirty="0" err="1"/>
              <a:t>decoder</a:t>
            </a:r>
            <a:endParaRPr lang="es-ES" sz="2400" dirty="0"/>
          </a:p>
          <a:p>
            <a:pPr rtl="0"/>
            <a:r>
              <a:rPr lang="es-ES" sz="2400" dirty="0" err="1"/>
              <a:t>Debouncers</a:t>
            </a:r>
            <a:endParaRPr lang="es-ES" sz="2400" dirty="0"/>
          </a:p>
          <a:p>
            <a:pPr rtl="0"/>
            <a:r>
              <a:rPr lang="es-ES" sz="2400" dirty="0" err="1"/>
              <a:t>Bin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BCD</a:t>
            </a:r>
          </a:p>
          <a:p>
            <a:pPr rtl="0"/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175A5D3-2E93-8BD0-D23A-57762FF46352}"/>
              </a:ext>
            </a:extLst>
          </p:cNvPr>
          <p:cNvSpPr/>
          <p:nvPr/>
        </p:nvSpPr>
        <p:spPr>
          <a:xfrm>
            <a:off x="5474286" y="2221675"/>
            <a:ext cx="874643" cy="91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endParaRPr lang="es-ES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5D8C269-1945-6A48-6C0B-74610244921D}"/>
              </a:ext>
            </a:extLst>
          </p:cNvPr>
          <p:cNvSpPr/>
          <p:nvPr/>
        </p:nvSpPr>
        <p:spPr>
          <a:xfrm>
            <a:off x="7302831" y="2162096"/>
            <a:ext cx="936454" cy="9180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s-ES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B8CD674-893A-BE84-25EB-55EC1E62BBFB}"/>
              </a:ext>
            </a:extLst>
          </p:cNvPr>
          <p:cNvSpPr/>
          <p:nvPr/>
        </p:nvSpPr>
        <p:spPr>
          <a:xfrm>
            <a:off x="8856649" y="3955326"/>
            <a:ext cx="591896" cy="6673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F478C40-F4C7-3999-ECD9-C47967526F79}"/>
              </a:ext>
            </a:extLst>
          </p:cNvPr>
          <p:cNvSpPr/>
          <p:nvPr/>
        </p:nvSpPr>
        <p:spPr>
          <a:xfrm>
            <a:off x="8239285" y="3139998"/>
            <a:ext cx="617364" cy="6739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302BD9C-D682-47CC-18CD-5000B73E22E6}"/>
              </a:ext>
            </a:extLst>
          </p:cNvPr>
          <p:cNvSpPr txBox="1"/>
          <p:nvPr/>
        </p:nvSpPr>
        <p:spPr>
          <a:xfrm>
            <a:off x="4626147" y="196338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start</a:t>
            </a:r>
            <a:endParaRPr lang="es-ES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999B297-E3EA-E545-F586-DCFBC57A13F8}"/>
              </a:ext>
            </a:extLst>
          </p:cNvPr>
          <p:cNvCxnSpPr/>
          <p:nvPr/>
        </p:nvCxnSpPr>
        <p:spPr>
          <a:xfrm>
            <a:off x="5474286" y="1766028"/>
            <a:ext cx="270531" cy="455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E34CDDA-2DF4-A044-8416-4A911B7D12E5}"/>
              </a:ext>
            </a:extLst>
          </p:cNvPr>
          <p:cNvCxnSpPr>
            <a:stCxn id="7" idx="6"/>
          </p:cNvCxnSpPr>
          <p:nvPr/>
        </p:nvCxnSpPr>
        <p:spPr>
          <a:xfrm>
            <a:off x="6348929" y="2677400"/>
            <a:ext cx="936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B987BD-B981-BE68-ACA4-89F012213D8F}"/>
              </a:ext>
            </a:extLst>
          </p:cNvPr>
          <p:cNvSpPr txBox="1"/>
          <p:nvPr/>
        </p:nvSpPr>
        <p:spPr>
          <a:xfrm>
            <a:off x="6430617" y="2296491"/>
            <a:ext cx="76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SW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2ABAC6BC-D5F7-1C5A-58B8-053A6DE7C44A}"/>
              </a:ext>
            </a:extLst>
          </p:cNvPr>
          <p:cNvSpPr/>
          <p:nvPr/>
        </p:nvSpPr>
        <p:spPr>
          <a:xfrm>
            <a:off x="9448545" y="4732311"/>
            <a:ext cx="715617" cy="6739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5162ABAC-F8E2-0974-39E1-F088259D3EBC}"/>
              </a:ext>
            </a:extLst>
          </p:cNvPr>
          <p:cNvCxnSpPr>
            <a:stCxn id="11" idx="5"/>
            <a:endCxn id="17" idx="1"/>
          </p:cNvCxnSpPr>
          <p:nvPr/>
        </p:nvCxnSpPr>
        <p:spPr>
          <a:xfrm>
            <a:off x="8102144" y="2945708"/>
            <a:ext cx="227552" cy="29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046AE08-4C43-E76A-56EF-446637F58B2E}"/>
              </a:ext>
            </a:extLst>
          </p:cNvPr>
          <p:cNvCxnSpPr>
            <a:stCxn id="17" idx="5"/>
            <a:endCxn id="12" idx="1"/>
          </p:cNvCxnSpPr>
          <p:nvPr/>
        </p:nvCxnSpPr>
        <p:spPr>
          <a:xfrm>
            <a:off x="8766238" y="3715284"/>
            <a:ext cx="177092" cy="33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C555A70-F1A3-0764-9059-03408283494E}"/>
              </a:ext>
            </a:extLst>
          </p:cNvPr>
          <p:cNvCxnSpPr>
            <a:endCxn id="32" idx="1"/>
          </p:cNvCxnSpPr>
          <p:nvPr/>
        </p:nvCxnSpPr>
        <p:spPr>
          <a:xfrm>
            <a:off x="9362661" y="4622699"/>
            <a:ext cx="190684" cy="208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E56C5D4F-439B-A7FB-281C-522C9824E6C2}"/>
              </a:ext>
            </a:extLst>
          </p:cNvPr>
          <p:cNvCxnSpPr/>
          <p:nvPr/>
        </p:nvCxnSpPr>
        <p:spPr>
          <a:xfrm flipH="1" flipV="1">
            <a:off x="4144617" y="3238701"/>
            <a:ext cx="5218044" cy="1979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AF16039-BB15-E3EE-0ABA-6DF436652579}"/>
              </a:ext>
            </a:extLst>
          </p:cNvPr>
          <p:cNvCxnSpPr/>
          <p:nvPr/>
        </p:nvCxnSpPr>
        <p:spPr>
          <a:xfrm flipV="1">
            <a:off x="4244009" y="1858892"/>
            <a:ext cx="1152939" cy="1349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1263D60-8260-AAB1-EDD9-E58A57CA0029}"/>
              </a:ext>
            </a:extLst>
          </p:cNvPr>
          <p:cNvSpPr txBox="1"/>
          <p:nvPr/>
        </p:nvSpPr>
        <p:spPr>
          <a:xfrm>
            <a:off x="4512365" y="3917226"/>
            <a:ext cx="799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KEY 3</a:t>
            </a: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ítulo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dirty="0"/>
              <a:t>MANUAL DO UTILIZADOR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481940"/>
            <a:ext cx="5844921" cy="3635831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pt-BR" b="1" dirty="0"/>
              <a:t>Ligando o Forno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Ao ligar o forno, ele inicia no modo manual com temperatura inicial .</a:t>
            </a:r>
            <a:endParaRPr lang="es-ES" dirty="0"/>
          </a:p>
          <a:p>
            <a:r>
              <a:rPr lang="pt-BR" b="1" dirty="0"/>
              <a:t>Resumo dos Controles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KEY0</a:t>
            </a:r>
            <a:r>
              <a:rPr lang="pt-BR" dirty="0"/>
              <a:t>: Inicia/Pausa cozimento.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KEY1</a:t>
            </a:r>
            <a:r>
              <a:rPr lang="pt-BR" dirty="0"/>
              <a:t>: Incrementa valores.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KEY2</a:t>
            </a:r>
            <a:r>
              <a:rPr lang="pt-BR" dirty="0"/>
              <a:t>: Decrementa valores.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KEY3</a:t>
            </a:r>
            <a:r>
              <a:rPr lang="pt-BR" dirty="0"/>
              <a:t>: Desliga alarme e reinicia sistema.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SW1 &amp; SW2</a:t>
            </a:r>
            <a:r>
              <a:rPr lang="pt-BR" dirty="0"/>
              <a:t>: Seleção de parâmetros.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4E8F85-883B-57CC-0A09-50A722659B2F}"/>
              </a:ext>
            </a:extLst>
          </p:cNvPr>
          <p:cNvSpPr txBox="1"/>
          <p:nvPr/>
        </p:nvSpPr>
        <p:spPr>
          <a:xfrm>
            <a:off x="7732643" y="2166730"/>
            <a:ext cx="37768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MODOS: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MANUAL E AUTOMATICO</a:t>
            </a:r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 </a:t>
            </a:r>
            <a:r>
              <a:rPr lang="es-ES" dirty="0" err="1"/>
              <a:t>Conclusões</a:t>
            </a:r>
            <a:r>
              <a:rPr lang="es-ES" dirty="0"/>
              <a:t> 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45F0AC-D02E-14D1-2EF3-2FA15950FC33}"/>
              </a:ext>
            </a:extLst>
          </p:cNvPr>
          <p:cNvSpPr txBox="1"/>
          <p:nvPr/>
        </p:nvSpPr>
        <p:spPr>
          <a:xfrm>
            <a:off x="1093304" y="2484783"/>
            <a:ext cx="6450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foram desenvolvidas novas capacidades em VHDL</a:t>
            </a:r>
          </a:p>
          <a:p>
            <a:endParaRPr lang="pt-BR" dirty="0"/>
          </a:p>
          <a:p>
            <a:r>
              <a:rPr lang="es-ES" dirty="0"/>
              <a:t>novas formas de </a:t>
            </a:r>
            <a:r>
              <a:rPr lang="es-ES" dirty="0" err="1"/>
              <a:t>raciocínio</a:t>
            </a:r>
            <a:endParaRPr lang="es-ES" dirty="0"/>
          </a:p>
          <a:p>
            <a:endParaRPr lang="es-ES" dirty="0"/>
          </a:p>
          <a:p>
            <a:r>
              <a:rPr lang="pt-BR" dirty="0"/>
              <a:t>melhor compreensão da operação de sistemas digitais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n-US" sz="6600" dirty="0"/>
              <a:t>OBRIGADO</a:t>
            </a:r>
            <a:endParaRPr lang="es-ES" sz="6600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{4E33FB4C-588F-4D5C-B61A-333F1EE9370A}tf33968143_win32</Template>
  <TotalTime>349</TotalTime>
  <Words>267</Words>
  <Application>Microsoft Office PowerPoint</Application>
  <PresentationFormat>Panorámica</PresentationFormat>
  <Paragraphs>90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Avenir Next LT Pro</vt:lpstr>
      <vt:lpstr>Calibri</vt:lpstr>
      <vt:lpstr>Google Sans</vt:lpstr>
      <vt:lpstr>Personalizar</vt:lpstr>
      <vt:lpstr>Projeto final de laboratorio de sistemas digitais          2023/2024</vt:lpstr>
      <vt:lpstr>Controlador de forno elétrico (versão 3) </vt:lpstr>
      <vt:lpstr>conteúdo</vt:lpstr>
      <vt:lpstr>INTRODUÇÃO</vt:lpstr>
      <vt:lpstr>Presentación de PowerPoint</vt:lpstr>
      <vt:lpstr>FPGA  DE2-115</vt:lpstr>
      <vt:lpstr>FPGA – Field Programmable Gate Array</vt:lpstr>
      <vt:lpstr>Arquitetura do Sistema</vt:lpstr>
      <vt:lpstr>Arquitetura do Sistema</vt:lpstr>
      <vt:lpstr>MANUAL DO UTILIZADOR</vt:lpstr>
      <vt:lpstr> Conclusões 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final de laboratorio de sistemas digitais          2023/2024</dc:title>
  <dc:creator>Henrique Malaver</dc:creator>
  <cp:lastModifiedBy>Henrique Malaver</cp:lastModifiedBy>
  <cp:revision>5</cp:revision>
  <dcterms:created xsi:type="dcterms:W3CDTF">2024-05-31T22:39:20Z</dcterms:created>
  <dcterms:modified xsi:type="dcterms:W3CDTF">2024-06-01T18:15:07Z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