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Montserrat" panose="00000500000000000000" pitchFamily="2" charset="0"/>
      <p:regular r:id="rId10"/>
      <p:bold r:id="rId11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08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69425"/>
            <a:ext cx="6872049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MultiPower - Iteração 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280190" y="3257312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Henrique Moreira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(119809)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07262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João Cardoso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(120440)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57211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Nicolas Sousa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(119744)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07161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2024/09/27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661184"/>
            <a:ext cx="5934432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2775644" y="5661184"/>
            <a:ext cx="106846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DBFB2-9EEE-D75E-AEFA-D99E35DFFA66}"/>
              </a:ext>
            </a:extLst>
          </p:cNvPr>
          <p:cNvSpPr/>
          <p:nvPr/>
        </p:nvSpPr>
        <p:spPr>
          <a:xfrm>
            <a:off x="12071841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4DBEDA-D495-EAE2-A3BE-355B1BBECC5A}"/>
              </a:ext>
            </a:extLst>
          </p:cNvPr>
          <p:cNvGrpSpPr/>
          <p:nvPr/>
        </p:nvGrpSpPr>
        <p:grpSpPr>
          <a:xfrm>
            <a:off x="11708393" y="7650610"/>
            <a:ext cx="2870342" cy="665706"/>
            <a:chOff x="0" y="1"/>
            <a:chExt cx="2870342" cy="665706"/>
          </a:xfrm>
        </p:grpSpPr>
        <p:pic>
          <p:nvPicPr>
            <p:cNvPr id="14" name="Picture 42" descr="ID+ no UA Research Summit 2022 - ID+">
              <a:extLst>
                <a:ext uri="{FF2B5EF4-FFF2-40B4-BE49-F238E27FC236}">
                  <a16:creationId xmlns:a16="http://schemas.microsoft.com/office/drawing/2014/main" id="{A1F42535-B639-BE26-BF8D-2E5B5EDBF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8">
              <a:extLst>
                <a:ext uri="{FF2B5EF4-FFF2-40B4-BE49-F238E27FC236}">
                  <a16:creationId xmlns:a16="http://schemas.microsoft.com/office/drawing/2014/main" id="{1BF8DAE2-6352-09A3-8810-13EFE6BA0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7117"/>
            <a:ext cx="7394258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Contexto do Negócio e Oportunidade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66637"/>
            <a:ext cx="254329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Shell Global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144554"/>
            <a:ext cx="6341626" cy="38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 promotora líder no setor de energia, mobilidade elétrica e energias renováveis, posicionada para liderar a transição energética.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3790" y="2660332"/>
            <a:ext cx="6341626" cy="38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Shell reconhece a necessidade crítica de uma aplicação integrada que simplifique a experiência dos uti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09330"/>
            <a:ext cx="6567226" cy="3565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6775013"/>
            <a:ext cx="6341626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Figura 1 - Aumento da venda de carros elétricos globalmente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04" y="1685092"/>
            <a:ext cx="4121944" cy="4121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02604" y="5972889"/>
            <a:ext cx="313586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Oportunidade de Mercado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502604" y="6450806"/>
            <a:ext cx="6341626" cy="38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mercado de veículos elétricos apresenta crescimento exponencial, mas ainda enfrenta lacunas significativas em informação e confiança dos utilizadores.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02604" y="6966585"/>
            <a:ext cx="6341626" cy="38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Necessidade urgente de soluções que eliminem barreiras à adoção massiva da mobilidade elétrica.</a:t>
            </a:r>
            <a:endParaRPr lang="en-US" sz="1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4FD62C-CB85-44CC-2C77-E58B03112FF2}"/>
              </a:ext>
            </a:extLst>
          </p:cNvPr>
          <p:cNvSpPr/>
          <p:nvPr/>
        </p:nvSpPr>
        <p:spPr>
          <a:xfrm>
            <a:off x="12154328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54E384-37C4-AA36-FC24-F95B25DF43E6}"/>
              </a:ext>
            </a:extLst>
          </p:cNvPr>
          <p:cNvGrpSpPr/>
          <p:nvPr/>
        </p:nvGrpSpPr>
        <p:grpSpPr>
          <a:xfrm>
            <a:off x="11717068" y="7595080"/>
            <a:ext cx="2870342" cy="665706"/>
            <a:chOff x="0" y="1"/>
            <a:chExt cx="2870342" cy="665706"/>
          </a:xfrm>
        </p:grpSpPr>
        <p:pic>
          <p:nvPicPr>
            <p:cNvPr id="14" name="Picture 42" descr="ID+ no UA Research Summit 2022 - ID+">
              <a:extLst>
                <a:ext uri="{FF2B5EF4-FFF2-40B4-BE49-F238E27FC236}">
                  <a16:creationId xmlns:a16="http://schemas.microsoft.com/office/drawing/2014/main" id="{5F71BB66-5A7D-ACCC-E910-443293B1E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8">
              <a:extLst>
                <a:ext uri="{FF2B5EF4-FFF2-40B4-BE49-F238E27FC236}">
                  <a16:creationId xmlns:a16="http://schemas.microsoft.com/office/drawing/2014/main" id="{BE206E0B-9468-C01C-E36E-D31E7CDB5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9734"/>
            <a:ext cx="7556421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Transformação Digital e Geração de Valor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154674"/>
            <a:ext cx="7556421" cy="1152763"/>
          </a:xfrm>
          <a:prstGeom prst="roundRect">
            <a:avLst>
              <a:gd name="adj" fmla="val 578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967740" y="2328624"/>
            <a:ext cx="235708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Localização Inteligente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7740" y="2720578"/>
            <a:ext cx="720852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avançado de localização e reserva de postos de carregamento com disponibilidade em tempo real.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3790" y="3466148"/>
            <a:ext cx="7556421" cy="1152763"/>
          </a:xfrm>
          <a:prstGeom prst="roundRect">
            <a:avLst>
              <a:gd name="adj" fmla="val 578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967740" y="3640098"/>
            <a:ext cx="252674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Monitorização Contínua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67740" y="4032052"/>
            <a:ext cx="720852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Acompanhamento detalhado do estado da bateria e otimização do processo de carregamento.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3790" y="4777621"/>
            <a:ext cx="7556421" cy="946309"/>
          </a:xfrm>
          <a:prstGeom prst="roundRect">
            <a:avLst>
              <a:gd name="adj" fmla="val 7047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967740" y="4951571"/>
            <a:ext cx="228242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Pagamentos Seguros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740" y="5343525"/>
            <a:ext cx="720852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completa de sistemas de pagamento digital para transações rápidas e seguras.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3790" y="5882640"/>
            <a:ext cx="7556421" cy="946309"/>
          </a:xfrm>
          <a:prstGeom prst="roundRect">
            <a:avLst>
              <a:gd name="adj" fmla="val 7047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967740" y="6056590"/>
            <a:ext cx="228242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IA Personalizada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7740" y="6448544"/>
            <a:ext cx="720852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Recomendações inteligentes e suporte via chatbot alimentado por inteligência artificial.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3790" y="7150418"/>
            <a:ext cx="6364843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53444" y="7150418"/>
            <a:ext cx="80426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7A8646F-D482-3B11-6144-10011A7684DC}"/>
              </a:ext>
            </a:extLst>
          </p:cNvPr>
          <p:cNvGrpSpPr/>
          <p:nvPr/>
        </p:nvGrpSpPr>
        <p:grpSpPr>
          <a:xfrm>
            <a:off x="0" y="7563894"/>
            <a:ext cx="2870342" cy="665706"/>
            <a:chOff x="0" y="1"/>
            <a:chExt cx="2870342" cy="665706"/>
          </a:xfrm>
        </p:grpSpPr>
        <p:pic>
          <p:nvPicPr>
            <p:cNvPr id="19" name="Picture 42" descr="ID+ no UA Research Summit 2022 - ID+">
              <a:extLst>
                <a:ext uri="{FF2B5EF4-FFF2-40B4-BE49-F238E27FC236}">
                  <a16:creationId xmlns:a16="http://schemas.microsoft.com/office/drawing/2014/main" id="{4AD4BA7B-A876-959C-CC39-D4EA420A1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Imagem 18">
              <a:extLst>
                <a:ext uri="{FF2B5EF4-FFF2-40B4-BE49-F238E27FC236}">
                  <a16:creationId xmlns:a16="http://schemas.microsoft.com/office/drawing/2014/main" id="{6D6E95DF-AA56-65D2-9CC8-75178A5F6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2931"/>
            <a:ext cx="1127367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Objetivos Estratégicos da Organização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95763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&lt;2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793790" y="3989427"/>
            <a:ext cx="304800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Minutos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549378"/>
            <a:ext cx="304800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 máximo para localizar postos de carregamento disponíveis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9576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25%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125278" y="3989427"/>
            <a:ext cx="304811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Redução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125278" y="4549378"/>
            <a:ext cx="3048119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Diminuição das reclamações financeiras através de transparência total nos custos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9576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456884" y="3989427"/>
            <a:ext cx="304811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Eficiência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456884" y="4549378"/>
            <a:ext cx="304811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dos pedidos de suporte humano via automatização inteligente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9576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20%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788491" y="3989427"/>
            <a:ext cx="304811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Crescimento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788491" y="4549378"/>
            <a:ext cx="304811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Aumento na adoção de veículos elétricos no mercado português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187797"/>
            <a:ext cx="896385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318671" y="6187797"/>
            <a:ext cx="352544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A88532-F89C-FABE-FD61-3707803D078A}"/>
              </a:ext>
            </a:extLst>
          </p:cNvPr>
          <p:cNvSpPr/>
          <p:nvPr/>
        </p:nvSpPr>
        <p:spPr>
          <a:xfrm>
            <a:off x="12071841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DED22B-92CC-BACE-F9AA-C081BDA0B2E4}"/>
              </a:ext>
            </a:extLst>
          </p:cNvPr>
          <p:cNvGrpSpPr/>
          <p:nvPr/>
        </p:nvGrpSpPr>
        <p:grpSpPr>
          <a:xfrm>
            <a:off x="11566167" y="7595080"/>
            <a:ext cx="2870342" cy="665706"/>
            <a:chOff x="0" y="1"/>
            <a:chExt cx="2870342" cy="665706"/>
          </a:xfrm>
        </p:grpSpPr>
        <p:pic>
          <p:nvPicPr>
            <p:cNvPr id="19" name="Picture 42" descr="ID+ no UA Research Summit 2022 - ID+">
              <a:extLst>
                <a:ext uri="{FF2B5EF4-FFF2-40B4-BE49-F238E27FC236}">
                  <a16:creationId xmlns:a16="http://schemas.microsoft.com/office/drawing/2014/main" id="{7AB29699-0975-6E08-C345-5CCC96548B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Imagem 18">
              <a:extLst>
                <a:ext uri="{FF2B5EF4-FFF2-40B4-BE49-F238E27FC236}">
                  <a16:creationId xmlns:a16="http://schemas.microsoft.com/office/drawing/2014/main" id="{56153F50-C9D4-E8BF-F919-C7F2EDEDD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9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1964"/>
            <a:ext cx="9804440" cy="762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Visão Geral da Aplicação MultiPower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93790" y="4400907"/>
            <a:ext cx="4211479" cy="2553414"/>
          </a:xfrm>
          <a:prstGeom prst="roundRect">
            <a:avLst>
              <a:gd name="adj" fmla="val 33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1020723" y="4627840"/>
            <a:ext cx="3521393" cy="4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Produto Inovador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020723" y="5208032"/>
            <a:ext cx="3757613" cy="1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MultiPower</a:t>
            </a: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representa a próxima geração de aplicações para mobilidade elétrica, integrando todas as funcionalidades essenciais numa única plataforma.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09342" y="4400907"/>
            <a:ext cx="4211598" cy="2553414"/>
          </a:xfrm>
          <a:prstGeom prst="roundRect">
            <a:avLst>
              <a:gd name="adj" fmla="val 33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5436275" y="4627840"/>
            <a:ext cx="3521393" cy="4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Público-Alvo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5436275" y="5208032"/>
            <a:ext cx="3757732" cy="106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Condutores de veículos elétricos, incluindo utilizadores privados e frotas profissionais, que procuram eficiência e comodidade.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25013" y="4400907"/>
            <a:ext cx="4211598" cy="2553414"/>
          </a:xfrm>
          <a:prstGeom prst="roundRect">
            <a:avLst>
              <a:gd name="adj" fmla="val 3358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9851946" y="4627840"/>
            <a:ext cx="3757732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Diferencial Competitivo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9851946" y="5665827"/>
            <a:ext cx="3757732" cy="106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Interoperabilidade única entre diferentes fornecedores de energia, eliminando a fragmentação do mercado atual.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3790" y="7183874"/>
            <a:ext cx="13042821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74DC54-6E8B-B151-CD73-FBC23B5EAEA1}"/>
              </a:ext>
            </a:extLst>
          </p:cNvPr>
          <p:cNvSpPr/>
          <p:nvPr/>
        </p:nvSpPr>
        <p:spPr>
          <a:xfrm>
            <a:off x="12071841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DD0A62-33BF-5DA7-72A1-62217F1F459A}"/>
              </a:ext>
            </a:extLst>
          </p:cNvPr>
          <p:cNvGrpSpPr/>
          <p:nvPr/>
        </p:nvGrpSpPr>
        <p:grpSpPr>
          <a:xfrm>
            <a:off x="11677571" y="7563894"/>
            <a:ext cx="2870342" cy="665706"/>
            <a:chOff x="0" y="1"/>
            <a:chExt cx="2870342" cy="665706"/>
          </a:xfrm>
        </p:grpSpPr>
        <p:pic>
          <p:nvPicPr>
            <p:cNvPr id="16" name="Picture 42" descr="ID+ no UA Research Summit 2022 - ID+">
              <a:extLst>
                <a:ext uri="{FF2B5EF4-FFF2-40B4-BE49-F238E27FC236}">
                  <a16:creationId xmlns:a16="http://schemas.microsoft.com/office/drawing/2014/main" id="{503AEEFD-2660-872B-D11C-DBDCE6BEE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8">
              <a:extLst>
                <a:ext uri="{FF2B5EF4-FFF2-40B4-BE49-F238E27FC236}">
                  <a16:creationId xmlns:a16="http://schemas.microsoft.com/office/drawing/2014/main" id="{B334D32B-14BC-8780-85E0-591D5E50C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655"/>
            <a:ext cx="676179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Casos de Uso Principais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4400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394472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Condutor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793790" y="4039076"/>
            <a:ext cx="4158615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completa desde a localização do posto até ao pagamento, incluindo consulta de histórico detalhado de carregamentos e custos.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49158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Localização inteligente de postos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023253"/>
            <a:ext cx="41586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Iniciar e monitorizar carregamento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692146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automatizado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544008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3394472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Fornecedor</a:t>
            </a:r>
            <a:endParaRPr lang="en-US" sz="3050" dirty="0"/>
          </a:p>
        </p:txBody>
      </p:sp>
      <p:sp>
        <p:nvSpPr>
          <p:cNvPr id="11" name="Text 7"/>
          <p:cNvSpPr/>
          <p:nvPr/>
        </p:nvSpPr>
        <p:spPr>
          <a:xfrm>
            <a:off x="5235893" y="4039076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avançadas para gestão eficiente da rede de carregamento e otimização dinâmica de preços baseada na procura.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35893" y="5354360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da rede de postos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35893" y="5728454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preços dinâmicos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235893" y="6102548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utilização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544008"/>
            <a:ext cx="566976" cy="5669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77995" y="3394472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Administrador</a:t>
            </a:r>
            <a:endParaRPr lang="en-US" sz="3050" dirty="0"/>
          </a:p>
        </p:txBody>
      </p:sp>
      <p:sp>
        <p:nvSpPr>
          <p:cNvPr id="17" name="Text 12"/>
          <p:cNvSpPr/>
          <p:nvPr/>
        </p:nvSpPr>
        <p:spPr>
          <a:xfrm>
            <a:off x="9677995" y="4039076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Controlo total sobre o catálogo de serviços e gestão de conteúdo, assegurando informação sempre atualizada e relevante.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77995" y="5354360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do catálogo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9677995" y="5728454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Moderação de conteúdo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677995" y="6102548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Configuração do sistema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22E8BA-EBFD-33E1-3BB4-935B1121C893}"/>
              </a:ext>
            </a:extLst>
          </p:cNvPr>
          <p:cNvSpPr/>
          <p:nvPr/>
        </p:nvSpPr>
        <p:spPr>
          <a:xfrm>
            <a:off x="12071841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6FDC50-0C18-BDCB-4A71-EDE7478E6339}"/>
              </a:ext>
            </a:extLst>
          </p:cNvPr>
          <p:cNvGrpSpPr/>
          <p:nvPr/>
        </p:nvGrpSpPr>
        <p:grpSpPr>
          <a:xfrm>
            <a:off x="11634370" y="7595080"/>
            <a:ext cx="2870342" cy="665706"/>
            <a:chOff x="0" y="1"/>
            <a:chExt cx="2870342" cy="665706"/>
          </a:xfrm>
        </p:grpSpPr>
        <p:pic>
          <p:nvPicPr>
            <p:cNvPr id="23" name="Picture 42" descr="ID+ no UA Research Summit 2022 - ID+">
              <a:extLst>
                <a:ext uri="{FF2B5EF4-FFF2-40B4-BE49-F238E27FC236}">
                  <a16:creationId xmlns:a16="http://schemas.microsoft.com/office/drawing/2014/main" id="{175358D4-2181-5DF3-B4FE-92C4D81250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m 18">
              <a:extLst>
                <a:ext uri="{FF2B5EF4-FFF2-40B4-BE49-F238E27FC236}">
                  <a16:creationId xmlns:a16="http://schemas.microsoft.com/office/drawing/2014/main" id="{0B3412B8-4F08-6ABA-7F2C-9735C7FC5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327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46070"/>
            <a:ext cx="6737033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Roadmap de Desenvolvimento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793790" y="3992166"/>
            <a:ext cx="6436400" cy="170021"/>
          </a:xfrm>
          <a:prstGeom prst="roundRect">
            <a:avLst>
              <a:gd name="adj" fmla="val 4202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963811" y="4332208"/>
            <a:ext cx="4072890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1: Localização Inteligente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63811" y="4815721"/>
            <a:ext cx="6096357" cy="66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de geolocalização avançada, verificação de disponibilidade em tempo real e cálculo otimizado de rotas para postos de carregamento.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0211" y="3737015"/>
            <a:ext cx="6436400" cy="170021"/>
          </a:xfrm>
          <a:prstGeom prst="roundRect">
            <a:avLst>
              <a:gd name="adj" fmla="val 4202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7570232" y="4077057"/>
            <a:ext cx="3333036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2: Gestão de Carga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70232" y="4560570"/>
            <a:ext cx="6096357" cy="66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completo de monitorização do processo de carregamento, cálculo transparente de custos e integração segura de pagamentos digitais.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3790" y="6074212"/>
            <a:ext cx="6436400" cy="170021"/>
          </a:xfrm>
          <a:prstGeom prst="roundRect">
            <a:avLst>
              <a:gd name="adj" fmla="val 4202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963811" y="6414254"/>
            <a:ext cx="365140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3: Suporte Inteligente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63811" y="6897767"/>
            <a:ext cx="6096357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Desenvolvimento de sistema de notificações personalizadas, centro de notícias especializado e chatbot com inteligência artificial.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0211" y="5819061"/>
            <a:ext cx="6436400" cy="170021"/>
          </a:xfrm>
          <a:prstGeom prst="roundRect">
            <a:avLst>
              <a:gd name="adj" fmla="val 42025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7570232" y="6159103"/>
            <a:ext cx="3437811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Épico 4: Serviços Premium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570232" y="6642616"/>
            <a:ext cx="6096357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avançadas incluindo agendamento de manutenção, comparações de mercado e consultoria gratuita especializada.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40859-0FF1-46F5-1350-FE9A87A0F93B}"/>
              </a:ext>
            </a:extLst>
          </p:cNvPr>
          <p:cNvSpPr/>
          <p:nvPr/>
        </p:nvSpPr>
        <p:spPr>
          <a:xfrm>
            <a:off x="12071841" y="7626266"/>
            <a:ext cx="2476072" cy="603334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295ECB-C807-C56B-1021-F1BB0EE8B1BA}"/>
              </a:ext>
            </a:extLst>
          </p:cNvPr>
          <p:cNvGrpSpPr/>
          <p:nvPr/>
        </p:nvGrpSpPr>
        <p:grpSpPr>
          <a:xfrm>
            <a:off x="11717068" y="7563894"/>
            <a:ext cx="2870342" cy="665706"/>
            <a:chOff x="0" y="1"/>
            <a:chExt cx="2870342" cy="665706"/>
          </a:xfrm>
        </p:grpSpPr>
        <p:pic>
          <p:nvPicPr>
            <p:cNvPr id="18" name="Picture 42" descr="ID+ no UA Research Summit 2022 - ID+">
              <a:extLst>
                <a:ext uri="{FF2B5EF4-FFF2-40B4-BE49-F238E27FC236}">
                  <a16:creationId xmlns:a16="http://schemas.microsoft.com/office/drawing/2014/main" id="{FDAB395F-3CA8-125B-C02E-E7BA6D580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368259" cy="66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70183106-D17E-D73F-EE1E-77EDF87A4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rcRect l="17028"/>
            <a:stretch/>
          </p:blipFill>
          <p:spPr>
            <a:xfrm>
              <a:off x="1368259" y="193980"/>
              <a:ext cx="1502083" cy="32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494</Words>
  <Application>Microsoft Office PowerPoint</Application>
  <PresentationFormat>Custom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Montserrat</vt:lpstr>
      <vt:lpstr>Arial</vt:lpstr>
      <vt:lpstr>Marcellus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João Cardoso</cp:lastModifiedBy>
  <cp:revision>2</cp:revision>
  <dcterms:created xsi:type="dcterms:W3CDTF">2025-09-30T21:30:22Z</dcterms:created>
  <dcterms:modified xsi:type="dcterms:W3CDTF">2025-09-30T21:37:37Z</dcterms:modified>
</cp:coreProperties>
</file>