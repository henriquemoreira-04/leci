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8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6858000" type="screen4x3"/>
  <p:notesSz cx="7102475" cy="10233025"/>
  <p:embeddedFontLst>
    <p:embeddedFont>
      <p:font typeface="Arial Narrow" panose="020B0606020202030204" pitchFamily="34" charset="0"/>
      <p:regular r:id="rId36"/>
      <p:bold r:id="rId37"/>
      <p:italic r:id="rId38"/>
      <p:boldItalic r:id="rId39"/>
    </p:embeddedFont>
    <p:embeddedFont>
      <p:font typeface="Barlow" panose="00000500000000000000" pitchFamily="2" charset="0"/>
      <p:regular r:id="rId40"/>
      <p:bold r:id="rId41"/>
      <p:italic r:id="rId42"/>
      <p:boldItalic r:id="rId43"/>
    </p:embeddedFont>
    <p:embeddedFont>
      <p:font typeface="Barlow Condensed SemiBold" panose="00000706000000000000" pitchFamily="2" charset="0"/>
      <p:regular r:id="rId44"/>
      <p:bold r:id="rId45"/>
      <p:italic r:id="rId46"/>
      <p:boldItalic r:id="rId47"/>
    </p:embeddedFont>
    <p:embeddedFont>
      <p:font typeface="Barlow Light" panose="00000400000000000000" pitchFamily="2" charset="0"/>
      <p:regular r:id="rId48"/>
      <p:bold r:id="rId49"/>
      <p:italic r:id="rId50"/>
      <p:boldItalic r:id="rId51"/>
    </p:embeddedFont>
    <p:embeddedFont>
      <p:font typeface="Barlow Medium" panose="00000600000000000000" pitchFamily="2" charset="0"/>
      <p:regular r:id="rId52"/>
      <p:bold r:id="rId53"/>
      <p:italic r:id="rId54"/>
      <p:boldItalic r:id="rId55"/>
    </p:embeddedFont>
    <p:embeddedFont>
      <p:font typeface="Barlow Semi Condensed" panose="00000506000000000000" pitchFamily="2" charset="0"/>
      <p:regular r:id="rId56"/>
      <p:bold r:id="rId57"/>
      <p:italic r:id="rId58"/>
      <p:boldItalic r:id="rId59"/>
    </p:embeddedFont>
    <p:embeddedFont>
      <p:font typeface="Barlow Semi Condensed SemiBold" panose="00000706000000000000" pitchFamily="2" charset="0"/>
      <p:regular r:id="rId60"/>
      <p:bold r:id="rId61"/>
      <p:italic r:id="rId62"/>
      <p:boldItalic r:id="rId63"/>
    </p:embeddedFont>
    <p:embeddedFont>
      <p:font typeface="Open Sans" panose="020B0606030504020204" pitchFamily="34" charset="0"/>
      <p:regular r:id="rId64"/>
      <p:bold r:id="rId65"/>
      <p:italic r:id="rId66"/>
      <p:boldItalic r:id="rId67"/>
    </p:embeddedFont>
    <p:embeddedFont>
      <p:font typeface="Open Sans Light" panose="020B0306030504020204" pitchFamily="34" charset="0"/>
      <p:regular r:id="rId68"/>
      <p:bold r:id="rId69"/>
      <p:italic r:id="rId70"/>
      <p:boldItalic r:id="rId71"/>
    </p:embeddedFont>
    <p:embeddedFont>
      <p:font typeface="Open Sans SemiBold" panose="020B0706030804020204" pitchFamily="34" charset="0"/>
      <p:regular r:id="rId72"/>
      <p:bold r:id="rId73"/>
      <p:italic r:id="rId74"/>
      <p:boldItalic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DABE07-6091-47CA-87A7-02424C6BA437}">
  <a:tblStyle styleId="{A1DABE07-6091-47CA-87A7-02424C6BA437}" styleName="Table_0">
    <a:wholeTbl>
      <a:tcTxStyle b="off" i="off">
        <a:font>
          <a:latin typeface="Barlow"/>
          <a:ea typeface="Barlow"/>
          <a:cs typeface="Barlow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57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63" Type="http://schemas.openxmlformats.org/officeDocument/2006/relationships/font" Target="fonts/font28.fntdata"/><Relationship Id="rId68" Type="http://schemas.openxmlformats.org/officeDocument/2006/relationships/font" Target="fonts/font3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8" Type="http://schemas.openxmlformats.org/officeDocument/2006/relationships/font" Target="fonts/font23.fntdata"/><Relationship Id="rId66" Type="http://schemas.openxmlformats.org/officeDocument/2006/relationships/font" Target="fonts/font31.fntdata"/><Relationship Id="rId74" Type="http://schemas.openxmlformats.org/officeDocument/2006/relationships/font" Target="fonts/font39.fntdata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2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font" Target="fonts/font21.fntdata"/><Relationship Id="rId64" Type="http://schemas.openxmlformats.org/officeDocument/2006/relationships/font" Target="fonts/font29.fntdata"/><Relationship Id="rId69" Type="http://schemas.openxmlformats.org/officeDocument/2006/relationships/font" Target="fonts/font34.fntdata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72" Type="http://schemas.openxmlformats.org/officeDocument/2006/relationships/font" Target="fonts/font3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59" Type="http://schemas.openxmlformats.org/officeDocument/2006/relationships/font" Target="fonts/font24.fntdata"/><Relationship Id="rId67" Type="http://schemas.openxmlformats.org/officeDocument/2006/relationships/font" Target="fonts/font32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font" Target="fonts/font19.fntdata"/><Relationship Id="rId62" Type="http://schemas.openxmlformats.org/officeDocument/2006/relationships/font" Target="fonts/font27.fntdata"/><Relationship Id="rId70" Type="http://schemas.openxmlformats.org/officeDocument/2006/relationships/font" Target="fonts/font35.fntdata"/><Relationship Id="rId75" Type="http://schemas.openxmlformats.org/officeDocument/2006/relationships/font" Target="fonts/font4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font" Target="fonts/font2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60" Type="http://schemas.openxmlformats.org/officeDocument/2006/relationships/font" Target="fonts/font25.fntdata"/><Relationship Id="rId65" Type="http://schemas.openxmlformats.org/officeDocument/2006/relationships/font" Target="fonts/font30.fntdata"/><Relationship Id="rId73" Type="http://schemas.openxmlformats.org/officeDocument/2006/relationships/font" Target="fonts/font38.fntdata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4.fntdata"/><Relationship Id="rId34" Type="http://schemas.openxmlformats.org/officeDocument/2006/relationships/slide" Target="slides/slide33.xml"/><Relationship Id="rId50" Type="http://schemas.openxmlformats.org/officeDocument/2006/relationships/font" Target="fonts/font15.fntdata"/><Relationship Id="rId55" Type="http://schemas.openxmlformats.org/officeDocument/2006/relationships/font" Target="fonts/font20.fntdata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font" Target="fonts/font3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97" name="Google Shape;97;p1:notes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2024-05-21</a:t>
            </a:r>
            <a:endParaRPr/>
          </a:p>
        </p:txBody>
      </p:sp>
      <p:sp>
        <p:nvSpPr>
          <p:cNvPr id="98" name="Google Shape;98;p1:notes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planning begins early</a:t>
            </a: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phase includes planning for test activities</a:t>
            </a: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for correctness and completeness (of docs) before advancing.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activity on the left and a counterpart test activity on the right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Testers participate in reviewing document</a:t>
            </a:r>
            <a:endParaRPr/>
          </a:p>
        </p:txBody>
      </p:sp>
      <p:sp>
        <p:nvSpPr>
          <p:cNvPr id="153" name="Google Shape;153;p7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88" name="Google Shape;1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64" name="Google Shape;26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5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9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4000"/>
              <a:buFont typeface="Barlow Semi Condensed SemiBold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2" descr="deti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18129" y="5245866"/>
            <a:ext cx="2997221" cy="7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Barlow Semi Condensed SemiBold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ubTitle" idx="1"/>
          </p:nvPr>
        </p:nvSpPr>
        <p:spPr>
          <a:xfrm>
            <a:off x="628650" y="1038759"/>
            <a:ext cx="6676372" cy="58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body" idx="1"/>
          </p:nvPr>
        </p:nvSpPr>
        <p:spPr>
          <a:xfrm>
            <a:off x="6286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2"/>
          </p:nvPr>
        </p:nvSpPr>
        <p:spPr>
          <a:xfrm>
            <a:off x="46291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646511" y="1434112"/>
            <a:ext cx="3868340" cy="662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sz="2400" b="1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629842" y="2268747"/>
            <a:ext cx="3868340" cy="3920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3"/>
          </p:nvPr>
        </p:nvSpPr>
        <p:spPr>
          <a:xfrm>
            <a:off x="4629150" y="1434112"/>
            <a:ext cx="3887391" cy="662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sz="2400" b="1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4"/>
          </p:nvPr>
        </p:nvSpPr>
        <p:spPr>
          <a:xfrm>
            <a:off x="4629150" y="2268747"/>
            <a:ext cx="3887391" cy="3920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800"/>
              <a:buNone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body" idx="1"/>
          </p:nvPr>
        </p:nvSpPr>
        <p:spPr>
          <a:xfrm rot="5400000">
            <a:off x="2090680" y="-247707"/>
            <a:ext cx="496264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C4C4C"/>
            </a:gs>
            <a:gs pos="50000">
              <a:srgbClr val="292929"/>
            </a:gs>
            <a:gs pos="100000">
              <a:schemeClr val="dk1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  <a:defRPr sz="3200" b="0" i="0" u="none" strike="noStrike" cap="none">
                <a:solidFill>
                  <a:srgbClr val="6EDEBF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214323"/>
            <a:ext cx="7886700" cy="496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F2F2F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sqa.net/iso9126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blazemeter.com/blog/agile-development-and-testing-an-introduction" TargetMode="External"/><Relationship Id="rId5" Type="http://schemas.openxmlformats.org/officeDocument/2006/relationships/hyperlink" Target="https://martinfowler.com/bliki/TestPyramid.html" TargetMode="Externa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cs.lmu.edu/~ray/notes/stacks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au/search?hl=en&amp;q=how+to+do+tdd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ieeexplore.ieee.org/xpl/articleDetails.jsp?tp=&amp;arnumber=4163024" TargetMode="External"/><Relationship Id="rId5" Type="http://schemas.openxmlformats.org/officeDocument/2006/relationships/image" Target="../media/image22.png"/><Relationship Id="rId4" Type="http://schemas.openxmlformats.org/officeDocument/2006/relationships/hyperlink" Target="http://www.jbrains.ca/permalink/285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ingman-sw.com/articles/story-testing-embedded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medium.com/product-labs/principles-to-effective-story-writing-the-pivotal-labs-way-76da56031f82" TargetMode="Externa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ucumber/cucumber/wiki/Gherkin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hyperlink" Target="https://cucumber.io/" TargetMode="Externa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hyperlink" Target="http://testerstories.com/2017/09/uncomplicate-tdd-and-bdd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ingman-sw.com/articles/story-testing-embedded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4000"/>
              <a:buFont typeface="Barlow Semi Condensed SemiBold"/>
              <a:buNone/>
            </a:pPr>
            <a:r>
              <a:rPr lang="en-US" dirty="0" err="1"/>
              <a:t>Práticas</a:t>
            </a:r>
            <a:r>
              <a:rPr lang="en-US" dirty="0"/>
              <a:t> da </a:t>
            </a:r>
            <a:r>
              <a:rPr lang="en-US" dirty="0" err="1"/>
              <a:t>Construção</a:t>
            </a:r>
            <a:r>
              <a:rPr lang="en-US" dirty="0"/>
              <a:t>: teste e QA</a:t>
            </a:r>
            <a:endParaRPr dirty="0"/>
          </a:p>
        </p:txBody>
      </p:sp>
      <p:sp>
        <p:nvSpPr>
          <p:cNvPr id="102" name="Google Shape;102;p15"/>
          <p:cNvSpPr txBox="1">
            <a:spLocks noGrp="1"/>
          </p:cNvSpPr>
          <p:nvPr>
            <p:ph type="subTitle" idx="1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Ilídio Oliveira 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>
                <a:latin typeface="Barlow Light"/>
                <a:ea typeface="Barlow Light"/>
                <a:cs typeface="Barlow Light"/>
                <a:sym typeface="Barlow Light"/>
              </a:rPr>
              <a:t>v2025/05/06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51542" y="1659175"/>
            <a:ext cx="40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FBFBF"/>
                </a:solidFill>
                <a:latin typeface="Barlow"/>
                <a:ea typeface="Barlow"/>
                <a:cs typeface="Barlow"/>
                <a:sym typeface="Barlow"/>
              </a:rPr>
              <a:t>ANÁLISE DE SISTEMAS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Objetivos de aprendizagem</a:t>
            </a: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Identificar as actividades de validação e verificação no SDLC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Descrever as camadas da pirâmide de teste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Descrever o objecto dos testes de unidade, integração, sistema e aceitação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Explicar o ciclo de vida do TDD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Explicar como as actividades de QA são inseridas no processo de desenvolvimento numa abordagem clássica e em métodos ágeis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Relacionar os critérios de aceitação da história com testes ágeis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Explicar o conceito de especificações executáveis (e a relação com BDD).</a:t>
            </a:r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Algumas ideias do desenvolvimento ágil</a:t>
            </a:r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20" name="Google Shape;12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03" y="1469914"/>
            <a:ext cx="6685201" cy="470704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/>
          <p:nvPr/>
        </p:nvSpPr>
        <p:spPr>
          <a:xfrm>
            <a:off x="6978780" y="1371601"/>
            <a:ext cx="2057400" cy="2959201"/>
          </a:xfrm>
          <a:prstGeom prst="wedgeRectCallout">
            <a:avLst>
              <a:gd name="adj1" fmla="val -67104"/>
              <a:gd name="adj2" fmla="val -39204"/>
            </a:avLst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 dinamismo do mercado obriga a igual dinamismo do desenvolvimento.</a:t>
            </a:r>
            <a:br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Especialmente quando os produtos de software assumem um papel fundamental na criação das vantagens competitivas.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 transformação digital (competitiva) obriga a uma eng.a de software competitiva.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87574" y="6238483"/>
            <a:ext cx="163859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Credit: Pressmen’15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É indispensável considerar as práticas que podem induzir ou medir a qualidade do produto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18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body" idx="4294967295"/>
          </p:nvPr>
        </p:nvSpPr>
        <p:spPr>
          <a:xfrm>
            <a:off x="645842" y="5456499"/>
            <a:ext cx="7996237" cy="935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7DC2"/>
              </a:buClr>
              <a:buSzPts val="2800"/>
              <a:buNone/>
            </a:pPr>
            <a:r>
              <a:rPr lang="en-US" sz="2800">
                <a:solidFill>
                  <a:srgbClr val="177DC2"/>
                </a:solidFill>
              </a:rPr>
              <a:t>SQA != SQC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613548" y="1479782"/>
            <a:ext cx="3852801" cy="3872168"/>
          </a:xfrm>
          <a:prstGeom prst="rect">
            <a:avLst/>
          </a:prstGeom>
          <a:solidFill>
            <a:srgbClr val="D6F0FB"/>
          </a:solidFill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7DC2"/>
              </a:buClr>
              <a:buSzPts val="1800"/>
              <a:buFont typeface="Open Sans SemiBold"/>
              <a:buNone/>
            </a:pPr>
            <a:r>
              <a:rPr lang="en-US" sz="1800">
                <a:solidFill>
                  <a:srgbClr val="177DC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GARANTIA DE QUALIDADE DE SOFTWARE</a:t>
            </a:r>
            <a:br>
              <a:rPr lang="en-US" sz="1800">
                <a:solidFill>
                  <a:srgbClr val="177DC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</a:br>
            <a:r>
              <a:rPr lang="en-US" sz="1800">
                <a:solidFill>
                  <a:srgbClr val="383839"/>
                </a:solidFill>
                <a:latin typeface="Open Sans"/>
                <a:ea typeface="Open Sans"/>
                <a:cs typeface="Open Sans"/>
                <a:sym typeface="Open Sans"/>
              </a:rPr>
              <a:t>conjunto de atividades (práticas) para controlar e monitorizar o processo de desenvolvimento de software para atingir os objetivos do projeto com um certo nível de confiança em termos de qualidade</a:t>
            </a:r>
            <a:endParaRPr sz="1800" u="none">
              <a:solidFill>
                <a:srgbClr val="38383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"/>
              <a:buNone/>
            </a:pPr>
            <a:endParaRPr sz="1800" u="none">
              <a:solidFill>
                <a:srgbClr val="38383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4817878" y="1469844"/>
            <a:ext cx="3824201" cy="3882106"/>
          </a:xfrm>
          <a:prstGeom prst="rect">
            <a:avLst/>
          </a:prstGeom>
          <a:solidFill>
            <a:srgbClr val="D6F0FB"/>
          </a:solidFill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7DC2"/>
              </a:buClr>
              <a:buSzPts val="1800"/>
              <a:buFont typeface="Open Sans SemiBold"/>
              <a:buNone/>
            </a:pPr>
            <a:r>
              <a:rPr lang="en-US" sz="1800" u="none">
                <a:solidFill>
                  <a:srgbClr val="177DC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CONTROLO DE QUALIDADE DE SOFTWARE</a:t>
            </a:r>
            <a:br>
              <a:rPr lang="en-US" sz="1800" u="none">
                <a:solidFill>
                  <a:srgbClr val="177DC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</a:br>
            <a:r>
              <a:rPr lang="en-US" sz="1800" u="none">
                <a:solidFill>
                  <a:srgbClr val="383839"/>
                </a:solidFill>
                <a:latin typeface="Open Sans"/>
                <a:ea typeface="Open Sans"/>
                <a:cs typeface="Open Sans"/>
                <a:sym typeface="Open Sans"/>
              </a:rPr>
              <a:t>Avalia se os produtos de software estão dentro dos padrões de qualidade definidos recorrendo a inspeções e diferentes tipos de testes</a:t>
            </a:r>
            <a:br>
              <a:rPr lang="en-US" sz="1800" u="none">
                <a:solidFill>
                  <a:srgbClr val="383839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800" u="none">
              <a:solidFill>
                <a:srgbClr val="383839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Barlow Semi Condensed SemiBold"/>
              <a:buNone/>
            </a:pPr>
            <a:r>
              <a:rPr lang="en-US"/>
              <a:t>A garantia de qualidade é parte integrante de um processo de engenharia</a:t>
            </a:r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Open Sans Light"/>
              <a:buNone/>
            </a:pPr>
            <a:r>
              <a:rPr lang="en-US">
                <a:latin typeface="Open Sans Light"/>
                <a:ea typeface="Open Sans Light"/>
                <a:cs typeface="Open Sans Light"/>
                <a:sym typeface="Open Sans Light"/>
              </a:rPr>
              <a:t>Abordagem de engenharia "clássica": Modelo waterfall</a:t>
            </a:r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48" name="Google Shape;14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0539" y="1483740"/>
            <a:ext cx="7243351" cy="4069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539" y="5740862"/>
            <a:ext cx="4838700" cy="8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Ciclo de vida dos testes e o ciclo de vida do desenvolvimento: V-model</a:t>
            </a:r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sldNum" idx="4294967295"/>
          </p:nvPr>
        </p:nvSpPr>
        <p:spPr>
          <a:xfrm>
            <a:off x="7884368" y="6381328"/>
            <a:ext cx="857475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118" y="1553479"/>
            <a:ext cx="7993871" cy="442721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/>
          <p:nvPr/>
        </p:nvSpPr>
        <p:spPr>
          <a:xfrm>
            <a:off x="467544" y="4293096"/>
            <a:ext cx="1944216" cy="936104"/>
          </a:xfrm>
          <a:prstGeom prst="wedgeRoundRectCallout">
            <a:avLst>
              <a:gd name="adj1" fmla="val 86205"/>
              <a:gd name="adj2" fmla="val 99552"/>
              <a:gd name="adj3" fmla="val 16667"/>
            </a:avLst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"/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Produtos</a:t>
            </a:r>
            <a:endParaRPr sz="1800" u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7092280" y="4149080"/>
            <a:ext cx="1944216" cy="936104"/>
          </a:xfrm>
          <a:prstGeom prst="wedgeRoundRectCallout">
            <a:avLst>
              <a:gd name="adj1" fmla="val -84894"/>
              <a:gd name="adj2" fmla="val 111341"/>
              <a:gd name="adj3" fmla="val 16667"/>
            </a:avLst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"/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Atividades de teste</a:t>
            </a:r>
            <a:endParaRPr sz="1800" u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Na abordagem ágil, a garantia de qualidade tem de ser aplicada em cada ciclo</a:t>
            </a:r>
            <a:endParaRPr/>
          </a:p>
        </p:txBody>
      </p:sp>
      <p:sp>
        <p:nvSpPr>
          <p:cNvPr id="166" name="Google Shape;166;p22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67" name="Google Shape;167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68" name="Google Shape;16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35530"/>
            <a:ext cx="7816987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39491" y="4585014"/>
            <a:ext cx="4765576" cy="1313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77" name="Google Shape;17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79538"/>
            <a:ext cx="9144000" cy="6076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Barlow Semi Condensed SemiBold"/>
              <a:buNone/>
            </a:pPr>
            <a:r>
              <a:rPr lang="en-US"/>
              <a:t>O papel dos testes de software</a:t>
            </a:r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sp>
        <p:nvSpPr>
          <p:cNvPr id="184" name="Google Shape;184;p24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85" name="Google Shape;185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Verificação vs Validação</a:t>
            </a:r>
            <a:endParaRPr/>
          </a:p>
        </p:txBody>
      </p:sp>
      <p:sp>
        <p:nvSpPr>
          <p:cNvPr id="191" name="Google Shape;191;p25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92" name="Google Shape;192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5"/>
          <p:cNvSpPr txBox="1"/>
          <p:nvPr/>
        </p:nvSpPr>
        <p:spPr>
          <a:xfrm>
            <a:off x="606624" y="1801066"/>
            <a:ext cx="3852801" cy="3872168"/>
          </a:xfrm>
          <a:prstGeom prst="rect">
            <a:avLst/>
          </a:prstGeom>
          <a:solidFill>
            <a:srgbClr val="757070"/>
          </a:solidFill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Open Sans SemiBold"/>
              <a:buNone/>
            </a:pPr>
            <a:r>
              <a:rPr lang="en-US" sz="200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VERIFICAÇÃO: ESTAMOS A FAZER O SISTEMA DA FORMA CORRETA?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3839"/>
              </a:buClr>
              <a:buSzPts val="2000"/>
              <a:buFont typeface="Open Sans"/>
              <a:buNone/>
            </a:pPr>
            <a:r>
              <a:rPr lang="en-US" sz="2000" u="none">
                <a:solidFill>
                  <a:srgbClr val="383839"/>
                </a:solidFill>
                <a:latin typeface="Open Sans"/>
                <a:ea typeface="Open Sans"/>
                <a:cs typeface="Open Sans"/>
                <a:sym typeface="Open Sans"/>
              </a:rPr>
              <a:t>Verificar os produtos em relação às especificações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3839"/>
              </a:buClr>
              <a:buSzPts val="2000"/>
              <a:buFont typeface="Open Sans"/>
              <a:buNone/>
            </a:pPr>
            <a:r>
              <a:rPr lang="en-US" sz="2000" u="none">
                <a:solidFill>
                  <a:srgbClr val="383839"/>
                </a:solidFill>
                <a:latin typeface="Open Sans"/>
                <a:ea typeface="Open Sans"/>
                <a:cs typeface="Open Sans"/>
                <a:sym typeface="Open Sans"/>
              </a:rPr>
              <a:t>Verificar a consistência dos módulos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3839"/>
              </a:buClr>
              <a:buSzPts val="2000"/>
              <a:buFont typeface="Open Sans"/>
              <a:buNone/>
            </a:pPr>
            <a:r>
              <a:rPr lang="en-US" sz="2000" u="none">
                <a:solidFill>
                  <a:srgbClr val="383839"/>
                </a:solidFill>
                <a:latin typeface="Open Sans"/>
                <a:ea typeface="Open Sans"/>
                <a:cs typeface="Open Sans"/>
                <a:sym typeface="Open Sans"/>
              </a:rPr>
              <a:t>Comparar com as melhores práticas da indústria...</a:t>
            </a:r>
            <a:endParaRPr sz="2000" u="none">
              <a:solidFill>
                <a:srgbClr val="38383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p25"/>
          <p:cNvSpPr txBox="1"/>
          <p:nvPr/>
        </p:nvSpPr>
        <p:spPr>
          <a:xfrm>
            <a:off x="4684577" y="1801066"/>
            <a:ext cx="3997734" cy="3845900"/>
          </a:xfrm>
          <a:prstGeom prst="rect">
            <a:avLst/>
          </a:prstGeom>
          <a:solidFill>
            <a:srgbClr val="757070"/>
          </a:solidFill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Open Sans SemiBold"/>
              <a:buNone/>
            </a:pPr>
            <a:r>
              <a:rPr lang="en-US" sz="200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VALIDAÇÃO: ESTAMOS A FAZER O SISTEMA ADEQUADO?</a:t>
            </a:r>
            <a:br>
              <a:rPr lang="en-US" sz="200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</a:br>
            <a:endParaRPr sz="2000" u="none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3839"/>
              </a:buClr>
              <a:buSzPts val="2000"/>
              <a:buFont typeface="Open Sans"/>
              <a:buNone/>
            </a:pPr>
            <a:r>
              <a:rPr lang="en-US" sz="2000" u="none">
                <a:solidFill>
                  <a:srgbClr val="383839"/>
                </a:solidFill>
                <a:latin typeface="Open Sans"/>
                <a:ea typeface="Open Sans"/>
                <a:cs typeface="Open Sans"/>
                <a:sym typeface="Open Sans"/>
              </a:rPr>
              <a:t>Avaliar os produtos em função das necessidades e expectativas dos utilizadores</a:t>
            </a:r>
            <a:endParaRPr sz="2000" u="none">
              <a:solidFill>
                <a:srgbClr val="38383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3839"/>
              </a:buClr>
              <a:buSzPts val="2000"/>
              <a:buFont typeface="Open Sans SemiBold"/>
              <a:buNone/>
            </a:pPr>
            <a:endParaRPr sz="2000" u="none">
              <a:solidFill>
                <a:srgbClr val="383839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02" name="Google Shape;20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840" y="184180"/>
            <a:ext cx="89535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6">
            <a:hlinkClick r:id="rId4"/>
          </p:cNvPr>
          <p:cNvSpPr txBox="1"/>
          <p:nvPr/>
        </p:nvSpPr>
        <p:spPr>
          <a:xfrm>
            <a:off x="179512" y="5022648"/>
            <a:ext cx="845114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C5"/>
              </a:buClr>
              <a:buSzPts val="2000"/>
              <a:buFont typeface="Open Sans"/>
              <a:buNone/>
            </a:pPr>
            <a:r>
              <a:rPr lang="en-US" sz="2000" u="none">
                <a:solidFill>
                  <a:srgbClr val="007EC5"/>
                </a:solidFill>
                <a:latin typeface="Open Sans"/>
                <a:ea typeface="Open Sans"/>
                <a:cs typeface="Open Sans"/>
                <a:sym typeface="Open Sans"/>
              </a:rPr>
              <a:t>Os testes começam ao nível dos componentes e progridem para “fora”</a:t>
            </a:r>
            <a:endParaRPr sz="2000" u="none">
              <a:solidFill>
                <a:srgbClr val="007EC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Different testing techniques are appropriate at different moments/software</a:t>
            </a:r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878B6"/>
                </a:solidFill>
              </a:rPr>
              <a:t>I Oliveira</a:t>
            </a:r>
            <a:endParaRPr>
              <a:solidFill>
                <a:srgbClr val="7878B6"/>
              </a:solidFill>
            </a:endParaRPr>
          </a:p>
        </p:txBody>
      </p:sp>
      <p:grpSp>
        <p:nvGrpSpPr>
          <p:cNvPr id="210" name="Google Shape;210;p27"/>
          <p:cNvGrpSpPr/>
          <p:nvPr/>
        </p:nvGrpSpPr>
        <p:grpSpPr>
          <a:xfrm>
            <a:off x="6813550" y="3073425"/>
            <a:ext cx="1524000" cy="1447800"/>
            <a:chOff x="4368" y="1680"/>
            <a:chExt cx="960" cy="912"/>
          </a:xfrm>
        </p:grpSpPr>
        <p:pic>
          <p:nvPicPr>
            <p:cNvPr id="211" name="Google Shape;211;p27"/>
            <p:cNvPicPr preferRelativeResize="0"/>
            <p:nvPr/>
          </p:nvPicPr>
          <p:blipFill rotWithShape="1">
            <a:blip r:embed="rId3">
              <a:alphaModFix/>
            </a:blip>
            <a:srcRect l="67821" t="15533"/>
            <a:stretch/>
          </p:blipFill>
          <p:spPr>
            <a:xfrm>
              <a:off x="4416" y="1756"/>
              <a:ext cx="864" cy="808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pic>
        <p:sp>
          <p:nvSpPr>
            <p:cNvPr id="212" name="Google Shape;212;p27"/>
            <p:cNvSpPr/>
            <p:nvPr/>
          </p:nvSpPr>
          <p:spPr>
            <a:xfrm>
              <a:off x="4368" y="1680"/>
              <a:ext cx="960" cy="912"/>
            </a:xfrm>
            <a:prstGeom prst="ellipse">
              <a:avLst/>
            </a:prstGeom>
            <a:noFill/>
            <a:ln w="19050" cap="flat" cmpd="sng">
              <a:solidFill>
                <a:srgbClr val="25B8C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 Narrow"/>
                <a:buNone/>
              </a:pPr>
              <a:endParaRPr sz="1800" u="none">
                <a:solidFill>
                  <a:srgbClr val="7878B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213" name="Google Shape;213;p27"/>
          <p:cNvGrpSpPr/>
          <p:nvPr/>
        </p:nvGrpSpPr>
        <p:grpSpPr>
          <a:xfrm>
            <a:off x="4038600" y="2760687"/>
            <a:ext cx="1511300" cy="2012950"/>
            <a:chOff x="2544" y="1756"/>
            <a:chExt cx="952" cy="1268"/>
          </a:xfrm>
        </p:grpSpPr>
        <p:pic>
          <p:nvPicPr>
            <p:cNvPr id="214" name="Google Shape;214;p27"/>
            <p:cNvPicPr preferRelativeResize="0"/>
            <p:nvPr/>
          </p:nvPicPr>
          <p:blipFill rotWithShape="1">
            <a:blip r:embed="rId3">
              <a:alphaModFix/>
            </a:blip>
            <a:srcRect l="33218" t="15533" r="33562"/>
            <a:stretch/>
          </p:blipFill>
          <p:spPr>
            <a:xfrm>
              <a:off x="2544" y="2216"/>
              <a:ext cx="892" cy="8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27"/>
            <p:cNvSpPr txBox="1"/>
            <p:nvPr/>
          </p:nvSpPr>
          <p:spPr>
            <a:xfrm>
              <a:off x="2708" y="1756"/>
              <a:ext cx="788" cy="4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878B6"/>
                </a:buClr>
                <a:buSzPts val="1800"/>
                <a:buFont typeface="Open Sans"/>
                <a:buNone/>
              </a:pPr>
              <a:r>
                <a:rPr lang="en-US" sz="1800" u="none">
                  <a:solidFill>
                    <a:srgbClr val="7878B6"/>
                  </a:solidFill>
                  <a:latin typeface="Open Sans"/>
                  <a:ea typeface="Open Sans"/>
                  <a:cs typeface="Open Sans"/>
                  <a:sym typeface="Open Sans"/>
                </a:rPr>
                <a:t>integration 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878B6"/>
                </a:buClr>
                <a:buSzPts val="1800"/>
                <a:buFont typeface="Open Sans"/>
                <a:buNone/>
              </a:pPr>
              <a:r>
                <a:rPr lang="en-US" sz="1800" u="none">
                  <a:solidFill>
                    <a:srgbClr val="7878B6"/>
                  </a:solidFill>
                  <a:latin typeface="Open Sans"/>
                  <a:ea typeface="Open Sans"/>
                  <a:cs typeface="Open Sans"/>
                  <a:sym typeface="Open Sans"/>
                </a:rPr>
                <a:t>testing</a:t>
              </a:r>
              <a:endParaRPr sz="1800" u="none">
                <a:solidFill>
                  <a:srgbClr val="7878B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6" name="Google Shape;216;p27"/>
          <p:cNvGrpSpPr/>
          <p:nvPr/>
        </p:nvGrpSpPr>
        <p:grpSpPr>
          <a:xfrm>
            <a:off x="457200" y="1693887"/>
            <a:ext cx="3581400" cy="1860550"/>
            <a:chOff x="288" y="1084"/>
            <a:chExt cx="2256" cy="1172"/>
          </a:xfrm>
        </p:grpSpPr>
        <p:sp>
          <p:nvSpPr>
            <p:cNvPr id="217" name="Google Shape;217;p27"/>
            <p:cNvSpPr txBox="1"/>
            <p:nvPr/>
          </p:nvSpPr>
          <p:spPr>
            <a:xfrm>
              <a:off x="370" y="1084"/>
              <a:ext cx="1149" cy="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7878B6"/>
                </a:buClr>
                <a:buSzPts val="1800"/>
                <a:buFont typeface="Open Sans"/>
                <a:buNone/>
              </a:pPr>
              <a:r>
                <a:rPr lang="en-US" sz="1800" b="1" u="none">
                  <a:solidFill>
                    <a:srgbClr val="7878B6"/>
                  </a:solidFill>
                  <a:latin typeface="Open Sans"/>
                  <a:ea typeface="Open Sans"/>
                  <a:cs typeface="Open Sans"/>
                  <a:sym typeface="Open Sans"/>
                </a:rPr>
                <a:t>Unit testing</a:t>
              </a:r>
              <a:endParaRPr sz="1800" b="1" u="none">
                <a:solidFill>
                  <a:srgbClr val="7878B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18" name="Google Shape;218;p27"/>
            <p:cNvGrpSpPr/>
            <p:nvPr/>
          </p:nvGrpSpPr>
          <p:grpSpPr>
            <a:xfrm>
              <a:off x="288" y="1447"/>
              <a:ext cx="934" cy="809"/>
              <a:chOff x="336" y="1755"/>
              <a:chExt cx="934" cy="809"/>
            </a:xfrm>
          </p:grpSpPr>
          <p:pic>
            <p:nvPicPr>
              <p:cNvPr id="219" name="Google Shape;219;p27"/>
              <p:cNvPicPr preferRelativeResize="0"/>
              <p:nvPr/>
            </p:nvPicPr>
            <p:blipFill rotWithShape="1">
              <a:blip r:embed="rId3">
                <a:alphaModFix/>
              </a:blip>
              <a:srcRect t="15533" r="65225"/>
              <a:stretch/>
            </p:blipFill>
            <p:spPr>
              <a:xfrm>
                <a:off x="336" y="1755"/>
                <a:ext cx="934" cy="80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0" name="Google Shape;220;p27"/>
              <p:cNvSpPr/>
              <p:nvPr/>
            </p:nvSpPr>
            <p:spPr>
              <a:xfrm>
                <a:off x="384" y="2160"/>
                <a:ext cx="144" cy="144"/>
              </a:xfrm>
              <a:prstGeom prst="ellipse">
                <a:avLst/>
              </a:prstGeom>
              <a:noFill/>
              <a:ln w="38100" cap="flat" cmpd="sng">
                <a:solidFill>
                  <a:srgbClr val="FF33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 Narrow"/>
                  <a:buNone/>
                </a:pPr>
                <a:endParaRPr sz="1800" u="none">
                  <a:solidFill>
                    <a:srgbClr val="7878B6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1" name="Google Shape;221;p27"/>
              <p:cNvSpPr/>
              <p:nvPr/>
            </p:nvSpPr>
            <p:spPr>
              <a:xfrm>
                <a:off x="480" y="2400"/>
                <a:ext cx="144" cy="144"/>
              </a:xfrm>
              <a:prstGeom prst="ellipse">
                <a:avLst/>
              </a:prstGeom>
              <a:noFill/>
              <a:ln w="38100" cap="flat" cmpd="sng">
                <a:solidFill>
                  <a:srgbClr val="FF33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 Narrow"/>
                  <a:buNone/>
                </a:pPr>
                <a:endParaRPr sz="1800" u="none">
                  <a:solidFill>
                    <a:srgbClr val="7878B6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222" name="Google Shape;222;p27"/>
            <p:cNvSpPr/>
            <p:nvPr/>
          </p:nvSpPr>
          <p:spPr>
            <a:xfrm>
              <a:off x="1248" y="1536"/>
              <a:ext cx="1296" cy="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7878B6"/>
                </a:buClr>
                <a:buSzPts val="1800"/>
                <a:buFont typeface="Open Sans"/>
                <a:buNone/>
              </a:pPr>
              <a:r>
                <a:rPr lang="en-US" sz="1800" i="1" u="none">
                  <a:solidFill>
                    <a:srgbClr val="7878B6"/>
                  </a:solidFill>
                  <a:latin typeface="Open Sans"/>
                  <a:ea typeface="Open Sans"/>
                  <a:cs typeface="Open Sans"/>
                  <a:sym typeface="Open Sans"/>
                </a:rPr>
                <a:t>Each module does what it is supposed to do? </a:t>
              </a:r>
              <a:endParaRPr sz="1800" i="1" u="none">
                <a:solidFill>
                  <a:srgbClr val="7878B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23" name="Google Shape;223;p27"/>
          <p:cNvGrpSpPr/>
          <p:nvPr/>
        </p:nvGrpSpPr>
        <p:grpSpPr>
          <a:xfrm>
            <a:off x="467544" y="4293096"/>
            <a:ext cx="4267200" cy="2073275"/>
            <a:chOff x="336" y="2812"/>
            <a:chExt cx="2688" cy="1306"/>
          </a:xfrm>
        </p:grpSpPr>
        <p:grpSp>
          <p:nvGrpSpPr>
            <p:cNvPr id="224" name="Google Shape;224;p27"/>
            <p:cNvGrpSpPr/>
            <p:nvPr/>
          </p:nvGrpSpPr>
          <p:grpSpPr>
            <a:xfrm>
              <a:off x="336" y="2812"/>
              <a:ext cx="1224" cy="1306"/>
              <a:chOff x="336" y="2812"/>
              <a:chExt cx="1224" cy="1306"/>
            </a:xfrm>
          </p:grpSpPr>
          <p:sp>
            <p:nvSpPr>
              <p:cNvPr id="225" name="Google Shape;225;p27"/>
              <p:cNvSpPr txBox="1"/>
              <p:nvPr/>
            </p:nvSpPr>
            <p:spPr>
              <a:xfrm>
                <a:off x="336" y="3676"/>
                <a:ext cx="1224" cy="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7878B6"/>
                  </a:buClr>
                  <a:buSzPts val="1800"/>
                  <a:buFont typeface="Open Sans"/>
                  <a:buNone/>
                </a:pPr>
                <a:r>
                  <a:rPr lang="en-US" sz="1800" b="1" u="none">
                    <a:solidFill>
                      <a:srgbClr val="7878B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Integration </a:t>
                </a:r>
                <a:endParaRPr/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7878B6"/>
                  </a:buClr>
                  <a:buSzPts val="1800"/>
                  <a:buFont typeface="Open Sans"/>
                  <a:buNone/>
                </a:pPr>
                <a:r>
                  <a:rPr lang="en-US" sz="1800" b="1" u="none">
                    <a:solidFill>
                      <a:srgbClr val="7878B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testing</a:t>
                </a:r>
                <a:endParaRPr sz="1800" b="1" u="none">
                  <a:solidFill>
                    <a:srgbClr val="7878B6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226" name="Google Shape;226;p27"/>
              <p:cNvGrpSpPr/>
              <p:nvPr/>
            </p:nvGrpSpPr>
            <p:grpSpPr>
              <a:xfrm>
                <a:off x="336" y="2812"/>
                <a:ext cx="934" cy="809"/>
                <a:chOff x="1536" y="1872"/>
                <a:chExt cx="934" cy="809"/>
              </a:xfrm>
            </p:grpSpPr>
            <p:pic>
              <p:nvPicPr>
                <p:cNvPr id="227" name="Google Shape;227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15533" r="65225"/>
                <a:stretch/>
              </p:blipFill>
              <p:spPr>
                <a:xfrm>
                  <a:off x="1536" y="1872"/>
                  <a:ext cx="934" cy="8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28" name="Google Shape;228;p27"/>
                <p:cNvSpPr/>
                <p:nvPr/>
              </p:nvSpPr>
              <p:spPr>
                <a:xfrm>
                  <a:off x="1584" y="2277"/>
                  <a:ext cx="144" cy="144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FF33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 Narrow"/>
                    <a:buNone/>
                  </a:pPr>
                  <a:endParaRPr sz="1800" u="none">
                    <a:solidFill>
                      <a:srgbClr val="7878B6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29" name="Google Shape;229;p27"/>
                <p:cNvSpPr/>
                <p:nvPr/>
              </p:nvSpPr>
              <p:spPr>
                <a:xfrm>
                  <a:off x="1680" y="2517"/>
                  <a:ext cx="144" cy="144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FF33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 Narrow"/>
                    <a:buNone/>
                  </a:pPr>
                  <a:endParaRPr sz="1800" u="none">
                    <a:solidFill>
                      <a:srgbClr val="7878B6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30" name="Google Shape;230;p27"/>
                <p:cNvSpPr/>
                <p:nvPr/>
              </p:nvSpPr>
              <p:spPr>
                <a:xfrm>
                  <a:off x="1824" y="2256"/>
                  <a:ext cx="144" cy="144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FFFF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 Narrow"/>
                    <a:buNone/>
                  </a:pPr>
                  <a:endParaRPr sz="1800" u="none">
                    <a:solidFill>
                      <a:srgbClr val="7878B6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sp>
          <p:nvSpPr>
            <p:cNvPr id="231" name="Google Shape;231;p27"/>
            <p:cNvSpPr/>
            <p:nvPr/>
          </p:nvSpPr>
          <p:spPr>
            <a:xfrm>
              <a:off x="1248" y="3004"/>
              <a:ext cx="1776" cy="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1" indent="0" algn="l" rtl="0">
                <a:spcBef>
                  <a:spcPts val="0"/>
                </a:spcBef>
                <a:spcAft>
                  <a:spcPts val="0"/>
                </a:spcAft>
                <a:buClr>
                  <a:srgbClr val="7878B6"/>
                </a:buClr>
                <a:buSzPts val="1800"/>
                <a:buFont typeface="Open Sans"/>
                <a:buNone/>
              </a:pPr>
              <a:r>
                <a:rPr lang="en-US" sz="1800" b="0" i="1" u="none" strike="noStrike" cap="none">
                  <a:solidFill>
                    <a:srgbClr val="7878B6"/>
                  </a:solidFill>
                  <a:latin typeface="Open Sans"/>
                  <a:ea typeface="Open Sans"/>
                  <a:cs typeface="Open Sans"/>
                  <a:sym typeface="Open Sans"/>
                </a:rPr>
                <a:t>Do you get the expected results when the parts are put together?</a:t>
              </a:r>
              <a:endParaRPr sz="1800" b="0" i="1" u="none" strike="noStrike" cap="none">
                <a:solidFill>
                  <a:srgbClr val="7878B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2" name="Google Shape;232;p27"/>
          <p:cNvGrpSpPr/>
          <p:nvPr/>
        </p:nvGrpSpPr>
        <p:grpSpPr>
          <a:xfrm>
            <a:off x="6477000" y="4760947"/>
            <a:ext cx="2286000" cy="1476377"/>
            <a:chOff x="4080" y="3016"/>
            <a:chExt cx="1440" cy="930"/>
          </a:xfrm>
        </p:grpSpPr>
        <p:sp>
          <p:nvSpPr>
            <p:cNvPr id="233" name="Google Shape;233;p27"/>
            <p:cNvSpPr txBox="1"/>
            <p:nvPr/>
          </p:nvSpPr>
          <p:spPr>
            <a:xfrm>
              <a:off x="4327" y="3016"/>
              <a:ext cx="950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878B6"/>
                </a:buClr>
                <a:buSzPts val="1800"/>
                <a:buFont typeface="Open Sans"/>
                <a:buNone/>
              </a:pPr>
              <a:r>
                <a:rPr lang="en-US" sz="1800" b="1" u="none">
                  <a:solidFill>
                    <a:srgbClr val="7878B6"/>
                  </a:solidFill>
                  <a:latin typeface="Open Sans"/>
                  <a:ea typeface="Open Sans"/>
                  <a:cs typeface="Open Sans"/>
                  <a:sym typeface="Open Sans"/>
                </a:rPr>
                <a:t>System testing</a:t>
              </a:r>
              <a:endParaRPr sz="1800" b="1" u="none">
                <a:solidFill>
                  <a:srgbClr val="7878B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4" name="Google Shape;234;p27"/>
            <p:cNvSpPr/>
            <p:nvPr/>
          </p:nvSpPr>
          <p:spPr>
            <a:xfrm>
              <a:off x="4080" y="3312"/>
              <a:ext cx="1440" cy="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1" indent="0" algn="l" rtl="0">
                <a:spcBef>
                  <a:spcPts val="0"/>
                </a:spcBef>
                <a:spcAft>
                  <a:spcPts val="0"/>
                </a:spcAft>
                <a:buClr>
                  <a:srgbClr val="7878B6"/>
                </a:buClr>
                <a:buSzPts val="1800"/>
                <a:buFont typeface="Open Sans"/>
                <a:buNone/>
              </a:pPr>
              <a:r>
                <a:rPr lang="en-US" sz="1800" b="0" i="1" u="none" strike="noStrike" cap="none">
                  <a:solidFill>
                    <a:srgbClr val="7878B6"/>
                  </a:solidFill>
                  <a:latin typeface="Open Sans"/>
                  <a:ea typeface="Open Sans"/>
                  <a:cs typeface="Open Sans"/>
                  <a:sym typeface="Open Sans"/>
                </a:rPr>
                <a:t>The whole system functions as expected, in the target config?</a:t>
              </a:r>
              <a:endParaRPr sz="1800" b="0" i="1" u="none" strike="noStrike" cap="none">
                <a:solidFill>
                  <a:srgbClr val="7878B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5" name="Google Shape;235;p27"/>
          <p:cNvGrpSpPr/>
          <p:nvPr/>
        </p:nvGrpSpPr>
        <p:grpSpPr>
          <a:xfrm>
            <a:off x="6477000" y="1414810"/>
            <a:ext cx="2438400" cy="1643063"/>
            <a:chOff x="4080" y="1004"/>
            <a:chExt cx="1536" cy="1035"/>
          </a:xfrm>
        </p:grpSpPr>
        <p:sp>
          <p:nvSpPr>
            <p:cNvPr id="236" name="Google Shape;236;p27"/>
            <p:cNvSpPr/>
            <p:nvPr/>
          </p:nvSpPr>
          <p:spPr>
            <a:xfrm>
              <a:off x="4080" y="1004"/>
              <a:ext cx="1536" cy="4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1" indent="0" algn="l" rtl="0">
                <a:spcBef>
                  <a:spcPts val="0"/>
                </a:spcBef>
                <a:spcAft>
                  <a:spcPts val="0"/>
                </a:spcAft>
                <a:buClr>
                  <a:srgbClr val="7878B6"/>
                </a:buClr>
                <a:buSzPts val="1800"/>
                <a:buFont typeface="Open Sans"/>
                <a:buNone/>
              </a:pPr>
              <a:r>
                <a:rPr lang="en-US" sz="1800" b="0" i="1" u="none" strike="noStrike" cap="none">
                  <a:solidFill>
                    <a:srgbClr val="7878B6"/>
                  </a:solidFill>
                  <a:latin typeface="Open Sans"/>
                  <a:ea typeface="Open Sans"/>
                  <a:cs typeface="Open Sans"/>
                  <a:sym typeface="Open Sans"/>
                </a:rPr>
                <a:t>Does the program satisfy the requirements?</a:t>
              </a:r>
              <a:endParaRPr sz="1800" b="0" i="1" u="none" strike="noStrike" cap="none">
                <a:solidFill>
                  <a:srgbClr val="7878B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27"/>
            <p:cNvSpPr/>
            <p:nvPr/>
          </p:nvSpPr>
          <p:spPr>
            <a:xfrm>
              <a:off x="4128" y="1632"/>
              <a:ext cx="1145" cy="4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7878B6"/>
                </a:buClr>
                <a:buSzPts val="1800"/>
                <a:buFont typeface="Open Sans"/>
                <a:buNone/>
              </a:pPr>
              <a:r>
                <a:rPr lang="en-US" sz="1800" b="1" u="none">
                  <a:solidFill>
                    <a:srgbClr val="7878B6"/>
                  </a:solidFill>
                  <a:latin typeface="Open Sans"/>
                  <a:ea typeface="Open Sans"/>
                  <a:cs typeface="Open Sans"/>
                  <a:sym typeface="Open Sans"/>
                </a:rPr>
                <a:t>Acceptance /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7878B6"/>
                </a:buClr>
                <a:buSzPts val="1800"/>
                <a:buFont typeface="Open Sans"/>
                <a:buNone/>
              </a:pPr>
              <a:r>
                <a:rPr lang="en-US" sz="1800" b="1" u="none">
                  <a:solidFill>
                    <a:srgbClr val="7878B6"/>
                  </a:solidFill>
                  <a:latin typeface="Open Sans"/>
                  <a:ea typeface="Open Sans"/>
                  <a:cs typeface="Open Sans"/>
                  <a:sym typeface="Open Sans"/>
                </a:rPr>
                <a:t>Functional Testing</a:t>
              </a:r>
              <a:endParaRPr sz="1800" b="1" u="none">
                <a:solidFill>
                  <a:srgbClr val="7878B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38" name="Google Shape;238;p27"/>
          <p:cNvSpPr/>
          <p:nvPr/>
        </p:nvSpPr>
        <p:spPr>
          <a:xfrm>
            <a:off x="990600" y="3717032"/>
            <a:ext cx="3048000" cy="609600"/>
          </a:xfrm>
          <a:prstGeom prst="rightArrow">
            <a:avLst>
              <a:gd name="adj1" fmla="val 50000"/>
              <a:gd name="adj2" fmla="val 112500"/>
            </a:avLst>
          </a:prstGeom>
          <a:solidFill>
            <a:srgbClr val="D9D9D9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8B6"/>
              </a:buClr>
              <a:buSzPts val="1800"/>
              <a:buFont typeface="Open Sans"/>
              <a:buNone/>
            </a:pPr>
            <a:r>
              <a:rPr lang="en-US" sz="1800" u="none">
                <a:solidFill>
                  <a:srgbClr val="7878B6"/>
                </a:solidFill>
                <a:latin typeface="Open Sans"/>
                <a:ea typeface="Open Sans"/>
                <a:cs typeface="Open Sans"/>
                <a:sym typeface="Open Sans"/>
              </a:rPr>
              <a:t>managing complexity</a:t>
            </a:r>
            <a:endParaRPr sz="1800" u="none">
              <a:solidFill>
                <a:srgbClr val="7878B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27"/>
          <p:cNvSpPr/>
          <p:nvPr/>
        </p:nvSpPr>
        <p:spPr>
          <a:xfrm rot="-5400000">
            <a:off x="4349316" y="3407953"/>
            <a:ext cx="3645768" cy="609600"/>
          </a:xfrm>
          <a:prstGeom prst="leftRightArrow">
            <a:avLst>
              <a:gd name="adj1" fmla="val 50000"/>
              <a:gd name="adj2" fmla="val 110000"/>
            </a:avLst>
          </a:prstGeom>
          <a:solidFill>
            <a:srgbClr val="D9D9D9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8B6"/>
              </a:buClr>
              <a:buSzPts val="1800"/>
              <a:buFont typeface="Open Sans"/>
              <a:buNone/>
            </a:pPr>
            <a:r>
              <a:rPr lang="en-US" sz="1800" u="none">
                <a:solidFill>
                  <a:srgbClr val="7878B6"/>
                </a:solidFill>
                <a:latin typeface="Open Sans"/>
                <a:ea typeface="Open Sans"/>
                <a:cs typeface="Open Sans"/>
                <a:sym typeface="Open Sans"/>
              </a:rPr>
              <a:t>Developer vs customer</a:t>
            </a:r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1500" y="3322892"/>
            <a:ext cx="5683310" cy="2697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8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Pirâmide dos testes</a:t>
            </a:r>
            <a:endParaRPr/>
          </a:p>
        </p:txBody>
      </p:sp>
      <p:sp>
        <p:nvSpPr>
          <p:cNvPr id="247" name="Google Shape;247;p28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48" name="Google Shape;248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49" name="Google Shape;249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877" y="1340769"/>
            <a:ext cx="5064571" cy="279001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8">
            <a:hlinkClick r:id="rId5"/>
          </p:cNvPr>
          <p:cNvSpPr/>
          <p:nvPr/>
        </p:nvSpPr>
        <p:spPr>
          <a:xfrm>
            <a:off x="263133" y="4130783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7DC2"/>
              </a:buClr>
              <a:buSzPts val="1800"/>
              <a:buFont typeface="Open Sans Light"/>
              <a:buNone/>
            </a:pPr>
            <a:r>
              <a:rPr lang="en-US" sz="1800" u="none">
                <a:solidFill>
                  <a:srgbClr val="177DC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https://martinfowler.com/bliki/TestPyramid.html</a:t>
            </a:r>
            <a:endParaRPr sz="1800" u="none">
              <a:solidFill>
                <a:srgbClr val="177DC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51" name="Google Shape;251;p28">
            <a:hlinkClick r:id="rId6"/>
          </p:cNvPr>
          <p:cNvSpPr/>
          <p:nvPr/>
        </p:nvSpPr>
        <p:spPr>
          <a:xfrm>
            <a:off x="3941960" y="5983971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7DC2"/>
              </a:buClr>
              <a:buSzPts val="1800"/>
              <a:buFont typeface="Open Sans Light"/>
              <a:buNone/>
            </a:pPr>
            <a:r>
              <a:rPr lang="en-US" sz="1800">
                <a:solidFill>
                  <a:srgbClr val="177DC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https://www.blazemeter.com/blog/agile-development-and-testing-an-introduction</a:t>
            </a:r>
            <a:endParaRPr sz="1800" u="none">
              <a:solidFill>
                <a:srgbClr val="177DC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Teste unitário: o contrato de uma </a:t>
            </a:r>
            <a:r>
              <a:rPr lang="en-US" i="1"/>
              <a:t>stack</a:t>
            </a:r>
            <a:r>
              <a:rPr lang="en-US"/>
              <a:t> </a:t>
            </a:r>
            <a:endParaRPr/>
          </a:p>
        </p:txBody>
      </p:sp>
      <p:sp>
        <p:nvSpPr>
          <p:cNvPr id="257" name="Google Shape;257;p29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  <p:sp>
        <p:nvSpPr>
          <p:cNvPr id="258" name="Google Shape;258;p29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  <p:sp>
        <p:nvSpPr>
          <p:cNvPr id="259" name="Google Shape;259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60" name="Google Shape;26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8254" y="1166813"/>
            <a:ext cx="5657850" cy="50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9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0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Unit test example: </a:t>
            </a:r>
            <a:r>
              <a:rPr lang="en-US">
                <a:latin typeface="Open Sans Light"/>
                <a:ea typeface="Open Sans Light"/>
                <a:cs typeface="Open Sans Light"/>
                <a:sym typeface="Open Sans Light"/>
              </a:rPr>
              <a:t>Verifying the unit contract</a:t>
            </a:r>
            <a:endParaRPr/>
          </a:p>
        </p:txBody>
      </p:sp>
      <p:sp>
        <p:nvSpPr>
          <p:cNvPr id="267" name="Google Shape;267;p30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A stack is empty on construction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A stack has size 0 on construction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After n pushes to an empty stack, n &gt; 0, the stack is not empty &amp;&amp; its size is n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If one pushes x then pops, the value popped is x, the size is decreased by one.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If one pushes x then peeks, the value returned is x, but the size stays the same</a:t>
            </a:r>
            <a:endParaRPr/>
          </a:p>
        </p:txBody>
      </p:sp>
      <p:sp>
        <p:nvSpPr>
          <p:cNvPr id="268" name="Google Shape;268;p30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If the size is n, then after n pops, the stack is empty and has a size 0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Popping from an empty stack does throw a NoSuchElementException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Peeking into an empty stack does throw a NoSuchElementException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For bounded stacks only, pushing onto a full stack does throw an IllegalStateException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endParaRPr/>
          </a:p>
        </p:txBody>
      </p:sp>
      <p:sp>
        <p:nvSpPr>
          <p:cNvPr id="269" name="Google Shape;269;p30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70" name="Google Shape;270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71" name="Google Shape;271;p30">
            <a:hlinkClick r:id="rId3"/>
          </p:cNvPr>
          <p:cNvSpPr/>
          <p:nvPr/>
        </p:nvSpPr>
        <p:spPr>
          <a:xfrm>
            <a:off x="4803686" y="6001802"/>
            <a:ext cx="388843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EC5"/>
              </a:buClr>
              <a:buSzPts val="2000"/>
              <a:buFont typeface="Open Sans Light"/>
              <a:buNone/>
            </a:pPr>
            <a:r>
              <a:rPr lang="en-US" sz="2000" u="none">
                <a:solidFill>
                  <a:srgbClr val="007EC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🡪 See also: Ray Toal’s notes.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1"/>
          <p:cNvSpPr txBox="1">
            <a:spLocks noGrp="1"/>
          </p:cNvSpPr>
          <p:nvPr>
            <p:ph type="title"/>
          </p:nvPr>
        </p:nvSpPr>
        <p:spPr>
          <a:xfrm>
            <a:off x="552450" y="365127"/>
            <a:ext cx="8147050" cy="720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Exemplo de teste UI: </a:t>
            </a:r>
            <a:r>
              <a:rPr lang="en-US">
                <a:latin typeface="Barlow Semi Condensed"/>
                <a:ea typeface="Barlow Semi Condensed"/>
                <a:cs typeface="Barlow Semi Condensed"/>
                <a:sym typeface="Barlow Semi Condensed"/>
              </a:rPr>
              <a:t>Automatização de testes de aplicações Web com Selenium IDE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77" name="Google Shape;277;p31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78" name="Google Shape;278;p31"/>
          <p:cNvSpPr txBox="1">
            <a:spLocks noGrp="1"/>
          </p:cNvSpPr>
          <p:nvPr>
            <p:ph type="sldNum" idx="12"/>
          </p:nvPr>
        </p:nvSpPr>
        <p:spPr>
          <a:xfrm>
            <a:off x="6900041" y="6246811"/>
            <a:ext cx="2057400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79" name="Google Shape;279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2840" y="1346472"/>
            <a:ext cx="7544601" cy="500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Barlow Semi Condensed SemiBold"/>
              <a:buNone/>
            </a:pPr>
            <a:r>
              <a:rPr lang="en-US"/>
              <a:t>Test-driven development</a:t>
            </a:r>
            <a:endParaRPr/>
          </a:p>
        </p:txBody>
      </p:sp>
      <p:sp>
        <p:nvSpPr>
          <p:cNvPr id="285" name="Google Shape;285;p32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Desenvolvimento conduzido pelos testes.</a:t>
            </a:r>
            <a:endParaRPr/>
          </a:p>
        </p:txBody>
      </p:sp>
      <p:sp>
        <p:nvSpPr>
          <p:cNvPr id="286" name="Google Shape;286;p32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87" name="Google Shape;287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Debug Later Programming</a:t>
            </a:r>
            <a:endParaRPr/>
          </a:p>
        </p:txBody>
      </p:sp>
      <p:sp>
        <p:nvSpPr>
          <p:cNvPr id="293" name="Google Shape;293;p33"/>
          <p:cNvSpPr txBox="1">
            <a:spLocks noGrp="1"/>
          </p:cNvSpPr>
          <p:nvPr>
            <p:ph type="body" idx="1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  <p:sp>
        <p:nvSpPr>
          <p:cNvPr id="294" name="Google Shape;294;p33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95" name="Google Shape;295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96" name="Google Shape;296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077" y="1734647"/>
            <a:ext cx="8350141" cy="309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3" descr="https://imagery.pragprog.com/products/173/jgade.jpg?129858988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2534" y="4830991"/>
            <a:ext cx="1471684" cy="1766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Tests-first thinking</a:t>
            </a:r>
            <a:endParaRPr/>
          </a:p>
        </p:txBody>
      </p:sp>
      <p:sp>
        <p:nvSpPr>
          <p:cNvPr id="303" name="Google Shape;303;p34"/>
          <p:cNvSpPr txBox="1">
            <a:spLocks noGrp="1"/>
          </p:cNvSpPr>
          <p:nvPr>
            <p:ph type="body" idx="1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  <p:sp>
        <p:nvSpPr>
          <p:cNvPr id="304" name="Google Shape;304;p34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05" name="Google Shape;305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306" name="Google Shape;30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1340768"/>
            <a:ext cx="8486775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4" descr="https://imagery.pragprog.com/products/173/jgade.jpg?129858988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44208" y="3953153"/>
            <a:ext cx="2439311" cy="2927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TDD: Test Driven Development</a:t>
            </a:r>
            <a:endParaRPr/>
          </a:p>
        </p:txBody>
      </p:sp>
      <p:pic>
        <p:nvPicPr>
          <p:cNvPr id="313" name="Google Shape;31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3648" y="1772816"/>
            <a:ext cx="6474113" cy="403244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5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15" name="Google Shape;315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endParaRPr/>
          </a:p>
        </p:txBody>
      </p:sp>
      <p:sp>
        <p:nvSpPr>
          <p:cNvPr id="321" name="Google Shape;321;p36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 Oliveira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2" name="Google Shape;322;p36"/>
          <p:cNvSpPr txBox="1">
            <a:spLocks noGrp="1"/>
          </p:cNvSpPr>
          <p:nvPr>
            <p:ph type="sldNum" idx="12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22</a:t>
            </a:fld>
            <a:endParaRPr sz="12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23" name="Google Shape;32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692696"/>
            <a:ext cx="8964488" cy="511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7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endParaRPr/>
          </a:p>
        </p:txBody>
      </p:sp>
      <p:sp>
        <p:nvSpPr>
          <p:cNvPr id="329" name="Google Shape;329;p37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 Oliveira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30" name="Google Shape;330;p37"/>
          <p:cNvSpPr txBox="1">
            <a:spLocks noGrp="1"/>
          </p:cNvSpPr>
          <p:nvPr>
            <p:ph type="sldNum" idx="12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23</a:t>
            </a:fld>
            <a:endParaRPr sz="12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31" name="Google Shape;331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04" y="116632"/>
            <a:ext cx="6580731" cy="338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5816" y="3327838"/>
            <a:ext cx="6156176" cy="34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8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Oliveira</a:t>
            </a:r>
            <a:endParaRPr/>
          </a:p>
        </p:txBody>
      </p:sp>
      <p:sp>
        <p:nvSpPr>
          <p:cNvPr id="338" name="Google Shape;338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fld id="{00000000-1234-1234-1234-123412341234}" type="slidenum"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8"/>
          <p:cNvSpPr txBox="1"/>
          <p:nvPr/>
        </p:nvSpPr>
        <p:spPr>
          <a:xfrm>
            <a:off x="8382000" y="63246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24</a:t>
            </a:fld>
            <a:endParaRPr sz="1400" b="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40" name="Google Shape;340;p3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The benefits of TDD: an investigation</a:t>
            </a:r>
            <a:endParaRPr/>
          </a:p>
        </p:txBody>
      </p:sp>
      <p:sp>
        <p:nvSpPr>
          <p:cNvPr id="341" name="Google Shape;341;p38"/>
          <p:cNvSpPr txBox="1">
            <a:spLocks noGrp="1"/>
          </p:cNvSpPr>
          <p:nvPr>
            <p:ph type="body" idx="1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r>
              <a:rPr lang="en-US"/>
              <a:t>“I found there were a large number of articles describing 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how to do TDD</a:t>
            </a:r>
            <a:r>
              <a:rPr lang="en-US"/>
              <a:t>, or </a:t>
            </a:r>
            <a:r>
              <a:rPr lang="en-US" u="sng">
                <a:solidFill>
                  <a:schemeClr val="hlink"/>
                </a:solidFill>
                <a:hlinkClick r:id="rId4"/>
              </a:rPr>
              <a:t>why TDD works</a:t>
            </a:r>
            <a:r>
              <a:rPr lang="en-US"/>
              <a:t> but these articles lacked data. (...) </a:t>
            </a:r>
            <a:r>
              <a:rPr lang="en-US" i="1"/>
              <a:t>the </a:t>
            </a:r>
            <a:r>
              <a:rPr lang="en-US" i="1">
                <a:solidFill>
                  <a:srgbClr val="FF3300"/>
                </a:solidFill>
              </a:rPr>
              <a:t>benefits of TDD are neither clear nor are they immediately apparent</a:t>
            </a:r>
            <a:r>
              <a:rPr lang="en-US">
                <a:solidFill>
                  <a:srgbClr val="FF3300"/>
                </a:solidFill>
              </a:rPr>
              <a:t>.“ </a:t>
            </a:r>
            <a:endParaRPr/>
          </a:p>
        </p:txBody>
      </p:sp>
      <p:pic>
        <p:nvPicPr>
          <p:cNvPr id="342" name="Google Shape;342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270000"/>
            <a:ext cx="10467975" cy="5343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8"/>
          <p:cNvSpPr/>
          <p:nvPr/>
        </p:nvSpPr>
        <p:spPr>
          <a:xfrm>
            <a:off x="323850" y="6308725"/>
            <a:ext cx="7721600" cy="246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http://ieeexplore.ieee.org/xpl/articleDetails.jsp?tp=&amp;arnumber=4163024</a:t>
            </a: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307" y="1165309"/>
            <a:ext cx="8268693" cy="32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9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 Oliveira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50" name="Google Shape;350;p39"/>
          <p:cNvSpPr txBox="1">
            <a:spLocks noGrp="1"/>
          </p:cNvSpPr>
          <p:nvPr>
            <p:ph type="sldNum" idx="12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25</a:t>
            </a:fld>
            <a:endParaRPr sz="12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13E927-ECD3-8AE7-6716-F57070078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i="1" dirty="0"/>
              <a:t>Agile </a:t>
            </a:r>
            <a:r>
              <a:rPr lang="pt-PT" i="1" dirty="0" err="1"/>
              <a:t>test</a:t>
            </a:r>
            <a:r>
              <a:rPr lang="pt-PT" i="1" dirty="0"/>
              <a:t> </a:t>
            </a:r>
            <a:r>
              <a:rPr lang="pt-PT" i="1" dirty="0" err="1"/>
              <a:t>quadrants</a:t>
            </a:r>
            <a:endParaRPr lang="pt-PT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6C596-FB56-261F-99E8-2E3C3404B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6170A-89E2-C2D1-AC17-56FFCE482F6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FF9B54-C74C-9327-AE6D-A7DE3CF7D0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 descr="A diagram of a business face&#10;&#10;AI-generated content may be incorrect.">
            <a:extLst>
              <a:ext uri="{FF2B5EF4-FFF2-40B4-BE49-F238E27FC236}">
                <a16:creationId xmlns:a16="http://schemas.microsoft.com/office/drawing/2014/main" id="{0772A1BA-DDA3-DC6D-DF59-840F34C5E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735" y="1374929"/>
            <a:ext cx="6475875" cy="485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84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0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56" name="Google Shape;356;p40"/>
          <p:cNvSpPr txBox="1">
            <a:spLocks noGrp="1"/>
          </p:cNvSpPr>
          <p:nvPr>
            <p:ph type="sldNum" idx="4294967295"/>
          </p:nvPr>
        </p:nvSpPr>
        <p:spPr>
          <a:xfrm>
            <a:off x="7884368" y="6381328"/>
            <a:ext cx="857475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357" name="Google Shape;357;p40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Stories, use cases, scenarios</a:t>
            </a:r>
            <a:endParaRPr/>
          </a:p>
        </p:txBody>
      </p:sp>
      <p:pic>
        <p:nvPicPr>
          <p:cNvPr id="358" name="Google Shape;358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568" y="1340768"/>
            <a:ext cx="7992888" cy="4757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1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A story and tests... </a:t>
            </a:r>
            <a:endParaRPr/>
          </a:p>
        </p:txBody>
      </p:sp>
      <p:sp>
        <p:nvSpPr>
          <p:cNvPr id="364" name="Google Shape;364;p41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 Oliveira</a:t>
            </a:r>
            <a:endParaRPr/>
          </a:p>
        </p:txBody>
      </p:sp>
      <p:sp>
        <p:nvSpPr>
          <p:cNvPr id="365" name="Google Shape;365;p41"/>
          <p:cNvSpPr txBox="1">
            <a:spLocks noGrp="1"/>
          </p:cNvSpPr>
          <p:nvPr>
            <p:ph type="sldNum" idx="12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28</a:t>
            </a:fld>
            <a:endParaRPr sz="12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66" name="Google Shape;36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432" y="1270733"/>
            <a:ext cx="5839568" cy="4824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3303" y="0"/>
            <a:ext cx="5840697" cy="59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1">
            <a:hlinkClick r:id="rId5"/>
          </p:cNvPr>
          <p:cNvSpPr txBox="1"/>
          <p:nvPr/>
        </p:nvSpPr>
        <p:spPr>
          <a:xfrm>
            <a:off x="3303303" y="6045239"/>
            <a:ext cx="40799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🡪 Principles for user stories content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2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Acceptance criteria: </a:t>
            </a: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 Given, When, Then style</a:t>
            </a:r>
            <a:endParaRPr/>
          </a:p>
        </p:txBody>
      </p:sp>
      <p:sp>
        <p:nvSpPr>
          <p:cNvPr id="374" name="Google Shape;374;p42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068707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r>
              <a:rPr lang="en-US"/>
              <a:t>Structured syntax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Gherkin</a:t>
            </a:r>
            <a:r>
              <a:rPr lang="en-US"/>
              <a:t>) to describe a feature (for testing):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B050"/>
              </a:buClr>
              <a:buSzPts val="1600"/>
              <a:buNone/>
            </a:pPr>
            <a:r>
              <a:rPr lang="en-US" sz="1600">
                <a:solidFill>
                  <a:srgbClr val="00B050"/>
                </a:solidFill>
              </a:rPr>
              <a:t>Feature</a:t>
            </a:r>
            <a:r>
              <a:rPr lang="en-US" sz="1600"/>
              <a:t>: what 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B050"/>
              </a:buClr>
              <a:buSzPts val="1600"/>
              <a:buNone/>
            </a:pPr>
            <a:r>
              <a:rPr lang="en-US" sz="1600">
                <a:solidFill>
                  <a:srgbClr val="00B050"/>
                </a:solidFill>
              </a:rPr>
              <a:t>Scenario</a:t>
            </a:r>
            <a:r>
              <a:rPr lang="en-US" sz="1600"/>
              <a:t>: some determinable business situation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B050"/>
              </a:buClr>
              <a:buSzPts val="1600"/>
              <a:buNone/>
            </a:pPr>
            <a:r>
              <a:rPr lang="en-US" sz="1600">
                <a:solidFill>
                  <a:srgbClr val="00B050"/>
                </a:solidFill>
              </a:rPr>
              <a:t>Given</a:t>
            </a:r>
            <a:r>
              <a:rPr lang="en-US" sz="1600"/>
              <a:t>:  preparation/setup (e.g.: required data)</a:t>
            </a:r>
            <a:endParaRPr/>
          </a:p>
          <a:p>
            <a:pPr marL="432000" lvl="2" indent="-22859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en-US" sz="1400"/>
              <a:t>And…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B050"/>
              </a:buClr>
              <a:buSzPts val="1600"/>
              <a:buNone/>
            </a:pPr>
            <a:r>
              <a:rPr lang="en-US" sz="1600">
                <a:solidFill>
                  <a:srgbClr val="00B050"/>
                </a:solidFill>
              </a:rPr>
              <a:t>When</a:t>
            </a:r>
            <a:r>
              <a:rPr lang="en-US" sz="1600"/>
              <a:t>: the set of actions (execute).</a:t>
            </a:r>
            <a:endParaRPr/>
          </a:p>
          <a:p>
            <a:pPr marL="432000" lvl="2" indent="-22859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en-US" sz="1400"/>
              <a:t>And…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B050"/>
              </a:buClr>
              <a:buSzPts val="1600"/>
              <a:buNone/>
            </a:pPr>
            <a:r>
              <a:rPr lang="en-US" sz="1600">
                <a:solidFill>
                  <a:srgbClr val="00B050"/>
                </a:solidFill>
              </a:rPr>
              <a:t>Then</a:t>
            </a:r>
            <a:r>
              <a:rPr lang="en-US" sz="1600"/>
              <a:t>: specifies the expected resulting state  (assert).</a:t>
            </a:r>
            <a:endParaRPr/>
          </a:p>
          <a:p>
            <a:pPr marL="432000" lvl="2" indent="-22859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en-US" sz="1400"/>
              <a:t>And…</a:t>
            </a:r>
            <a:endParaRPr/>
          </a:p>
        </p:txBody>
      </p:sp>
      <p:sp>
        <p:nvSpPr>
          <p:cNvPr id="375" name="Google Shape;375;p42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  <p:sp>
        <p:nvSpPr>
          <p:cNvPr id="376" name="Google Shape;376;p42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77" name="Google Shape;377;p4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378" name="Google Shape;378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2195" y="926343"/>
            <a:ext cx="7506748" cy="5430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3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Cucumber framework</a:t>
            </a:r>
            <a:endParaRPr/>
          </a:p>
        </p:txBody>
      </p:sp>
      <p:sp>
        <p:nvSpPr>
          <p:cNvPr id="384" name="Google Shape;384;p43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85" name="Google Shape;385;p4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386" name="Google Shape;386;p43"/>
          <p:cNvSpPr txBox="1">
            <a:spLocks noGrp="1"/>
          </p:cNvSpPr>
          <p:nvPr>
            <p:ph type="subTitle" idx="1"/>
          </p:nvPr>
        </p:nvSpPr>
        <p:spPr>
          <a:xfrm>
            <a:off x="628650" y="1038759"/>
            <a:ext cx="6676372" cy="58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</a:pPr>
            <a:endParaRPr/>
          </a:p>
        </p:txBody>
      </p:sp>
      <p:pic>
        <p:nvPicPr>
          <p:cNvPr id="387" name="Google Shape;387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677" y="2440079"/>
            <a:ext cx="7135221" cy="12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28656" y="4020902"/>
            <a:ext cx="3358397" cy="2429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3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02007" y="1093047"/>
            <a:ext cx="2503562" cy="101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61662" y="4346353"/>
            <a:ext cx="3020675" cy="2009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BDD: Behaviour-driven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development</a:t>
            </a:r>
            <a:endParaRPr/>
          </a:p>
        </p:txBody>
      </p:sp>
      <p:sp>
        <p:nvSpPr>
          <p:cNvPr id="396" name="Google Shape;396;p44"/>
          <p:cNvSpPr txBox="1">
            <a:spLocks noGrp="1"/>
          </p:cNvSpPr>
          <p:nvPr>
            <p:ph type="ftr" idx="4294967295"/>
          </p:nvPr>
        </p:nvSpPr>
        <p:spPr>
          <a:xfrm>
            <a:off x="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97" name="Google Shape;397;p44"/>
          <p:cNvSpPr txBox="1">
            <a:spLocks noGrp="1"/>
          </p:cNvSpPr>
          <p:nvPr>
            <p:ph type="sldNum" idx="4294967295"/>
          </p:nvPr>
        </p:nvSpPr>
        <p:spPr>
          <a:xfrm>
            <a:off x="0" y="6280150"/>
            <a:ext cx="351631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grpSp>
        <p:nvGrpSpPr>
          <p:cNvPr id="398" name="Google Shape;398;p44"/>
          <p:cNvGrpSpPr/>
          <p:nvPr/>
        </p:nvGrpSpPr>
        <p:grpSpPr>
          <a:xfrm>
            <a:off x="3707904" y="869567"/>
            <a:ext cx="5257800" cy="5842000"/>
            <a:chOff x="3569925" y="877450"/>
            <a:chExt cx="5257800" cy="5842000"/>
          </a:xfrm>
        </p:grpSpPr>
        <p:pic>
          <p:nvPicPr>
            <p:cNvPr id="399" name="Google Shape;399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69925" y="877450"/>
              <a:ext cx="5257800" cy="58420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400" name="Google Shape;400;p44"/>
            <p:cNvSpPr/>
            <p:nvPr/>
          </p:nvSpPr>
          <p:spPr>
            <a:xfrm>
              <a:off x="3581650" y="918420"/>
              <a:ext cx="1855499" cy="6657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Barlow"/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401" name="Google Shape;401;p44"/>
          <p:cNvSpPr txBox="1"/>
          <p:nvPr/>
        </p:nvSpPr>
        <p:spPr>
          <a:xfrm>
            <a:off x="1045047" y="5780387"/>
            <a:ext cx="255313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9133"/>
              </a:buClr>
              <a:buSzPts val="1400"/>
              <a:buFont typeface="Open Sans"/>
              <a:buNone/>
            </a:pPr>
            <a:r>
              <a:rPr lang="en-US" sz="1400" u="none">
                <a:solidFill>
                  <a:srgbClr val="729133"/>
                </a:solidFill>
                <a:latin typeface="Open Sans"/>
                <a:ea typeface="Open Sans"/>
                <a:cs typeface="Open Sans"/>
                <a:sym typeface="Open Sans"/>
              </a:rPr>
              <a:t>Credit: Nalin Goonawardana</a:t>
            </a:r>
            <a:endParaRPr sz="1400" u="none">
              <a:solidFill>
                <a:srgbClr val="7291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endParaRPr/>
          </a:p>
        </p:txBody>
      </p:sp>
      <p:sp>
        <p:nvSpPr>
          <p:cNvPr id="407" name="Google Shape;407;p45"/>
          <p:cNvSpPr txBox="1">
            <a:spLocks noGrp="1"/>
          </p:cNvSpPr>
          <p:nvPr>
            <p:ph type="body" idx="1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  <p:sp>
        <p:nvSpPr>
          <p:cNvPr id="408" name="Google Shape;408;p45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Oliveira</a:t>
            </a:r>
            <a:endParaRPr/>
          </a:p>
        </p:txBody>
      </p:sp>
      <p:sp>
        <p:nvSpPr>
          <p:cNvPr id="409" name="Google Shape;409;p4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fld id="{00000000-1234-1234-1234-123412341234}" type="slidenum"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38" y="-20638"/>
            <a:ext cx="7519987" cy="6740526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5"/>
          <p:cNvSpPr/>
          <p:nvPr/>
        </p:nvSpPr>
        <p:spPr>
          <a:xfrm>
            <a:off x="395288" y="6010275"/>
            <a:ext cx="7975600" cy="3698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http://testerstories.com/2017/09/uncomplicate-tdd-and-bdd/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412" name="Google Shape;412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9088" y="1066800"/>
            <a:ext cx="8505825" cy="4724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413" name="Google Shape;413;p45"/>
          <p:cNvSpPr/>
          <p:nvPr/>
        </p:nvSpPr>
        <p:spPr>
          <a:xfrm>
            <a:off x="684213" y="3178175"/>
            <a:ext cx="7920037" cy="2508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14" name="Google Shape;414;p45"/>
          <p:cNvSpPr/>
          <p:nvPr/>
        </p:nvSpPr>
        <p:spPr>
          <a:xfrm>
            <a:off x="1547813" y="4292600"/>
            <a:ext cx="6911975" cy="2508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420" name="Google Shape;420;p4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graphicFrame>
        <p:nvGraphicFramePr>
          <p:cNvPr id="421" name="Google Shape;421;p46"/>
          <p:cNvGraphicFramePr/>
          <p:nvPr/>
        </p:nvGraphicFramePr>
        <p:xfrm>
          <a:off x="628650" y="1489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{A1DABE07-6091-47CA-87A7-02424C6BA437}</a:tableStyleId>
              </a:tblPr>
              <a:tblGrid>
                <a:gridCol w="384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Core readings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Suggested readings</a:t>
                      </a:r>
                      <a:endParaRPr sz="2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285750" marR="0" lvl="0" indent="-158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endParaRPr sz="200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i="0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“</a:t>
                      </a:r>
                      <a:r>
                        <a:rPr lang="en-US" sz="2000" b="0" i="0" u="sng" cap="none">
                          <a:solidFill>
                            <a:schemeClr val="hlink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  <a:hlinkClick r:id="rId3"/>
                        </a:rPr>
                        <a:t>Story testing </a:t>
                      </a:r>
                      <a:r>
                        <a:rPr lang="en-US" sz="2000" b="0" i="0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- executable use cases - for embedded systems”, J. Grenning</a:t>
                      </a:r>
                      <a:endParaRPr sz="2000" b="0" i="0" cap="non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marL="285750" marR="0" lvl="0" indent="-158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[Dennis]- Chap. 12.</a:t>
                      </a:r>
                      <a:endParaRPr/>
                    </a:p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[Pressman] – Chap. 17 (“Software Testing Strategies)</a:t>
                      </a:r>
                      <a:endParaRPr/>
                    </a:p>
                    <a:p>
                      <a:pPr marL="342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marL="342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marL="342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2" name="Google Shape;422;p46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990</Words>
  <Application>Microsoft Office PowerPoint</Application>
  <PresentationFormat>On-screen Show (4:3)</PresentationFormat>
  <Paragraphs>189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6" baseType="lpstr">
      <vt:lpstr>Arial Narrow</vt:lpstr>
      <vt:lpstr>Barlow Semi Condensed SemiBold</vt:lpstr>
      <vt:lpstr>Barlow Condensed SemiBold</vt:lpstr>
      <vt:lpstr>Open Sans SemiBold</vt:lpstr>
      <vt:lpstr>Open Sans</vt:lpstr>
      <vt:lpstr>Open Sans Light</vt:lpstr>
      <vt:lpstr>Arial</vt:lpstr>
      <vt:lpstr>Calibri</vt:lpstr>
      <vt:lpstr>Barlow</vt:lpstr>
      <vt:lpstr>Barlow Semi Condensed</vt:lpstr>
      <vt:lpstr>Barlow Light</vt:lpstr>
      <vt:lpstr>Barlow Medium</vt:lpstr>
      <vt:lpstr>Office Theme</vt:lpstr>
      <vt:lpstr>Práticas da Construção: teste e QA</vt:lpstr>
      <vt:lpstr>Objetivos de aprendizagem</vt:lpstr>
      <vt:lpstr>Algumas ideias do desenvolvimento ágil</vt:lpstr>
      <vt:lpstr>É indispensável considerar as práticas que podem induzir ou medir a qualidade do produto</vt:lpstr>
      <vt:lpstr>A garantia de qualidade é parte integrante de um processo de engenharia</vt:lpstr>
      <vt:lpstr>Abordagem de engenharia "clássica": Modelo waterfall</vt:lpstr>
      <vt:lpstr>Ciclo de vida dos testes e o ciclo de vida do desenvolvimento: V-model</vt:lpstr>
      <vt:lpstr>Na abordagem ágil, a garantia de qualidade tem de ser aplicada em cada ciclo</vt:lpstr>
      <vt:lpstr>PowerPoint Presentation</vt:lpstr>
      <vt:lpstr>O papel dos testes de software</vt:lpstr>
      <vt:lpstr>Verificação vs Validação</vt:lpstr>
      <vt:lpstr>PowerPoint Presentation</vt:lpstr>
      <vt:lpstr>Different testing techniques are appropriate at different moments/software</vt:lpstr>
      <vt:lpstr>Pirâmide dos testes</vt:lpstr>
      <vt:lpstr>Teste unitário: o contrato de uma stack </vt:lpstr>
      <vt:lpstr>Unit test example: Verifying the unit contract</vt:lpstr>
      <vt:lpstr>Exemplo de teste UI: Automatização de testes de aplicações Web com Selenium IDE</vt:lpstr>
      <vt:lpstr>Test-driven development</vt:lpstr>
      <vt:lpstr>Debug Later Programming</vt:lpstr>
      <vt:lpstr>Tests-first thinking</vt:lpstr>
      <vt:lpstr>TDD: Test Driven Development</vt:lpstr>
      <vt:lpstr>PowerPoint Presentation</vt:lpstr>
      <vt:lpstr>PowerPoint Presentation</vt:lpstr>
      <vt:lpstr>The benefits of TDD: an investigation</vt:lpstr>
      <vt:lpstr>PowerPoint Presentation</vt:lpstr>
      <vt:lpstr>Agile test quadrants</vt:lpstr>
      <vt:lpstr>Stories, use cases, scenarios</vt:lpstr>
      <vt:lpstr>A story and tests... </vt:lpstr>
      <vt:lpstr>Acceptance criteria:  Given, When, Then style</vt:lpstr>
      <vt:lpstr>Cucumber framework</vt:lpstr>
      <vt:lpstr>BDD: Behaviour-driven  development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Ilídio Oliveira</cp:lastModifiedBy>
  <cp:revision>2</cp:revision>
  <dcterms:modified xsi:type="dcterms:W3CDTF">2025-12-03T09:26:30Z</dcterms:modified>
</cp:coreProperties>
</file>