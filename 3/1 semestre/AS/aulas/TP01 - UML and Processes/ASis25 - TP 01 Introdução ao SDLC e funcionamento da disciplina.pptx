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Barlow Light" panose="00000400000000000000" pitchFamily="2" charset="0"/>
      <p:regular r:id="rId17"/>
      <p:bold r:id="rId18"/>
      <p:italic r:id="rId19"/>
      <p:boldItalic r:id="rId20"/>
    </p:embeddedFont>
    <p:embeddedFont>
      <p:font typeface="Raleway" pitchFamily="2" charset="0"/>
      <p:regular r:id="rId21"/>
      <p:bold r:id="rId22"/>
      <p:italic r:id="rId23"/>
      <p:boldItalic r:id="rId24"/>
    </p:embeddedFont>
    <p:embeddedFont>
      <p:font typeface="Raleway Light" pitchFamily="2" charset="0"/>
      <p:regular r:id="rId25"/>
      <p:bold r:id="rId26"/>
      <p:italic r:id="rId27"/>
      <p:boldItalic r:id="rId28"/>
    </p:embeddedFont>
    <p:embeddedFont>
      <p:font typeface="Raleway SemiBold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6EC84-CF72-4FF1-A848-AE78833B1CA6}" v="1" dt="2025-09-16T16:57:43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ídio Oliveira" userId="2e6e6f6d-fff9-46ef-9091-884c6980c73a" providerId="ADAL" clId="{FBA8DEFD-EBC3-490D-8111-605AF93F32A3}"/>
    <pc:docChg chg="custSel delSld modSld">
      <pc:chgData name="Ilídio Oliveira" userId="2e6e6f6d-fff9-46ef-9091-884c6980c73a" providerId="ADAL" clId="{FBA8DEFD-EBC3-490D-8111-605AF93F32A3}" dt="2025-09-16T16:57:47.768" v="29" actId="27636"/>
      <pc:docMkLst>
        <pc:docMk/>
      </pc:docMkLst>
      <pc:sldChg chg="modSp mod">
        <pc:chgData name="Ilídio Oliveira" userId="2e6e6f6d-fff9-46ef-9091-884c6980c73a" providerId="ADAL" clId="{FBA8DEFD-EBC3-490D-8111-605AF93F32A3}" dt="2025-09-16T16:57:43.618" v="22" actId="27636"/>
        <pc:sldMkLst>
          <pc:docMk/>
          <pc:sldMk cId="0" sldId="256"/>
        </pc:sldMkLst>
        <pc:spChg chg="mod">
          <ac:chgData name="Ilídio Oliveira" userId="2e6e6f6d-fff9-46ef-9091-884c6980c73a" providerId="ADAL" clId="{FBA8DEFD-EBC3-490D-8111-605AF93F32A3}" dt="2025-09-16T16:57:43.618" v="22" actId="27636"/>
          <ac:spMkLst>
            <pc:docMk/>
            <pc:sldMk cId="0" sldId="256"/>
            <ac:spMk id="55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09-16T16:57:43.634" v="23" actId="27636"/>
        <pc:sldMkLst>
          <pc:docMk/>
          <pc:sldMk cId="0" sldId="258"/>
        </pc:sldMkLst>
        <pc:spChg chg="mod">
          <ac:chgData name="Ilídio Oliveira" userId="2e6e6f6d-fff9-46ef-9091-884c6980c73a" providerId="ADAL" clId="{FBA8DEFD-EBC3-490D-8111-605AF93F32A3}" dt="2025-09-16T16:57:43.634" v="23" actId="27636"/>
          <ac:spMkLst>
            <pc:docMk/>
            <pc:sldMk cId="0" sldId="258"/>
            <ac:spMk id="70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09-16T16:57:43.643" v="24" actId="27636"/>
        <pc:sldMkLst>
          <pc:docMk/>
          <pc:sldMk cId="0" sldId="259"/>
        </pc:sldMkLst>
        <pc:spChg chg="mod">
          <ac:chgData name="Ilídio Oliveira" userId="2e6e6f6d-fff9-46ef-9091-884c6980c73a" providerId="ADAL" clId="{FBA8DEFD-EBC3-490D-8111-605AF93F32A3}" dt="2025-09-16T16:57:43.643" v="24" actId="27636"/>
          <ac:spMkLst>
            <pc:docMk/>
            <pc:sldMk cId="0" sldId="259"/>
            <ac:spMk id="79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09-16T16:57:43.650" v="25" actId="27636"/>
        <pc:sldMkLst>
          <pc:docMk/>
          <pc:sldMk cId="0" sldId="261"/>
        </pc:sldMkLst>
        <pc:spChg chg="mod">
          <ac:chgData name="Ilídio Oliveira" userId="2e6e6f6d-fff9-46ef-9091-884c6980c73a" providerId="ADAL" clId="{FBA8DEFD-EBC3-490D-8111-605AF93F32A3}" dt="2025-09-16T16:57:43.650" v="25" actId="27636"/>
          <ac:spMkLst>
            <pc:docMk/>
            <pc:sldMk cId="0" sldId="261"/>
            <ac:spMk id="94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09-16T16:57:43.655" v="26" actId="27636"/>
        <pc:sldMkLst>
          <pc:docMk/>
          <pc:sldMk cId="0" sldId="262"/>
        </pc:sldMkLst>
        <pc:spChg chg="mod">
          <ac:chgData name="Ilídio Oliveira" userId="2e6e6f6d-fff9-46ef-9091-884c6980c73a" providerId="ADAL" clId="{FBA8DEFD-EBC3-490D-8111-605AF93F32A3}" dt="2025-09-16T16:57:43.655" v="26" actId="27636"/>
          <ac:spMkLst>
            <pc:docMk/>
            <pc:sldMk cId="0" sldId="262"/>
            <ac:spMk id="103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09-16T16:57:47.768" v="29" actId="27636"/>
        <pc:sldMkLst>
          <pc:docMk/>
          <pc:sldMk cId="0" sldId="263"/>
        </pc:sldMkLst>
        <pc:spChg chg="mod">
          <ac:chgData name="Ilídio Oliveira" userId="2e6e6f6d-fff9-46ef-9091-884c6980c73a" providerId="ADAL" clId="{FBA8DEFD-EBC3-490D-8111-605AF93F32A3}" dt="2025-09-16T16:57:29.658" v="16" actId="20577"/>
          <ac:spMkLst>
            <pc:docMk/>
            <pc:sldMk cId="0" sldId="263"/>
            <ac:spMk id="110" creationId="{00000000-0000-0000-0000-000000000000}"/>
          </ac:spMkLst>
        </pc:spChg>
        <pc:spChg chg="mod">
          <ac:chgData name="Ilídio Oliveira" userId="2e6e6f6d-fff9-46ef-9091-884c6980c73a" providerId="ADAL" clId="{FBA8DEFD-EBC3-490D-8111-605AF93F32A3}" dt="2025-09-16T16:57:47.768" v="29" actId="27636"/>
          <ac:spMkLst>
            <pc:docMk/>
            <pc:sldMk cId="0" sldId="263"/>
            <ac:spMk id="113" creationId="{00000000-0000-0000-0000-000000000000}"/>
          </ac:spMkLst>
        </pc:spChg>
      </pc:sldChg>
      <pc:sldChg chg="del">
        <pc:chgData name="Ilídio Oliveira" userId="2e6e6f6d-fff9-46ef-9091-884c6980c73a" providerId="ADAL" clId="{FBA8DEFD-EBC3-490D-8111-605AF93F32A3}" dt="2025-09-16T16:57:16.710" v="0" actId="47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3975f67e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3975f67e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3975f67e4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3975f67e4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3975f67e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3975f67e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3975f67e4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3975f67e4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Recurring nature of analysis and design in all modern methodologies.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3975f67e4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3975f67e4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also: Wieger’s “10 cosmic truths about software requirements”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3975f67e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3975f67e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3975f67e4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3975f67e4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3975f67e4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3975f67e4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3b483e13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3b483e13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Raleway Light"/>
              <a:buNone/>
              <a:defRPr sz="4000"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Font typeface="Barlow Light"/>
              <a:buNone/>
              <a:defRPr sz="2800"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942975" y="406925"/>
            <a:ext cx="7889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Raleway Light"/>
              <a:buNone/>
              <a:defRPr sz="3200"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942975" y="1246825"/>
            <a:ext cx="7889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>
              <a:spcBef>
                <a:spcPts val="1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81050" y="445025"/>
            <a:ext cx="805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Raleway Light"/>
              <a:buNone/>
              <a:defRPr sz="3200"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8097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>
              <a:spcBef>
                <a:spcPts val="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32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>
              <a:spcBef>
                <a:spcPts val="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42925" y="445025"/>
            <a:ext cx="828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597450" y="5746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Raleway Light"/>
              <a:buNone/>
              <a:defRPr sz="2600"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>
              <a:spcBef>
                <a:spcPts val="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3020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 algn="ctr">
              <a:spcBef>
                <a:spcPts val="1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2925" y="445025"/>
            <a:ext cx="82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SemiBold"/>
              <a:buNone/>
              <a:defRPr sz="28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19125" y="1152475"/>
            <a:ext cx="82131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Barlow"/>
              <a:buChar char="●"/>
              <a:defRPr sz="18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3020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Barlow"/>
              <a:buChar char="○"/>
              <a:defRPr sz="1600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Barlow"/>
              <a:buChar char="■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Barlow"/>
              <a:buChar char="●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Barlow"/>
              <a:buChar char="○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Barlow"/>
              <a:buChar char="■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Barlow"/>
              <a:buChar char="●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Barlow"/>
              <a:buChar char="○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Barlow"/>
              <a:buChar char="■"/>
              <a:defRPr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r">
              <a:buNone/>
              <a:defRPr sz="1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sw-engineering-candies.com/blog-1/periodic-table-of-software-engineering-know-how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learning.ua.pt/course/view.php?id=40288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elearning.ua.pt/mod/page/view.php?id=1072504" TargetMode="External"/><Relationship Id="rId4" Type="http://schemas.openxmlformats.org/officeDocument/2006/relationships/hyperlink" Target="https://elearning.ua.pt/mod/url/view.php?id=1537218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 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Introdução à Análise de Sistemas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Visão geral da disciplina e conteúdos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v2025/02/11, ico@ua.pt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81050" y="445025"/>
            <a:ext cx="805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78097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Visão geral da disciplina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Importância da Análise e Conceção de Sistemas </a:t>
            </a:r>
            <a:r>
              <a:rPr lang="en" i="1"/>
              <a:t>(Systems Analysis and Design)</a:t>
            </a:r>
            <a:endParaRPr i="1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Conceitos fundamentais: SDLC, papel do arquiteto de sistemas, utilização de modelos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Introdução  à modelação com  Atividades e casos de utilização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Logística do curso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2"/>
          </p:nvPr>
        </p:nvSpPr>
        <p:spPr>
          <a:xfrm>
            <a:off x="483232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597450" y="5746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é tratado em Análise de Sistemas?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“Systems Analysis &amp; Design” (SAD), na terminologia inglesa</a:t>
            </a:r>
            <a:endParaRPr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Análise de sistemas</a:t>
            </a:r>
            <a:r>
              <a:rPr lang="en"/>
              <a:t>: perceber e especificar em pormenor o que um sistema deve fazer.</a:t>
            </a:r>
            <a:endParaRPr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" b="1"/>
              <a:t>Desenho </a:t>
            </a:r>
            <a:r>
              <a:rPr lang="en"/>
              <a:t>(ou conceção) de sistemas:  definir como o sistema irá cumprir os requisitos.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O objetivo principal é fazer a ponte entre as necessidades do negócio e as soluções técnicas.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400" y="1119913"/>
            <a:ext cx="4152749" cy="29036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hlinkClick r:id="rId4"/>
          </p:cNvPr>
          <p:cNvSpPr txBox="1"/>
          <p:nvPr/>
        </p:nvSpPr>
        <p:spPr>
          <a:xfrm>
            <a:off x="4868400" y="4135425"/>
            <a:ext cx="40260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4B7D4"/>
                </a:solidFill>
              </a:rPr>
              <a:t>http://www.sw-engineering-candies.com/blog-1/periodic-table-of-software-engineering-know-how</a:t>
            </a:r>
            <a:endParaRPr sz="1200">
              <a:solidFill>
                <a:srgbClr val="84B7D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597450" y="5746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Why should I care about SAD?</a:t>
            </a:r>
            <a:endParaRPr i="1"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Os projetos complexos requerem métodos de trabalho sistemáticos.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elucidação dos requisitos é essencial para minimizar as falhas do projeto.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Assegura o alinhamento entre as soluções técnicas e os objectivos da empresa/organização.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Fornece diretrizes para o desenvolvimento e a integração de sistemas.</a:t>
            </a:r>
            <a:endParaRPr/>
          </a:p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597450" y="574650"/>
            <a:ext cx="41937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SDLC: Systems/Software Development Life Cycle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597450" y="1483825"/>
            <a:ext cx="4089000" cy="32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Planeamento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Análise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Desenho (Plano técnico)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Implementação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00"/>
              </a:spcAft>
              <a:buNone/>
            </a:pPr>
            <a:r>
              <a:rPr lang="en"/>
              <a:t>Manutenção (soluções em produção)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150" y="1133350"/>
            <a:ext cx="4048050" cy="328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781050" y="445025"/>
            <a:ext cx="805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Quem é o Arquiteto de Sistemas?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78097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Principais responsabilidades:</a:t>
            </a:r>
            <a:endParaRPr/>
          </a:p>
          <a:p>
            <a:pPr marL="457200" lvl="0" indent="-299720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Determinação de requisitos - Interage com as partes interessadas (</a:t>
            </a:r>
            <a:r>
              <a:rPr lang="en" i="1"/>
              <a:t>stakeholders</a:t>
            </a:r>
            <a:r>
              <a:rPr lang="en"/>
              <a:t>) para recolher, analizar e determinar as necessidades do sistema.</a:t>
            </a:r>
            <a:endParaRPr/>
          </a:p>
          <a:p>
            <a:pPr marL="457200" lvl="0" indent="-299720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Análise e especificação - Documenta os requisitos funcionais e não funcionais de forma clara e estruturada.</a:t>
            </a:r>
            <a:endParaRPr/>
          </a:p>
          <a:p>
            <a:pPr marL="457200" lvl="0" indent="-299720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Validação - Assegura que os requisitos se alinham com os objectivos do negócio e são viáveis para implementação.</a:t>
            </a:r>
            <a:endParaRPr/>
          </a:p>
          <a:p>
            <a:pPr marL="457200" lvl="0" indent="-299720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Facilitação e comunicação - Actua como intermediário entre </a:t>
            </a:r>
            <a:r>
              <a:rPr lang="en" i="1"/>
              <a:t>stakeholders </a:t>
            </a:r>
            <a:r>
              <a:rPr lang="en"/>
              <a:t>(da organização) e as equipas técnicas para garantir uma compreensão partilhada das necessidades do sistema.</a:t>
            </a:r>
            <a:endParaRPr/>
          </a:p>
          <a:p>
            <a:pPr marL="457200" lvl="0" indent="-299720" algn="l" rtl="0">
              <a:spcBef>
                <a:spcPts val="1200"/>
              </a:spcBef>
              <a:spcAft>
                <a:spcPts val="100"/>
              </a:spcAft>
              <a:buSzPct val="100000"/>
              <a:buChar char="●"/>
            </a:pPr>
            <a:r>
              <a:rPr lang="en"/>
              <a:t>Gestão das alterações - Monitoriza as alterações dos requisitos e avalia o seu impacto no sistema.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2"/>
          </p:nvPr>
        </p:nvSpPr>
        <p:spPr>
          <a:xfrm>
            <a:off x="483232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00"/>
              </a:spcAft>
              <a:buNone/>
            </a:pP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5408100" y="1322975"/>
            <a:ext cx="3388200" cy="21813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200"/>
              </a:spcBef>
              <a:spcAft>
                <a:spcPts val="100"/>
              </a:spcAft>
              <a:buNone/>
            </a:pPr>
            <a:r>
              <a:rPr lang="en" sz="13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O  Analista de Sistemas desempenha um papel fulcral na ponte entre </a:t>
            </a:r>
            <a:r>
              <a:rPr lang="en" sz="1300" i="1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stakeholders</a:t>
            </a:r>
            <a:r>
              <a:rPr lang="en" sz="1300">
                <a:solidFill>
                  <a:srgbClr val="434343"/>
                </a:solidFill>
                <a:latin typeface="Barlow"/>
                <a:ea typeface="Barlow"/>
                <a:cs typeface="Barlow"/>
                <a:sym typeface="Barlow"/>
              </a:rPr>
              <a:t>  e a equipa de desenvolvimento.</a:t>
            </a:r>
            <a:endParaRPr sz="1300">
              <a:solidFill>
                <a:srgbClr val="43434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781050" y="445025"/>
            <a:ext cx="805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ASis: resultados de aprendizagem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78097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Compreender as práticas e metodologias do SDLC  em projetos de desenvolvimento de sistemas de informação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Participar na recolha, documentação e análise de requisitos.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Aplicar técnicas de modelação de sistemas (especialmente UML).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Identificar restrições que condicionam a Arquitetura técnica do sistema.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00"/>
              </a:spcAft>
              <a:buNone/>
            </a:pPr>
            <a:r>
              <a:rPr lang="en"/>
              <a:t>Gestão ágil de projectos (quadros, iterações, </a:t>
            </a:r>
            <a:r>
              <a:rPr lang="en" i="1"/>
              <a:t>user stories</a:t>
            </a:r>
            <a:r>
              <a:rPr lang="en"/>
              <a:t>).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2"/>
          </p:nvPr>
        </p:nvSpPr>
        <p:spPr>
          <a:xfrm>
            <a:off x="483232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100"/>
              </a:spcAft>
              <a:buNone/>
            </a:pP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781050" y="445025"/>
            <a:ext cx="805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Plano e avaliação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78097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Ponto de entrada, avisos, recursos, etc. → </a:t>
            </a:r>
            <a:r>
              <a:rPr lang="en" u="sng">
                <a:solidFill>
                  <a:schemeClr val="hlink"/>
                </a:solidFill>
                <a:hlinkClick r:id="rId3"/>
              </a:rPr>
              <a:t>Moodle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Calendário das aulas</a:t>
            </a:r>
            <a:r>
              <a:rPr lang="en"/>
              <a:t> / plano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Programa dos labs e entregas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Separador “unidades temáticas” dentro do Calendário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Bibliografia </a:t>
            </a:r>
            <a:r>
              <a:rPr lang="en"/>
              <a:t>recomendada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00"/>
              </a:spcAft>
              <a:buNone/>
            </a:pP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2"/>
          </p:nvPr>
        </p:nvSpPr>
        <p:spPr>
          <a:xfrm>
            <a:off x="4832325" y="1355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b="1" dirty="0"/>
              <a:t>Componentes de avaliação:</a:t>
            </a:r>
            <a:endParaRPr b="1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" dirty="0"/>
              <a:t>TP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teste na época de exames (40%)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dirty="0"/>
              <a:t>Práticas (grupo):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Projecto em grupo (45%)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Portfólio das aulas P (15%)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" dirty="0"/>
          </a:p>
          <a:p>
            <a:pPr indent="-317500">
              <a:spcBef>
                <a:spcPts val="0"/>
              </a:spcBef>
              <a:buSzPts val="1400"/>
              <a:buFont typeface="Barlow"/>
              <a:buChar char="○"/>
            </a:pPr>
            <a:r>
              <a:rPr lang="pt-PT" dirty="0"/>
              <a:t>Nota mínima de 7 valores, a cada componente (TP e P).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dirty="0"/>
              <a:t>Registo de presenças na aula TP</a:t>
            </a:r>
            <a:endParaRPr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" dirty="0"/>
              <a:t>Informativo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781050" y="445025"/>
            <a:ext cx="805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Funcionamento das aula P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780975" y="1355675"/>
            <a:ext cx="3426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Aulas P</a:t>
            </a:r>
            <a:endParaRPr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“Percursos de aprendizagem” preparatórios + Atividades do projeto de grupo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Ao fim de cada unidade temática, há uma apresentação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775" y="1609500"/>
            <a:ext cx="4346225" cy="266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9870" y="2763445"/>
            <a:ext cx="3134125" cy="140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 descr="Free Images : path, person, winter, road, backpack, spring, autumn ...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57050">
            <a:off x="-535239" y="1667455"/>
            <a:ext cx="5576780" cy="371888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542925" y="445025"/>
            <a:ext cx="3265500" cy="26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Pitfalls</a:t>
            </a:r>
            <a:endParaRPr sz="1600" i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distribuir as tarefas e cortar a discussão no trabalho de grupo... todos devem passar pelo “processo”.</a:t>
            </a:r>
            <a:endParaRPr sz="160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deixar o “voluntário aplicado” assumir todas as responsabilidades… e ir à boleia  😞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1550" y="0"/>
            <a:ext cx="3457575" cy="287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Microsoft Office PowerPoint</Application>
  <PresentationFormat>On-screen Show (16:9)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Raleway</vt:lpstr>
      <vt:lpstr>Barlow</vt:lpstr>
      <vt:lpstr>Arial</vt:lpstr>
      <vt:lpstr>Raleway SemiBold</vt:lpstr>
      <vt:lpstr>Barlow Light</vt:lpstr>
      <vt:lpstr>Raleway Light</vt:lpstr>
      <vt:lpstr>Simple Dark</vt:lpstr>
      <vt:lpstr>TP 01 Introdução à Análise de Sistemas </vt:lpstr>
      <vt:lpstr>Agenda</vt:lpstr>
      <vt:lpstr>O que é tratado em Análise de Sistemas?</vt:lpstr>
      <vt:lpstr>Why should I care about SAD?</vt:lpstr>
      <vt:lpstr>SDLC: Systems/Software Development Life Cycle</vt:lpstr>
      <vt:lpstr>Quem é o Arquiteto de Sistemas?</vt:lpstr>
      <vt:lpstr>ASis: resultados de aprendizagem</vt:lpstr>
      <vt:lpstr>Plano e avaliação</vt:lpstr>
      <vt:lpstr>Funcionamento das aula 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Ilídio Oliveira</cp:lastModifiedBy>
  <cp:revision>1</cp:revision>
  <dcterms:modified xsi:type="dcterms:W3CDTF">2025-09-16T16:57:54Z</dcterms:modified>
</cp:coreProperties>
</file>