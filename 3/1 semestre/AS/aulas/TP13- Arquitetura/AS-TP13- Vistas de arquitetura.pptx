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2" r:id="rId1"/>
  </p:sldMasterIdLst>
  <p:notesMasterIdLst>
    <p:notesMasterId r:id="rId65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91" r:id="rId27"/>
    <p:sldId id="271" r:id="rId28"/>
    <p:sldId id="292" r:id="rId29"/>
    <p:sldId id="293" r:id="rId30"/>
    <p:sldId id="294" r:id="rId31"/>
    <p:sldId id="295" r:id="rId32"/>
    <p:sldId id="296" r:id="rId33"/>
    <p:sldId id="297" r:id="rId34"/>
    <p:sldId id="298" r:id="rId35"/>
    <p:sldId id="299" r:id="rId36"/>
    <p:sldId id="300" r:id="rId37"/>
    <p:sldId id="301" r:id="rId38"/>
    <p:sldId id="274" r:id="rId39"/>
    <p:sldId id="302" r:id="rId40"/>
    <p:sldId id="303" r:id="rId41"/>
    <p:sldId id="304" r:id="rId42"/>
    <p:sldId id="305" r:id="rId43"/>
    <p:sldId id="306" r:id="rId44"/>
    <p:sldId id="307" r:id="rId45"/>
    <p:sldId id="308" r:id="rId46"/>
    <p:sldId id="309" r:id="rId47"/>
    <p:sldId id="310" r:id="rId48"/>
    <p:sldId id="311" r:id="rId49"/>
    <p:sldId id="312" r:id="rId50"/>
    <p:sldId id="313" r:id="rId51"/>
    <p:sldId id="314" r:id="rId52"/>
    <p:sldId id="316" r:id="rId53"/>
    <p:sldId id="317" r:id="rId54"/>
    <p:sldId id="318" r:id="rId55"/>
    <p:sldId id="319" r:id="rId56"/>
    <p:sldId id="320" r:id="rId57"/>
    <p:sldId id="321" r:id="rId58"/>
    <p:sldId id="322" r:id="rId59"/>
    <p:sldId id="323" r:id="rId60"/>
    <p:sldId id="324" r:id="rId61"/>
    <p:sldId id="325" r:id="rId62"/>
    <p:sldId id="326" r:id="rId63"/>
    <p:sldId id="327" r:id="rId64"/>
  </p:sldIdLst>
  <p:sldSz cx="9144000" cy="6858000" type="screen4x3"/>
  <p:notesSz cx="7102475" cy="10233025"/>
  <p:embeddedFontLst>
    <p:embeddedFont>
      <p:font typeface="Barlow Condensed SemiBold" panose="00000706000000000000" pitchFamily="2" charset="0"/>
      <p:regular r:id="rId66"/>
      <p:bold r:id="rId67"/>
      <p:italic r:id="rId68"/>
      <p:boldItalic r:id="rId69"/>
    </p:embeddedFont>
    <p:embeddedFont>
      <p:font typeface="Noto Sans" panose="020B0502040504020204" pitchFamily="34" charset="0"/>
      <p:regular r:id="rId70"/>
      <p:bold r:id="rId71"/>
      <p:italic r:id="rId72"/>
      <p:boldItalic r:id="rId73"/>
    </p:embeddedFont>
    <p:embeddedFont>
      <p:font typeface="Noto Sans Light" panose="020B0604020202020204" charset="0"/>
      <p:regular r:id="rId74"/>
      <p:bold r:id="rId75"/>
      <p:italic r:id="rId76"/>
      <p:boldItalic r:id="rId77"/>
    </p:embeddedFont>
    <p:embeddedFont>
      <p:font typeface="Open Sans Light" panose="020B0306030504020204" pitchFamily="34" charset="0"/>
      <p:regular r:id="rId78"/>
      <p:bold r:id="rId79"/>
      <p:italic r:id="rId80"/>
      <p:boldItalic r:id="rId8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D3FE81F-BB1B-4569-B68B-4CDC19AA1F5E}">
  <a:tblStyle styleId="{4D3FE81F-BB1B-4569-B68B-4CDC19AA1F5E}" styleName="Table_0">
    <a:wholeTbl>
      <a:tcTxStyle b="off" i="off">
        <a:font>
          <a:latin typeface="Noto Sans"/>
          <a:ea typeface="Noto Sans"/>
          <a:cs typeface="Noto San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F2ED"/>
          </a:solidFill>
        </a:fill>
      </a:tcStyle>
    </a:wholeTbl>
    <a:band1H>
      <a:tcTxStyle/>
      <a:tcStyle>
        <a:tcBdr/>
        <a:fill>
          <a:solidFill>
            <a:srgbClr val="CBE3D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BE3D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Noto Sans"/>
          <a:ea typeface="Noto Sans"/>
          <a:cs typeface="Noto San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Noto Sans"/>
          <a:ea typeface="Noto Sans"/>
          <a:cs typeface="Noto San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Noto Sans"/>
          <a:ea typeface="Noto Sans"/>
          <a:cs typeface="Noto San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Noto Sans"/>
          <a:ea typeface="Noto Sans"/>
          <a:cs typeface="Noto San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6C250D5-D42B-4F63-AAA0-4A4736E1D819}" styleName="Table_1">
    <a:wholeTbl>
      <a:tcTxStyle b="off" i="off">
        <a:font>
          <a:latin typeface="Noto Sans"/>
          <a:ea typeface="Noto Sans"/>
          <a:cs typeface="Noto San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Noto Sans"/>
          <a:ea typeface="Noto Sans"/>
          <a:cs typeface="Noto Sans"/>
        </a:font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 i="off">
        <a:font>
          <a:latin typeface="Noto Sans"/>
          <a:ea typeface="Noto Sans"/>
          <a:cs typeface="Noto Sans"/>
        </a:font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 i="off">
        <a:font>
          <a:latin typeface="Noto Sans"/>
          <a:ea typeface="Noto Sans"/>
          <a:cs typeface="Noto San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dk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Noto Sans"/>
          <a:ea typeface="Noto Sans"/>
          <a:cs typeface="Noto San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157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2485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font" Target="fonts/font3.fntdata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9.fntdata"/><Relationship Id="rId79" Type="http://schemas.openxmlformats.org/officeDocument/2006/relationships/font" Target="fonts/font14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font" Target="fonts/font4.fntdata"/><Relationship Id="rId77" Type="http://schemas.openxmlformats.org/officeDocument/2006/relationships/font" Target="fonts/font12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7.fntdata"/><Relationship Id="rId80" Type="http://schemas.openxmlformats.org/officeDocument/2006/relationships/font" Target="fonts/font15.fntdata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5.fntdata"/><Relationship Id="rId75" Type="http://schemas.openxmlformats.org/officeDocument/2006/relationships/font" Target="fonts/font10.fntdata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73" Type="http://schemas.openxmlformats.org/officeDocument/2006/relationships/font" Target="fonts/font8.fntdata"/><Relationship Id="rId78" Type="http://schemas.openxmlformats.org/officeDocument/2006/relationships/font" Target="fonts/font13.fntdata"/><Relationship Id="rId81" Type="http://schemas.openxmlformats.org/officeDocument/2006/relationships/font" Target="fonts/font16.fntdata"/><Relationship Id="rId86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11.fntdata"/><Relationship Id="rId7" Type="http://schemas.openxmlformats.org/officeDocument/2006/relationships/slide" Target="slides/slide6.xml"/><Relationship Id="rId71" Type="http://schemas.openxmlformats.org/officeDocument/2006/relationships/font" Target="fonts/font6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font" Target="fonts/font1.fntdata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lídio Oliveira" userId="2e6e6f6d-fff9-46ef-9091-884c6980c73a" providerId="ADAL" clId="{FBA8DEFD-EBC3-490D-8111-605AF93F32A3}"/>
    <pc:docChg chg="undo custSel delSld modSld sldOrd">
      <pc:chgData name="Ilídio Oliveira" userId="2e6e6f6d-fff9-46ef-9091-884c6980c73a" providerId="ADAL" clId="{FBA8DEFD-EBC3-490D-8111-605AF93F32A3}" dt="2025-12-09T23:15:01.543" v="20"/>
      <pc:docMkLst>
        <pc:docMk/>
      </pc:docMkLst>
      <pc:sldChg chg="del">
        <pc:chgData name="Ilídio Oliveira" userId="2e6e6f6d-fff9-46ef-9091-884c6980c73a" providerId="ADAL" clId="{FBA8DEFD-EBC3-490D-8111-605AF93F32A3}" dt="2025-12-09T23:11:59.416" v="9" actId="47"/>
        <pc:sldMkLst>
          <pc:docMk/>
          <pc:sldMk cId="0" sldId="259"/>
        </pc:sldMkLst>
      </pc:sldChg>
      <pc:sldChg chg="del">
        <pc:chgData name="Ilídio Oliveira" userId="2e6e6f6d-fff9-46ef-9091-884c6980c73a" providerId="ADAL" clId="{FBA8DEFD-EBC3-490D-8111-605AF93F32A3}" dt="2025-12-09T23:14:40.342" v="18" actId="47"/>
        <pc:sldMkLst>
          <pc:docMk/>
          <pc:sldMk cId="0" sldId="267"/>
        </pc:sldMkLst>
      </pc:sldChg>
      <pc:sldChg chg="del">
        <pc:chgData name="Ilídio Oliveira" userId="2e6e6f6d-fff9-46ef-9091-884c6980c73a" providerId="ADAL" clId="{FBA8DEFD-EBC3-490D-8111-605AF93F32A3}" dt="2025-12-09T23:14:40.342" v="18" actId="47"/>
        <pc:sldMkLst>
          <pc:docMk/>
          <pc:sldMk cId="0" sldId="268"/>
        </pc:sldMkLst>
      </pc:sldChg>
      <pc:sldChg chg="del">
        <pc:chgData name="Ilídio Oliveira" userId="2e6e6f6d-fff9-46ef-9091-884c6980c73a" providerId="ADAL" clId="{FBA8DEFD-EBC3-490D-8111-605AF93F32A3}" dt="2025-12-09T23:14:40.342" v="18" actId="47"/>
        <pc:sldMkLst>
          <pc:docMk/>
          <pc:sldMk cId="0" sldId="269"/>
        </pc:sldMkLst>
      </pc:sldChg>
      <pc:sldChg chg="del">
        <pc:chgData name="Ilídio Oliveira" userId="2e6e6f6d-fff9-46ef-9091-884c6980c73a" providerId="ADAL" clId="{FBA8DEFD-EBC3-490D-8111-605AF93F32A3}" dt="2025-12-09T23:14:40.342" v="18" actId="47"/>
        <pc:sldMkLst>
          <pc:docMk/>
          <pc:sldMk cId="0" sldId="270"/>
        </pc:sldMkLst>
      </pc:sldChg>
      <pc:sldChg chg="ord">
        <pc:chgData name="Ilídio Oliveira" userId="2e6e6f6d-fff9-46ef-9091-884c6980c73a" providerId="ADAL" clId="{FBA8DEFD-EBC3-490D-8111-605AF93F32A3}" dt="2025-12-09T23:13:16.998" v="11"/>
        <pc:sldMkLst>
          <pc:docMk/>
          <pc:sldMk cId="0" sldId="271"/>
        </pc:sldMkLst>
      </pc:sldChg>
      <pc:sldChg chg="del">
        <pc:chgData name="Ilídio Oliveira" userId="2e6e6f6d-fff9-46ef-9091-884c6980c73a" providerId="ADAL" clId="{FBA8DEFD-EBC3-490D-8111-605AF93F32A3}" dt="2025-12-09T23:14:40.342" v="18" actId="47"/>
        <pc:sldMkLst>
          <pc:docMk/>
          <pc:sldMk cId="0" sldId="272"/>
        </pc:sldMkLst>
      </pc:sldChg>
      <pc:sldChg chg="del ord">
        <pc:chgData name="Ilídio Oliveira" userId="2e6e6f6d-fff9-46ef-9091-884c6980c73a" providerId="ADAL" clId="{FBA8DEFD-EBC3-490D-8111-605AF93F32A3}" dt="2025-12-09T23:13:51.598" v="17" actId="47"/>
        <pc:sldMkLst>
          <pc:docMk/>
          <pc:sldMk cId="0" sldId="273"/>
        </pc:sldMkLst>
      </pc:sldChg>
      <pc:sldChg chg="ord">
        <pc:chgData name="Ilídio Oliveira" userId="2e6e6f6d-fff9-46ef-9091-884c6980c73a" providerId="ADAL" clId="{FBA8DEFD-EBC3-490D-8111-605AF93F32A3}" dt="2025-12-09T23:15:01.543" v="20"/>
        <pc:sldMkLst>
          <pc:docMk/>
          <pc:sldMk cId="0" sldId="274"/>
        </pc:sldMkLst>
      </pc:sldChg>
      <pc:sldChg chg="del">
        <pc:chgData name="Ilídio Oliveira" userId="2e6e6f6d-fff9-46ef-9091-884c6980c73a" providerId="ADAL" clId="{FBA8DEFD-EBC3-490D-8111-605AF93F32A3}" dt="2025-12-09T23:13:18.818" v="12" actId="47"/>
        <pc:sldMkLst>
          <pc:docMk/>
          <pc:sldMk cId="0" sldId="290"/>
        </pc:sldMkLst>
      </pc:sldChg>
      <pc:sldChg chg="ord">
        <pc:chgData name="Ilídio Oliveira" userId="2e6e6f6d-fff9-46ef-9091-884c6980c73a" providerId="ADAL" clId="{FBA8DEFD-EBC3-490D-8111-605AF93F32A3}" dt="2025-12-09T23:13:23.973" v="14"/>
        <pc:sldMkLst>
          <pc:docMk/>
          <pc:sldMk cId="0" sldId="291"/>
        </pc:sldMkLst>
      </pc:sldChg>
      <pc:sldChg chg="del">
        <pc:chgData name="Ilídio Oliveira" userId="2e6e6f6d-fff9-46ef-9091-884c6980c73a" providerId="ADAL" clId="{FBA8DEFD-EBC3-490D-8111-605AF93F32A3}" dt="2025-12-09T23:10:09.946" v="0" actId="47"/>
        <pc:sldMkLst>
          <pc:docMk/>
          <pc:sldMk cId="0" sldId="315"/>
        </pc:sldMkLst>
      </pc:sldChg>
      <pc:sldChg chg="modSp mod">
        <pc:chgData name="Ilídio Oliveira" userId="2e6e6f6d-fff9-46ef-9091-884c6980c73a" providerId="ADAL" clId="{FBA8DEFD-EBC3-490D-8111-605AF93F32A3}" dt="2025-12-09T23:11:18.105" v="8" actId="14100"/>
        <pc:sldMkLst>
          <pc:docMk/>
          <pc:sldMk cId="0" sldId="317"/>
        </pc:sldMkLst>
        <pc:spChg chg="mod">
          <ac:chgData name="Ilídio Oliveira" userId="2e6e6f6d-fff9-46ef-9091-884c6980c73a" providerId="ADAL" clId="{FBA8DEFD-EBC3-490D-8111-605AF93F32A3}" dt="2025-12-09T23:11:12.413" v="6" actId="14100"/>
          <ac:spMkLst>
            <pc:docMk/>
            <pc:sldMk cId="0" sldId="317"/>
            <ac:spMk id="688" creationId="{00000000-0000-0000-0000-000000000000}"/>
          </ac:spMkLst>
        </pc:spChg>
        <pc:spChg chg="mod">
          <ac:chgData name="Ilídio Oliveira" userId="2e6e6f6d-fff9-46ef-9091-884c6980c73a" providerId="ADAL" clId="{FBA8DEFD-EBC3-490D-8111-605AF93F32A3}" dt="2025-12-09T23:11:18.105" v="8" actId="14100"/>
          <ac:spMkLst>
            <pc:docMk/>
            <pc:sldMk cId="0" sldId="317"/>
            <ac:spMk id="689" creationId="{00000000-0000-0000-0000-000000000000}"/>
          </ac:spMkLst>
        </pc:spChg>
        <pc:spChg chg="mod">
          <ac:chgData name="Ilídio Oliveira" userId="2e6e6f6d-fff9-46ef-9091-884c6980c73a" providerId="ADAL" clId="{FBA8DEFD-EBC3-490D-8111-605AF93F32A3}" dt="2025-12-09T23:11:02.430" v="4" actId="1076"/>
          <ac:spMkLst>
            <pc:docMk/>
            <pc:sldMk cId="0" sldId="317"/>
            <ac:spMk id="690" creationId="{00000000-0000-0000-0000-000000000000}"/>
          </ac:spMkLst>
        </pc:spChg>
        <pc:picChg chg="mod">
          <ac:chgData name="Ilídio Oliveira" userId="2e6e6f6d-fff9-46ef-9091-884c6980c73a" providerId="ADAL" clId="{FBA8DEFD-EBC3-490D-8111-605AF93F32A3}" dt="2025-12-09T23:10:52.955" v="3" actId="1076"/>
          <ac:picMkLst>
            <pc:docMk/>
            <pc:sldMk cId="0" sldId="317"/>
            <ac:picMk id="686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7739" cy="51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3092" y="0"/>
            <a:ext cx="3077739" cy="51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3" Type="http://schemas.openxmlformats.org/officeDocument/2006/relationships/hyperlink" Target="http://code.google.com/p/qunit-maven-plugin/wiki/Architecture" TargetMode="External"/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1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077739" cy="51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DETI/AMS</a:t>
            </a:r>
            <a:endParaRPr/>
          </a:p>
        </p:txBody>
      </p:sp>
      <p:sp>
        <p:nvSpPr>
          <p:cNvPr id="99" name="Google Shape;99;p1:notes"/>
          <p:cNvSpPr txBox="1">
            <a:spLocks noGrp="1"/>
          </p:cNvSpPr>
          <p:nvPr>
            <p:ph type="dt" idx="10"/>
          </p:nvPr>
        </p:nvSpPr>
        <p:spPr>
          <a:xfrm>
            <a:off x="4023092" y="0"/>
            <a:ext cx="3077739" cy="51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4/23/2024</a:t>
            </a:r>
            <a:endParaRPr/>
          </a:p>
        </p:txBody>
      </p:sp>
      <p:sp>
        <p:nvSpPr>
          <p:cNvPr id="100" name="Google Shape;100;p1:notes"/>
          <p:cNvSpPr txBox="1">
            <a:spLocks noGrp="1"/>
          </p:cNvSpPr>
          <p:nvPr>
            <p:ph type="ftr" idx="11"/>
          </p:nvPr>
        </p:nvSpPr>
        <p:spPr>
          <a:xfrm>
            <a:off x="0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 (2018)</a:t>
            </a:r>
            <a:endParaRPr/>
          </a:p>
        </p:txBody>
      </p:sp>
      <p:sp>
        <p:nvSpPr>
          <p:cNvPr id="101" name="Google Shape;101;p1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2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2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09" name="Google Shape;109;p2:notes"/>
          <p:cNvSpPr txBox="1">
            <a:spLocks noGrp="1"/>
          </p:cNvSpPr>
          <p:nvPr>
            <p:ph type="ftr" idx="11"/>
          </p:nvPr>
        </p:nvSpPr>
        <p:spPr>
          <a:xfrm>
            <a:off x="0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 (2018)</a:t>
            </a:r>
            <a:endParaRPr/>
          </a:p>
        </p:txBody>
      </p:sp>
      <p:sp>
        <p:nvSpPr>
          <p:cNvPr id="110" name="Google Shape;110;p2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077739" cy="51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DETI/AMS</a:t>
            </a:r>
            <a:endParaRPr/>
          </a:p>
        </p:txBody>
      </p:sp>
      <p:sp>
        <p:nvSpPr>
          <p:cNvPr id="111" name="Google Shape;111;p2:notes"/>
          <p:cNvSpPr txBox="1">
            <a:spLocks noGrp="1"/>
          </p:cNvSpPr>
          <p:nvPr>
            <p:ph type="dt" idx="10"/>
          </p:nvPr>
        </p:nvSpPr>
        <p:spPr>
          <a:xfrm>
            <a:off x="4023092" y="0"/>
            <a:ext cx="3077739" cy="51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4/23/2024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4749165db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800" cy="34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4749165db6_0_0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2000" cy="4029300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g34749165db6_0_0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00" cy="513300"/>
          </a:xfrm>
          <a:prstGeom prst="rect">
            <a:avLst/>
          </a:prstGeom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4749165db6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4749165db6_0_14:notes"/>
          <p:cNvSpPr txBox="1">
            <a:spLocks noGrp="1"/>
          </p:cNvSpPr>
          <p:nvPr>
            <p:ph type="body" idx="1"/>
          </p:nvPr>
        </p:nvSpPr>
        <p:spPr>
          <a:xfrm>
            <a:off x="710247" y="4924643"/>
            <a:ext cx="5682000" cy="4029300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g34749165db6_0_14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00" cy="513300"/>
          </a:xfrm>
          <a:prstGeom prst="rect">
            <a:avLst/>
          </a:prstGeom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4749165db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4749165db6_0_23:notes"/>
          <p:cNvSpPr txBox="1">
            <a:spLocks noGrp="1"/>
          </p:cNvSpPr>
          <p:nvPr>
            <p:ph type="body" idx="1"/>
          </p:nvPr>
        </p:nvSpPr>
        <p:spPr>
          <a:xfrm>
            <a:off x="710247" y="4924643"/>
            <a:ext cx="5682000" cy="4029300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g34749165db6_0_23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00" cy="513300"/>
          </a:xfrm>
          <a:prstGeom prst="rect">
            <a:avLst/>
          </a:prstGeom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4749165db6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4749165db6_0_8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2000" cy="4029300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g34749165db6_0_8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00" cy="513300"/>
          </a:xfrm>
          <a:prstGeom prst="rect">
            <a:avLst/>
          </a:prstGeom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4749165db6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g34749165db6_0_119:notes"/>
          <p:cNvSpPr txBox="1">
            <a:spLocks noGrp="1"/>
          </p:cNvSpPr>
          <p:nvPr>
            <p:ph type="body" idx="1"/>
          </p:nvPr>
        </p:nvSpPr>
        <p:spPr>
          <a:xfrm>
            <a:off x="710247" y="4924643"/>
            <a:ext cx="5682000" cy="40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225" tIns="48600" rIns="97225" bIns="48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g34749165db6_0_119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077700" cy="5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225" tIns="48600" rIns="97225" bIns="48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DETI/AMS</a:t>
            </a:r>
            <a:endParaRPr/>
          </a:p>
        </p:txBody>
      </p:sp>
      <p:sp>
        <p:nvSpPr>
          <p:cNvPr id="167" name="Google Shape;167;g34749165db6_0_119:notes"/>
          <p:cNvSpPr txBox="1">
            <a:spLocks noGrp="1"/>
          </p:cNvSpPr>
          <p:nvPr>
            <p:ph type="dt" idx="10"/>
          </p:nvPr>
        </p:nvSpPr>
        <p:spPr>
          <a:xfrm>
            <a:off x="4023092" y="0"/>
            <a:ext cx="3077700" cy="5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225" tIns="48600" rIns="97225" bIns="486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12-03-2024</a:t>
            </a:r>
            <a:endParaRPr/>
          </a:p>
        </p:txBody>
      </p:sp>
      <p:sp>
        <p:nvSpPr>
          <p:cNvPr id="168" name="Google Shape;168;g34749165db6_0_119:notes"/>
          <p:cNvSpPr txBox="1">
            <a:spLocks noGrp="1"/>
          </p:cNvSpPr>
          <p:nvPr>
            <p:ph type="ftr" idx="11"/>
          </p:nvPr>
        </p:nvSpPr>
        <p:spPr>
          <a:xfrm>
            <a:off x="0" y="9719598"/>
            <a:ext cx="3077700" cy="5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225" tIns="48600" rIns="97225" bIns="486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 (2018)</a:t>
            </a:r>
            <a:endParaRPr/>
          </a:p>
        </p:txBody>
      </p:sp>
      <p:sp>
        <p:nvSpPr>
          <p:cNvPr id="169" name="Google Shape;169;g34749165db6_0_119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00" cy="5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225" tIns="48600" rIns="97225" bIns="486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4749165db6_0_131:notes"/>
          <p:cNvSpPr txBox="1">
            <a:spLocks noGrp="1"/>
          </p:cNvSpPr>
          <p:nvPr>
            <p:ph type="body" idx="1"/>
          </p:nvPr>
        </p:nvSpPr>
        <p:spPr>
          <a:xfrm>
            <a:off x="710247" y="4924643"/>
            <a:ext cx="5682000" cy="4029300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g34749165db6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4749165db6_0_141:notes"/>
          <p:cNvSpPr txBox="1">
            <a:spLocks noGrp="1"/>
          </p:cNvSpPr>
          <p:nvPr>
            <p:ph type="body" idx="1"/>
          </p:nvPr>
        </p:nvSpPr>
        <p:spPr>
          <a:xfrm>
            <a:off x="710247" y="4924643"/>
            <a:ext cx="5682000" cy="4029300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g34749165db6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4749165db6_0_315:notes"/>
          <p:cNvSpPr txBox="1">
            <a:spLocks noGrp="1"/>
          </p:cNvSpPr>
          <p:nvPr>
            <p:ph type="body" idx="1"/>
          </p:nvPr>
        </p:nvSpPr>
        <p:spPr>
          <a:xfrm>
            <a:off x="710247" y="4924643"/>
            <a:ext cx="5682000" cy="4029300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g34749165db6_0_3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4749165db6_0_322:notes"/>
          <p:cNvSpPr txBox="1">
            <a:spLocks noGrp="1"/>
          </p:cNvSpPr>
          <p:nvPr>
            <p:ph type="body" idx="1"/>
          </p:nvPr>
        </p:nvSpPr>
        <p:spPr>
          <a:xfrm>
            <a:off x="710247" y="4924643"/>
            <a:ext cx="5682000" cy="4029300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g34749165db6_0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4749165db6_0_330:notes"/>
          <p:cNvSpPr txBox="1">
            <a:spLocks noGrp="1"/>
          </p:cNvSpPr>
          <p:nvPr>
            <p:ph type="body" idx="1"/>
          </p:nvPr>
        </p:nvSpPr>
        <p:spPr>
          <a:xfrm>
            <a:off x="710247" y="4924643"/>
            <a:ext cx="5682000" cy="4029300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g34749165db6_0_3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4749165db6_0_337:notes"/>
          <p:cNvSpPr txBox="1">
            <a:spLocks noGrp="1"/>
          </p:cNvSpPr>
          <p:nvPr>
            <p:ph type="body" idx="1"/>
          </p:nvPr>
        </p:nvSpPr>
        <p:spPr>
          <a:xfrm>
            <a:off x="710247" y="4924643"/>
            <a:ext cx="5682000" cy="4029300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g34749165db6_0_3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4749165db6_0_346:notes"/>
          <p:cNvSpPr txBox="1">
            <a:spLocks noGrp="1"/>
          </p:cNvSpPr>
          <p:nvPr>
            <p:ph type="body" idx="1"/>
          </p:nvPr>
        </p:nvSpPr>
        <p:spPr>
          <a:xfrm>
            <a:off x="710247" y="4924643"/>
            <a:ext cx="5682000" cy="4029300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g34749165db6_0_3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4749165db6_0_354:notes"/>
          <p:cNvSpPr txBox="1">
            <a:spLocks noGrp="1"/>
          </p:cNvSpPr>
          <p:nvPr>
            <p:ph type="body" idx="1"/>
          </p:nvPr>
        </p:nvSpPr>
        <p:spPr>
          <a:xfrm>
            <a:off x="710247" y="4924643"/>
            <a:ext cx="5682000" cy="4029300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g34749165db6_0_3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4749165db6_0_362:notes"/>
          <p:cNvSpPr txBox="1">
            <a:spLocks noGrp="1"/>
          </p:cNvSpPr>
          <p:nvPr>
            <p:ph type="body" idx="1"/>
          </p:nvPr>
        </p:nvSpPr>
        <p:spPr>
          <a:xfrm>
            <a:off x="710247" y="4924643"/>
            <a:ext cx="5682000" cy="4029300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g34749165db6_0_3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4749165db6_0_372:notes"/>
          <p:cNvSpPr txBox="1">
            <a:spLocks noGrp="1"/>
          </p:cNvSpPr>
          <p:nvPr>
            <p:ph type="body" idx="1"/>
          </p:nvPr>
        </p:nvSpPr>
        <p:spPr>
          <a:xfrm>
            <a:off x="710247" y="4924643"/>
            <a:ext cx="5682000" cy="4029300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g34749165db6_0_3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4749165db6_0_380:notes"/>
          <p:cNvSpPr txBox="1">
            <a:spLocks noGrp="1"/>
          </p:cNvSpPr>
          <p:nvPr>
            <p:ph type="body" idx="1"/>
          </p:nvPr>
        </p:nvSpPr>
        <p:spPr>
          <a:xfrm>
            <a:off x="710247" y="4924643"/>
            <a:ext cx="5682000" cy="4029300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g34749165db6_0_3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4749165db6_0_387:notes"/>
          <p:cNvSpPr txBox="1">
            <a:spLocks noGrp="1"/>
          </p:cNvSpPr>
          <p:nvPr>
            <p:ph type="body" idx="1"/>
          </p:nvPr>
        </p:nvSpPr>
        <p:spPr>
          <a:xfrm>
            <a:off x="710247" y="4924643"/>
            <a:ext cx="5682000" cy="4029300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g34749165db6_0_3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4749165db6_0_397:notes"/>
          <p:cNvSpPr txBox="1">
            <a:spLocks noGrp="1"/>
          </p:cNvSpPr>
          <p:nvPr>
            <p:ph type="body" idx="1"/>
          </p:nvPr>
        </p:nvSpPr>
        <p:spPr>
          <a:xfrm>
            <a:off x="710247" y="4924643"/>
            <a:ext cx="5682000" cy="4029300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g34749165db6_0_3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4749165db6_0_406:notes"/>
          <p:cNvSpPr txBox="1">
            <a:spLocks noGrp="1"/>
          </p:cNvSpPr>
          <p:nvPr>
            <p:ph type="body" idx="1"/>
          </p:nvPr>
        </p:nvSpPr>
        <p:spPr>
          <a:xfrm>
            <a:off x="710247" y="4924643"/>
            <a:ext cx="5682000" cy="4029300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g34749165db6_0_4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4749165db6_0_417:notes"/>
          <p:cNvSpPr txBox="1">
            <a:spLocks noGrp="1"/>
          </p:cNvSpPr>
          <p:nvPr>
            <p:ph type="body" idx="1"/>
          </p:nvPr>
        </p:nvSpPr>
        <p:spPr>
          <a:xfrm>
            <a:off x="710247" y="4924643"/>
            <a:ext cx="5682000" cy="4029300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g34749165db6_0_4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4749165db6_0_428:notes"/>
          <p:cNvSpPr txBox="1">
            <a:spLocks noGrp="1"/>
          </p:cNvSpPr>
          <p:nvPr>
            <p:ph type="body" idx="1"/>
          </p:nvPr>
        </p:nvSpPr>
        <p:spPr>
          <a:xfrm>
            <a:off x="710247" y="4924643"/>
            <a:ext cx="5682000" cy="4029300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g34749165db6_0_4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4749165db6_0_436:notes"/>
          <p:cNvSpPr txBox="1">
            <a:spLocks noGrp="1"/>
          </p:cNvSpPr>
          <p:nvPr>
            <p:ph type="body" idx="1"/>
          </p:nvPr>
        </p:nvSpPr>
        <p:spPr>
          <a:xfrm>
            <a:off x="710247" y="4924643"/>
            <a:ext cx="5682000" cy="4029300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g34749165db6_0_4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4749165db6_0_453:notes"/>
          <p:cNvSpPr txBox="1">
            <a:spLocks noGrp="1"/>
          </p:cNvSpPr>
          <p:nvPr>
            <p:ph type="body" idx="1"/>
          </p:nvPr>
        </p:nvSpPr>
        <p:spPr>
          <a:xfrm>
            <a:off x="710247" y="4924643"/>
            <a:ext cx="5682000" cy="4029300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g34749165db6_0_4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6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4749165db6_0_460:notes"/>
          <p:cNvSpPr txBox="1">
            <a:spLocks noGrp="1"/>
          </p:cNvSpPr>
          <p:nvPr>
            <p:ph type="body" idx="1"/>
          </p:nvPr>
        </p:nvSpPr>
        <p:spPr>
          <a:xfrm>
            <a:off x="710247" y="4924643"/>
            <a:ext cx="5682000" cy="4029300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g34749165db6_0_4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4749165db6_0_467:notes"/>
          <p:cNvSpPr txBox="1">
            <a:spLocks noGrp="1"/>
          </p:cNvSpPr>
          <p:nvPr>
            <p:ph type="body" idx="1"/>
          </p:nvPr>
        </p:nvSpPr>
        <p:spPr>
          <a:xfrm>
            <a:off x="710247" y="4924643"/>
            <a:ext cx="5682000" cy="4029300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g34749165db6_0_4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4749165db6_0_475:notes"/>
          <p:cNvSpPr txBox="1">
            <a:spLocks noGrp="1"/>
          </p:cNvSpPr>
          <p:nvPr>
            <p:ph type="body" idx="1"/>
          </p:nvPr>
        </p:nvSpPr>
        <p:spPr>
          <a:xfrm>
            <a:off x="710247" y="4924643"/>
            <a:ext cx="5682000" cy="4029300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g34749165db6_0_4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4749165db6_0_482:notes"/>
          <p:cNvSpPr txBox="1">
            <a:spLocks noGrp="1"/>
          </p:cNvSpPr>
          <p:nvPr>
            <p:ph type="body" idx="1"/>
          </p:nvPr>
        </p:nvSpPr>
        <p:spPr>
          <a:xfrm>
            <a:off x="710247" y="4924643"/>
            <a:ext cx="5682000" cy="4029300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g34749165db6_0_4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4749165db6_0_491:notes"/>
          <p:cNvSpPr txBox="1">
            <a:spLocks noGrp="1"/>
          </p:cNvSpPr>
          <p:nvPr>
            <p:ph type="body" idx="1"/>
          </p:nvPr>
        </p:nvSpPr>
        <p:spPr>
          <a:xfrm>
            <a:off x="710247" y="4924643"/>
            <a:ext cx="5682000" cy="4029300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g34749165db6_0_4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4749165db6_0_499:notes"/>
          <p:cNvSpPr txBox="1">
            <a:spLocks noGrp="1"/>
          </p:cNvSpPr>
          <p:nvPr>
            <p:ph type="body" idx="1"/>
          </p:nvPr>
        </p:nvSpPr>
        <p:spPr>
          <a:xfrm>
            <a:off x="710247" y="4924643"/>
            <a:ext cx="5682000" cy="4029300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g34749165db6_0_4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4749165db6_0_512:notes"/>
          <p:cNvSpPr txBox="1">
            <a:spLocks noGrp="1"/>
          </p:cNvSpPr>
          <p:nvPr>
            <p:ph type="body" idx="1"/>
          </p:nvPr>
        </p:nvSpPr>
        <p:spPr>
          <a:xfrm>
            <a:off x="710247" y="4924643"/>
            <a:ext cx="5682000" cy="4029300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g34749165db6_0_5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4749165db6_0_519:notes"/>
          <p:cNvSpPr txBox="1">
            <a:spLocks noGrp="1"/>
          </p:cNvSpPr>
          <p:nvPr>
            <p:ph type="body" idx="1"/>
          </p:nvPr>
        </p:nvSpPr>
        <p:spPr>
          <a:xfrm>
            <a:off x="710247" y="4924643"/>
            <a:ext cx="5682000" cy="4029300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g34749165db6_0_5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4749165db6_0_527:notes"/>
          <p:cNvSpPr txBox="1">
            <a:spLocks noGrp="1"/>
          </p:cNvSpPr>
          <p:nvPr>
            <p:ph type="body" idx="1"/>
          </p:nvPr>
        </p:nvSpPr>
        <p:spPr>
          <a:xfrm>
            <a:off x="710247" y="4924643"/>
            <a:ext cx="5682000" cy="4029300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g34749165db6_0_5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4749165db6_0_535:notes"/>
          <p:cNvSpPr txBox="1">
            <a:spLocks noGrp="1"/>
          </p:cNvSpPr>
          <p:nvPr>
            <p:ph type="body" idx="1"/>
          </p:nvPr>
        </p:nvSpPr>
        <p:spPr>
          <a:xfrm>
            <a:off x="710247" y="4924643"/>
            <a:ext cx="5682000" cy="4029300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g34749165db6_0_5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4749165db6_0_230:notes"/>
          <p:cNvSpPr txBox="1">
            <a:spLocks noGrp="1"/>
          </p:cNvSpPr>
          <p:nvPr>
            <p:ph type="body" idx="1"/>
          </p:nvPr>
        </p:nvSpPr>
        <p:spPr>
          <a:xfrm>
            <a:off x="710247" y="4924643"/>
            <a:ext cx="5682000" cy="4029300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g34749165db6_0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749165db6_0_542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00" cy="5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225" tIns="48600" rIns="97225" bIns="486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39</a:t>
            </a:fld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g34749165db6_0_5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4" name="Google Shape;534;g34749165db6_0_542:notes"/>
          <p:cNvSpPr txBox="1">
            <a:spLocks noGrp="1"/>
          </p:cNvSpPr>
          <p:nvPr>
            <p:ph type="body" idx="1"/>
          </p:nvPr>
        </p:nvSpPr>
        <p:spPr>
          <a:xfrm>
            <a:off x="710247" y="4924643"/>
            <a:ext cx="5682000" cy="40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225" tIns="48600" rIns="97225" bIns="48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http://code.google.com/p/qunit-maven-plugin/wiki/Architecture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4749165db6_0_691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2000" cy="4029300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g34749165db6_0_6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4749165db6_0_698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2000" cy="4029300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g34749165db6_0_6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4749165db6_0_706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2000" cy="4029300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g34749165db6_0_7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4749165db6_0_715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2000" cy="4029300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g34749165db6_0_7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4749165db6_0_7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34749165db6_0_753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2000" cy="4029300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g34749165db6_0_753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00" cy="513300"/>
          </a:xfrm>
          <a:prstGeom prst="rect">
            <a:avLst/>
          </a:prstGeom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4749165db6_0_724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2000" cy="4029300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g34749165db6_0_7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4749165db6_0_734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2000" cy="4029300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g34749165db6_0_7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4749165db6_0_744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2000" cy="4029300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g34749165db6_0_7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4749165db6_0_7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34749165db6_0_778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2000" cy="4029300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4" name="Google Shape;624;g34749165db6_0_778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00" cy="513300"/>
          </a:xfrm>
          <a:prstGeom prst="rect">
            <a:avLst/>
          </a:prstGeom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18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4" name="Google Shape;63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19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20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" name="Google Shape;65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22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" name="Google Shape;67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23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1" name="Google Shape;68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24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25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26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27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3" name="Google Shape;72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28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4" name="Google Shape;734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29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59</a:t>
            </a:fld>
            <a:endParaRPr/>
          </a:p>
        </p:txBody>
      </p:sp>
      <p:sp>
        <p:nvSpPr>
          <p:cNvPr id="742" name="Google Shape;742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7763" y="688975"/>
            <a:ext cx="4564062" cy="3422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3" name="Google Shape;743;p29:notes"/>
          <p:cNvSpPr txBox="1">
            <a:spLocks noGrp="1"/>
          </p:cNvSpPr>
          <p:nvPr>
            <p:ph type="body" idx="1"/>
          </p:nvPr>
        </p:nvSpPr>
        <p:spPr>
          <a:xfrm>
            <a:off x="387350" y="4714875"/>
            <a:ext cx="6042025" cy="362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30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31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4" name="Google Shape;764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32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2" name="Google Shape;77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34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3" name="Google Shape;783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751562" y="2642285"/>
            <a:ext cx="7763788" cy="1330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600"/>
              <a:buFont typeface="Noto Sans"/>
              <a:buNone/>
              <a:defRPr sz="3600">
                <a:latin typeface="Noto Sans"/>
                <a:ea typeface="Noto Sans"/>
                <a:cs typeface="Noto Sans"/>
                <a:sym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751562" y="4194805"/>
            <a:ext cx="6676372" cy="143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 sz="1800">
                <a:latin typeface="Noto Sans"/>
                <a:ea typeface="Noto Sans"/>
                <a:cs typeface="Noto Sans"/>
                <a:sym typeface="Noto Sans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Noto Sans Light"/>
                <a:ea typeface="Noto Sans Light"/>
                <a:cs typeface="Noto Sans Light"/>
                <a:sym typeface="Noto Sans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" name="Google Shape;19;p2" descr="deti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518129" y="5245866"/>
            <a:ext cx="2997221" cy="74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1785256" y="365126"/>
            <a:ext cx="6730094" cy="760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800"/>
              <a:buFont typeface="Noto Sans"/>
              <a:buNone/>
              <a:defRPr sz="2800">
                <a:latin typeface="Noto Sans"/>
                <a:ea typeface="Noto Sans"/>
                <a:cs typeface="Noto Sans"/>
                <a:sym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body" idx="1"/>
          </p:nvPr>
        </p:nvSpPr>
        <p:spPr>
          <a:xfrm>
            <a:off x="1785254" y="1371601"/>
            <a:ext cx="6730095" cy="4805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  <a:defRPr sz="2000">
                <a:latin typeface="Noto Sans"/>
                <a:ea typeface="Noto Sans"/>
                <a:cs typeface="Noto Sans"/>
                <a:sym typeface="Noto Sans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>
                <a:latin typeface="Noto Sans Light"/>
                <a:ea typeface="Noto Sans Light"/>
                <a:cs typeface="Noto Sans Light"/>
                <a:sym typeface="Noto Sans Light"/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>
                <a:latin typeface="Noto Sans Light"/>
                <a:ea typeface="Noto Sans Light"/>
                <a:cs typeface="Noto Sans Light"/>
                <a:sym typeface="Noto Sans Light"/>
              </a:defRPr>
            </a:lvl3pPr>
            <a:lvl4pPr marL="1828800" lvl="3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latin typeface="Noto Sans"/>
                <a:ea typeface="Noto Sans"/>
                <a:cs typeface="Noto Sans"/>
                <a:sym typeface="Noto Sans"/>
              </a:defRPr>
            </a:lvl4pPr>
            <a:lvl5pPr marL="2286000" lvl="4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latin typeface="Noto Sans"/>
                <a:ea typeface="Noto Sans"/>
                <a:cs typeface="Noto Sans"/>
                <a:sym typeface="Noto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1785256" y="365127"/>
            <a:ext cx="6730093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628650" y="136524"/>
            <a:ext cx="3791156" cy="1423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Noto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>
            <a:spLocks noGrp="1"/>
          </p:cNvSpPr>
          <p:nvPr>
            <p:ph type="pic" idx="2"/>
          </p:nvPr>
        </p:nvSpPr>
        <p:spPr>
          <a:xfrm>
            <a:off x="4572000" y="583474"/>
            <a:ext cx="3942160" cy="5674713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629840" y="1812022"/>
            <a:ext cx="3791157" cy="438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  <a:defRPr sz="16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>
  <p:cSld name="1_Title 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1785256" y="365127"/>
            <a:ext cx="6730093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ftr" idx="11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ubTitle" idx="1"/>
          </p:nvPr>
        </p:nvSpPr>
        <p:spPr>
          <a:xfrm>
            <a:off x="1785256" y="1038759"/>
            <a:ext cx="6730092" cy="589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  <a:defRPr sz="2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1785254" y="1709739"/>
            <a:ext cx="6725333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Noto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1785256" y="4589464"/>
            <a:ext cx="6725332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566058" y="365127"/>
            <a:ext cx="7949292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body" idx="1"/>
          </p:nvPr>
        </p:nvSpPr>
        <p:spPr>
          <a:xfrm>
            <a:off x="6286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body" idx="2"/>
          </p:nvPr>
        </p:nvSpPr>
        <p:spPr>
          <a:xfrm>
            <a:off x="46291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>
  <p:cSld name="1_Two Conten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 txBox="1">
            <a:spLocks noGrp="1"/>
          </p:cNvSpPr>
          <p:nvPr>
            <p:ph type="body" idx="1"/>
          </p:nvPr>
        </p:nvSpPr>
        <p:spPr>
          <a:xfrm>
            <a:off x="628650" y="651053"/>
            <a:ext cx="3886200" cy="55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4629150" y="651053"/>
            <a:ext cx="3886200" cy="55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82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body" idx="1"/>
          </p:nvPr>
        </p:nvSpPr>
        <p:spPr>
          <a:xfrm>
            <a:off x="646511" y="1355728"/>
            <a:ext cx="3868340" cy="590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9EE9D4"/>
              </a:buClr>
              <a:buSzPts val="2400"/>
              <a:buNone/>
              <a:defRPr sz="2400" b="1">
                <a:solidFill>
                  <a:srgbClr val="9EE9D4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body" idx="2"/>
          </p:nvPr>
        </p:nvSpPr>
        <p:spPr>
          <a:xfrm>
            <a:off x="629842" y="2112720"/>
            <a:ext cx="3868340" cy="4076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  <a:defRPr sz="20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 sz="1800"/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3"/>
          </p:nvPr>
        </p:nvSpPr>
        <p:spPr>
          <a:xfrm>
            <a:off x="4572000" y="1355728"/>
            <a:ext cx="3887391" cy="590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9EE9D4"/>
              </a:buClr>
              <a:buSzPts val="2400"/>
              <a:buNone/>
              <a:defRPr sz="2400" b="1">
                <a:solidFill>
                  <a:srgbClr val="9EE9D4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4"/>
          </p:nvPr>
        </p:nvSpPr>
        <p:spPr>
          <a:xfrm>
            <a:off x="4629150" y="2112720"/>
            <a:ext cx="3887391" cy="4076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  <a:defRPr sz="20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 sz="1800"/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ftr" idx="11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>
            <a:spLocks noGrp="1"/>
          </p:cNvSpPr>
          <p:nvPr>
            <p:ph type="ftr" idx="11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>
            <a:spLocks noGrp="1"/>
          </p:cNvSpPr>
          <p:nvPr>
            <p:ph type="title"/>
          </p:nvPr>
        </p:nvSpPr>
        <p:spPr>
          <a:xfrm>
            <a:off x="1785256" y="365127"/>
            <a:ext cx="6730093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body" idx="1"/>
          </p:nvPr>
        </p:nvSpPr>
        <p:spPr>
          <a:xfrm rot="5400000">
            <a:off x="2618025" y="381553"/>
            <a:ext cx="5064557" cy="6730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ftr" idx="11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body" idx="1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ftr" idx="11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3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F3C9"/>
              </a:buClr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3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2F2F2"/>
              </a:buClr>
              <a:buSzPts val="2800"/>
              <a:buNone/>
              <a:defRPr sz="2800"/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/>
            </a:lvl2pPr>
            <a:lvl3pPr marL="1371600" lvl="2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3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Content">
  <p:cSld name="3_Title and Conten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 txBox="1">
            <a:spLocks noGrp="1"/>
          </p:cNvSpPr>
          <p:nvPr>
            <p:ph type="title"/>
          </p:nvPr>
        </p:nvSpPr>
        <p:spPr>
          <a:xfrm>
            <a:off x="6086474" y="485774"/>
            <a:ext cx="2829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1800"/>
              <a:buFont typeface="Noto Sans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5"/>
          <p:cNvSpPr txBox="1">
            <a:spLocks noGrp="1"/>
          </p:cNvSpPr>
          <p:nvPr>
            <p:ph type="body" idx="1"/>
          </p:nvPr>
        </p:nvSpPr>
        <p:spPr>
          <a:xfrm>
            <a:off x="6086474" y="1293812"/>
            <a:ext cx="2829000" cy="48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200"/>
              <a:buNone/>
              <a:defRPr sz="1200"/>
            </a:lvl2pPr>
            <a:lvl3pPr marL="1371600" lvl="2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100"/>
            </a:lvl3pPr>
            <a:lvl4pPr marL="1828800" lvl="3" indent="-295275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Char char="•"/>
              <a:defRPr sz="1050"/>
            </a:lvl4pPr>
            <a:lvl5pPr marL="2286000" lvl="4" indent="-295275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Char char="•"/>
              <a:defRPr sz="105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15"/>
          <p:cNvSpPr txBox="1">
            <a:spLocks noGrp="1"/>
          </p:cNvSpPr>
          <p:nvPr>
            <p:ph type="ftr" idx="11"/>
          </p:nvPr>
        </p:nvSpPr>
        <p:spPr>
          <a:xfrm>
            <a:off x="1785256" y="6356351"/>
            <a:ext cx="4329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1" name="Google Shape;91;p15"/>
          <p:cNvCxnSpPr/>
          <p:nvPr/>
        </p:nvCxnSpPr>
        <p:spPr>
          <a:xfrm rot="10800000" flipH="1">
            <a:off x="638175" y="831900"/>
            <a:ext cx="5286300" cy="6300"/>
          </a:xfrm>
          <a:prstGeom prst="straightConnector1">
            <a:avLst/>
          </a:prstGeom>
          <a:noFill/>
          <a:ln w="9525" cap="flat" cmpd="sng">
            <a:solidFill>
              <a:srgbClr val="90939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2" name="Google Shape;92;p15"/>
          <p:cNvSpPr txBox="1">
            <a:spLocks noGrp="1"/>
          </p:cNvSpPr>
          <p:nvPr>
            <p:ph type="body" idx="2"/>
          </p:nvPr>
        </p:nvSpPr>
        <p:spPr>
          <a:xfrm>
            <a:off x="1314451" y="857250"/>
            <a:ext cx="46767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45700" rIns="360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939599"/>
              </a:buClr>
              <a:buSzPts val="2000"/>
              <a:buNone/>
              <a:defRPr>
                <a:solidFill>
                  <a:srgbClr val="939599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5"/>
          <p:cNvSpPr txBox="1"/>
          <p:nvPr/>
        </p:nvSpPr>
        <p:spPr>
          <a:xfrm>
            <a:off x="595313" y="857643"/>
            <a:ext cx="1295400" cy="3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45700" rIns="36000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4B7D4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84B7D4"/>
                </a:solidFill>
                <a:latin typeface="Noto Sans"/>
                <a:ea typeface="Noto Sans"/>
                <a:cs typeface="Noto Sans"/>
                <a:sym typeface="Noto Sans"/>
              </a:rPr>
              <a:t>Figure</a:t>
            </a:r>
            <a:endParaRPr sz="1600">
              <a:solidFill>
                <a:srgbClr val="84B7D4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94" name="Google Shape;94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621961" y="5180806"/>
            <a:ext cx="2841775" cy="20081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4C4C4C"/>
            </a:gs>
            <a:gs pos="50000">
              <a:srgbClr val="292929"/>
            </a:gs>
            <a:gs pos="100000">
              <a:schemeClr val="dk1"/>
            </a:gs>
          </a:gsLst>
          <a:lin ang="5400000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1785256" y="365127"/>
            <a:ext cx="6730093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  <a:defRPr sz="2400" b="0" i="0" u="none" strike="noStrike" cap="none">
                <a:solidFill>
                  <a:srgbClr val="6EDEBF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1785256" y="1214322"/>
            <a:ext cx="6730094" cy="5064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2F2F2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D8D8D8"/>
                </a:solidFill>
                <a:latin typeface="Noto Sans Light"/>
                <a:ea typeface="Noto Sans Light"/>
                <a:cs typeface="Noto Sans Light"/>
                <a:sym typeface="Noto Sans Light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Noto Sans Light"/>
                <a:ea typeface="Noto Sans Light"/>
                <a:cs typeface="Noto Sans Light"/>
                <a:sym typeface="Noto Sans Light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ftr" idx="11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Noto Sans Light"/>
                <a:ea typeface="Noto Sans Light"/>
                <a:cs typeface="Noto Sans Light"/>
                <a:sym typeface="Noto Sans Ligh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guide/platform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mvnrepository.com/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weet.ua.pt/ico/OpenUp/OpenUP_v1514/core.tech.common.extend_supp/guidances/concepts/arch_significant_requirements_1EE5D757.html?nodeId=7dddf10c" TargetMode="Externa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feedzai.com/" TargetMode="Externa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jpg"/><Relationship Id="rId4" Type="http://schemas.openxmlformats.org/officeDocument/2006/relationships/image" Target="../media/image3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jpg"/><Relationship Id="rId4" Type="http://schemas.openxmlformats.org/officeDocument/2006/relationships/image" Target="../media/image4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developer.android.com/guide/platform" TargetMode="Externa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martinfowler.com/bliki/PresentationDomainDataLayering.html" TargetMode="Externa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martinfowler.com/bliki/PresentationDomainDataLayering.html" TargetMode="Externa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7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http://sweet.ua.pt/ico/OpenUp/OpenUP_v1514/" TargetMode="External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ing.oreilly.com/library/view/software-architecture-in/9780136885979/" TargetMode="External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artinfowler.com/architectur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ctrTitle"/>
          </p:nvPr>
        </p:nvSpPr>
        <p:spPr>
          <a:xfrm>
            <a:off x="751562" y="2642285"/>
            <a:ext cx="7763788" cy="1330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600"/>
              <a:buFont typeface="Noto Sans"/>
              <a:buNone/>
            </a:pPr>
            <a:r>
              <a:rPr lang="en-US"/>
              <a:t>Arquitetura: qualidades e </a:t>
            </a:r>
            <a:r>
              <a:rPr lang="en-US" i="1"/>
              <a:t>trade-offs</a:t>
            </a:r>
            <a:endParaRPr i="1"/>
          </a:p>
        </p:txBody>
      </p:sp>
      <p:sp>
        <p:nvSpPr>
          <p:cNvPr id="104" name="Google Shape;104;p16"/>
          <p:cNvSpPr txBox="1">
            <a:spLocks noGrp="1"/>
          </p:cNvSpPr>
          <p:nvPr>
            <p:ph type="subTitle" idx="1"/>
          </p:nvPr>
        </p:nvSpPr>
        <p:spPr>
          <a:xfrm>
            <a:off x="751562" y="4194805"/>
            <a:ext cx="6676372" cy="143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rPr lang="en-US"/>
              <a:t>Ilídio Oliveira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rPr lang="en-US"/>
              <a:t>v2025-04-01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>
            <a:spLocks noGrp="1"/>
          </p:cNvSpPr>
          <p:nvPr>
            <p:ph type="title"/>
          </p:nvPr>
        </p:nvSpPr>
        <p:spPr>
          <a:xfrm>
            <a:off x="1785256" y="365126"/>
            <a:ext cx="6730094" cy="760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800"/>
              <a:buFont typeface="Noto Sans"/>
              <a:buNone/>
            </a:pPr>
            <a:r>
              <a:rPr lang="en-US"/>
              <a:t>Objetivos de aprendizagem</a:t>
            </a:r>
            <a:endParaRPr/>
          </a:p>
        </p:txBody>
      </p:sp>
      <p:sp>
        <p:nvSpPr>
          <p:cNvPr id="114" name="Google Shape;114;p17"/>
          <p:cNvSpPr txBox="1">
            <a:spLocks noGrp="1"/>
          </p:cNvSpPr>
          <p:nvPr>
            <p:ph type="body" idx="1"/>
          </p:nvPr>
        </p:nvSpPr>
        <p:spPr>
          <a:xfrm>
            <a:off x="1785254" y="1371601"/>
            <a:ext cx="6730095" cy="4805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000"/>
              <a:buFont typeface="Arial"/>
              <a:buChar char="•"/>
            </a:pPr>
            <a:r>
              <a:rPr lang="en-US">
                <a:latin typeface="Noto Sans"/>
                <a:ea typeface="Noto Sans"/>
                <a:cs typeface="Noto Sans"/>
                <a:sym typeface="Noto Sans"/>
              </a:rPr>
              <a:t>Enumerar as principais vistas de representação de uma arquitetura, os seus elementos e relações </a:t>
            </a:r>
            <a:r>
              <a:rPr lang="en-US"/>
              <a:t>características</a:t>
            </a:r>
            <a:r>
              <a:rPr lang="en-US">
                <a:latin typeface="Noto Sans"/>
                <a:ea typeface="Noto Sans"/>
                <a:cs typeface="Noto Sans"/>
                <a:sym typeface="Noto Sans"/>
              </a:rPr>
              <a:t>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2000"/>
              <a:buFont typeface="Arial"/>
              <a:buChar char="•"/>
            </a:pPr>
            <a:r>
              <a:rPr lang="en-US">
                <a:latin typeface="Noto Sans"/>
                <a:ea typeface="Noto Sans"/>
                <a:cs typeface="Noto Sans"/>
                <a:sym typeface="Noto Sans"/>
              </a:rPr>
              <a:t>Exemplificar alguns estilos de arquitetura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2000"/>
              <a:buFont typeface="Arial"/>
              <a:buChar char="•"/>
            </a:pPr>
            <a:r>
              <a:rPr lang="en-US">
                <a:latin typeface="Noto Sans"/>
                <a:ea typeface="Noto Sans"/>
                <a:cs typeface="Noto Sans"/>
                <a:sym typeface="Noto Sans"/>
              </a:rPr>
              <a:t>Descrever a organização de uma </a:t>
            </a:r>
            <a:r>
              <a:rPr lang="en-US"/>
              <a:t>arquitetura</a:t>
            </a:r>
            <a:r>
              <a:rPr lang="en-US">
                <a:latin typeface="Noto Sans"/>
                <a:ea typeface="Noto Sans"/>
                <a:cs typeface="Noto Sans"/>
                <a:sym typeface="Noto Sans"/>
              </a:rPr>
              <a:t> por camadas, em particular o estilo Apresentação + Lógica do domínio + Dados </a:t>
            </a:r>
            <a:endParaRPr/>
          </a:p>
        </p:txBody>
      </p:sp>
      <p:sp>
        <p:nvSpPr>
          <p:cNvPr id="115" name="Google Shape;115;p17"/>
          <p:cNvSpPr txBox="1">
            <a:spLocks noGrp="1"/>
          </p:cNvSpPr>
          <p:nvPr>
            <p:ph type="ftr" idx="11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116" name="Google Shape;116;p1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>
            <a:spLocks noGrp="1"/>
          </p:cNvSpPr>
          <p:nvPr>
            <p:ph type="title"/>
          </p:nvPr>
        </p:nvSpPr>
        <p:spPr>
          <a:xfrm>
            <a:off x="1785256" y="365126"/>
            <a:ext cx="6730200" cy="760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8"/>
          <p:cNvSpPr txBox="1">
            <a:spLocks noGrp="1"/>
          </p:cNvSpPr>
          <p:nvPr>
            <p:ph type="body" idx="1"/>
          </p:nvPr>
        </p:nvSpPr>
        <p:spPr>
          <a:xfrm>
            <a:off x="1785254" y="1371601"/>
            <a:ext cx="6730200" cy="4805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800"/>
              </a:spcBef>
              <a:spcAft>
                <a:spcPts val="600"/>
              </a:spcAft>
              <a:buNone/>
            </a:pPr>
            <a:endParaRPr/>
          </a:p>
        </p:txBody>
      </p:sp>
      <p:sp>
        <p:nvSpPr>
          <p:cNvPr id="124" name="Google Shape;124;p1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125" name="Google Shape;12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75509"/>
            <a:ext cx="9144000" cy="45759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300" cy="1600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20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300" cy="4873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600"/>
              </a:spcAft>
              <a:buNone/>
            </a:pPr>
            <a:endParaRPr/>
          </a:p>
        </p:txBody>
      </p:sp>
      <p:sp>
        <p:nvSpPr>
          <p:cNvPr id="142" name="Google Shape;142;p20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300" cy="3811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600"/>
              </a:spcAft>
              <a:buNone/>
            </a:pPr>
            <a:endParaRPr/>
          </a:p>
        </p:txBody>
      </p:sp>
      <p:sp>
        <p:nvSpPr>
          <p:cNvPr id="143" name="Google Shape;143;p2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144" name="Google Shape;14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27751"/>
            <a:ext cx="9144001" cy="5002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1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300" cy="1600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21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300" cy="4873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600"/>
              </a:spcAft>
              <a:buNone/>
            </a:pPr>
            <a:endParaRPr/>
          </a:p>
        </p:txBody>
      </p:sp>
      <p:sp>
        <p:nvSpPr>
          <p:cNvPr id="152" name="Google Shape;152;p21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300" cy="3811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600"/>
              </a:spcAft>
              <a:buNone/>
            </a:pPr>
            <a:endParaRPr/>
          </a:p>
        </p:txBody>
      </p:sp>
      <p:sp>
        <p:nvSpPr>
          <p:cNvPr id="153" name="Google Shape;153;p2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154" name="Google Shape;15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30685"/>
            <a:ext cx="9143999" cy="5396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2"/>
          <p:cNvSpPr txBox="1">
            <a:spLocks noGrp="1"/>
          </p:cNvSpPr>
          <p:nvPr>
            <p:ph type="title"/>
          </p:nvPr>
        </p:nvSpPr>
        <p:spPr>
          <a:xfrm>
            <a:off x="1785254" y="1709739"/>
            <a:ext cx="6725400" cy="2852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Pensamento orientado para a arquitetura</a:t>
            </a:r>
            <a:endParaRPr/>
          </a:p>
        </p:txBody>
      </p:sp>
      <p:sp>
        <p:nvSpPr>
          <p:cNvPr id="161" name="Google Shape;161;p2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62" name="Google Shape;162;p22"/>
          <p:cNvSpPr txBox="1">
            <a:spLocks noGrp="1"/>
          </p:cNvSpPr>
          <p:nvPr>
            <p:ph type="body" idx="1"/>
          </p:nvPr>
        </p:nvSpPr>
        <p:spPr>
          <a:xfrm>
            <a:off x="1785256" y="4589464"/>
            <a:ext cx="6725400" cy="15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800"/>
              </a:spcBef>
              <a:spcAft>
                <a:spcPts val="600"/>
              </a:spcAft>
              <a:buNone/>
            </a:pPr>
            <a:r>
              <a:rPr lang="en-US"/>
              <a:t>Elementos de uma arquitetura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3"/>
          <p:cNvSpPr txBox="1">
            <a:spLocks noGrp="1"/>
          </p:cNvSpPr>
          <p:nvPr>
            <p:ph type="title"/>
          </p:nvPr>
        </p:nvSpPr>
        <p:spPr>
          <a:xfrm>
            <a:off x="1785256" y="365127"/>
            <a:ext cx="6730200" cy="6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rPr lang="en-US"/>
              <a:t>Android </a:t>
            </a:r>
            <a:r>
              <a:rPr lang="en-US" i="1"/>
              <a:t>stack </a:t>
            </a:r>
            <a:r>
              <a:rPr lang="en-US"/>
              <a:t>(visão geral)</a:t>
            </a:r>
            <a:endParaRPr i="1"/>
          </a:p>
        </p:txBody>
      </p:sp>
      <p:sp>
        <p:nvSpPr>
          <p:cNvPr id="172" name="Google Shape;172;p2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73" name="Google Shape;173;p23">
            <a:hlinkClick r:id="rId3"/>
          </p:cNvPr>
          <p:cNvSpPr txBox="1"/>
          <p:nvPr/>
        </p:nvSpPr>
        <p:spPr>
          <a:xfrm>
            <a:off x="1785255" y="5186207"/>
            <a:ext cx="3687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Um exemplo de arquitetura: a organização do sistema Android.</a:t>
            </a:r>
            <a:endParaRPr sz="180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74" name="Google Shape;174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85255" y="1402378"/>
            <a:ext cx="6731899" cy="3537014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3"/>
          <p:cNvSpPr txBox="1">
            <a:spLocks noGrp="1"/>
          </p:cNvSpPr>
          <p:nvPr>
            <p:ph type="ftr" idx="11"/>
          </p:nvPr>
        </p:nvSpPr>
        <p:spPr>
          <a:xfrm>
            <a:off x="1785256" y="6356351"/>
            <a:ext cx="4329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4"/>
          <p:cNvSpPr txBox="1">
            <a:spLocks noGrp="1"/>
          </p:cNvSpPr>
          <p:nvPr>
            <p:ph type="title"/>
          </p:nvPr>
        </p:nvSpPr>
        <p:spPr>
          <a:xfrm>
            <a:off x="1785256" y="365126"/>
            <a:ext cx="67302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800"/>
              <a:buFont typeface="Noto Sans"/>
              <a:buNone/>
            </a:pPr>
            <a:endParaRPr/>
          </a:p>
        </p:txBody>
      </p:sp>
      <p:pic>
        <p:nvPicPr>
          <p:cNvPr id="181" name="Google Shape;181;p24" descr="A close up of a map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5977065" y="1797869"/>
            <a:ext cx="3088800" cy="49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183" name="Google Shape;183;p24" descr="A picture containing object, clock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215865"/>
            <a:ext cx="6057331" cy="3525556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4"/>
          <p:cNvSpPr/>
          <p:nvPr/>
        </p:nvSpPr>
        <p:spPr>
          <a:xfrm>
            <a:off x="240845" y="4226622"/>
            <a:ext cx="3088800" cy="822900"/>
          </a:xfrm>
          <a:prstGeom prst="wedgeRectCallout">
            <a:avLst>
              <a:gd name="adj1" fmla="val 23504"/>
              <a:gd name="adj2" fmla="val -165965"/>
            </a:avLst>
          </a:prstGeom>
          <a:gradFill>
            <a:gsLst>
              <a:gs pos="0">
                <a:srgbClr val="9DD9C2"/>
              </a:gs>
              <a:gs pos="50000">
                <a:srgbClr val="90CFB7"/>
              </a:gs>
              <a:gs pos="100000">
                <a:srgbClr val="7BCCAF"/>
              </a:gs>
            </a:gsLst>
            <a:lin ang="5400012" scaled="0"/>
          </a:gra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2000" tIns="45700" rIns="720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Componentes organizados em 4 </a:t>
            </a:r>
            <a:r>
              <a:rPr lang="en-US" sz="1200" i="1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tiers</a:t>
            </a:r>
            <a:r>
              <a:rPr lang="en-US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 numa solução de distribuição de carga (com Nginx).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5" name="Google Shape;185;p24"/>
          <p:cNvSpPr/>
          <p:nvPr/>
        </p:nvSpPr>
        <p:spPr>
          <a:xfrm>
            <a:off x="2720067" y="5358736"/>
            <a:ext cx="3088800" cy="822900"/>
          </a:xfrm>
          <a:prstGeom prst="wedgeRectCallout">
            <a:avLst>
              <a:gd name="adj1" fmla="val 60773"/>
              <a:gd name="adj2" fmla="val -207640"/>
            </a:avLst>
          </a:prstGeom>
          <a:gradFill>
            <a:gsLst>
              <a:gs pos="0">
                <a:srgbClr val="9DD9C2"/>
              </a:gs>
              <a:gs pos="50000">
                <a:srgbClr val="90CFB7"/>
              </a:gs>
              <a:gs pos="100000">
                <a:srgbClr val="7BCCAF"/>
              </a:gs>
            </a:gsLst>
            <a:lin ang="5400012" scaled="0"/>
          </a:gra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2000" tIns="45700" rIns="720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Organização dos serviços de rede numa configuração de “reverse proxy”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6" name="Google Shape;186;p24"/>
          <p:cNvSpPr txBox="1">
            <a:spLocks noGrp="1"/>
          </p:cNvSpPr>
          <p:nvPr>
            <p:ph type="ftr" idx="11"/>
          </p:nvPr>
        </p:nvSpPr>
        <p:spPr>
          <a:xfrm>
            <a:off x="1785256" y="6356351"/>
            <a:ext cx="4329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5"/>
          <p:cNvSpPr txBox="1">
            <a:spLocks noGrp="1"/>
          </p:cNvSpPr>
          <p:nvPr>
            <p:ph type="title"/>
          </p:nvPr>
        </p:nvSpPr>
        <p:spPr>
          <a:xfrm>
            <a:off x="628650" y="136524"/>
            <a:ext cx="3791100" cy="14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Noto Sans"/>
              <a:buNone/>
            </a:pPr>
            <a:r>
              <a:rPr lang="en-US"/>
              <a:t>Elementos comuns</a:t>
            </a:r>
            <a:endParaRPr/>
          </a:p>
        </p:txBody>
      </p:sp>
      <p:sp>
        <p:nvSpPr>
          <p:cNvPr id="192" name="Google Shape;192;p25"/>
          <p:cNvSpPr>
            <a:spLocks noGrp="1"/>
          </p:cNvSpPr>
          <p:nvPr>
            <p:ph type="pic" idx="2"/>
          </p:nvPr>
        </p:nvSpPr>
        <p:spPr>
          <a:xfrm>
            <a:off x="4572000" y="583474"/>
            <a:ext cx="3942300" cy="567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PT"/>
          </a:p>
        </p:txBody>
      </p:sp>
      <p:sp>
        <p:nvSpPr>
          <p:cNvPr id="193" name="Google Shape;193;p25"/>
          <p:cNvSpPr txBox="1">
            <a:spLocks noGrp="1"/>
          </p:cNvSpPr>
          <p:nvPr>
            <p:ph type="body" idx="1"/>
          </p:nvPr>
        </p:nvSpPr>
        <p:spPr>
          <a:xfrm>
            <a:off x="629840" y="1812022"/>
            <a:ext cx="3791100" cy="43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en-US"/>
              <a:t>O que é que as “ilustrações” anteriores têm em comum?</a:t>
            </a:r>
            <a:endParaRPr/>
          </a:p>
          <a:p>
            <a:pPr marL="342900" lvl="1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Font typeface="Noto Sans Symbols"/>
              <a:buChar char="🡪"/>
            </a:pPr>
            <a:r>
              <a:rPr lang="en-US"/>
              <a:t>Explicar a organização de uma solução, em termos das suas “grandes peças” </a:t>
            </a:r>
            <a:r>
              <a:rPr lang="en-US" i="1"/>
              <a:t>(high-level), </a:t>
            </a:r>
            <a:r>
              <a:rPr lang="en-US"/>
              <a:t>representando uma distribuição de responsabilidades</a:t>
            </a:r>
            <a:endParaRPr i="1"/>
          </a:p>
          <a:p>
            <a:pPr marL="342900" lvl="1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Font typeface="Noto Sans Symbols"/>
              <a:buChar char="🡪"/>
            </a:pPr>
            <a:r>
              <a:rPr lang="en-US"/>
              <a:t>Mostrar as principais linhas de dependência (colaboração/comunicação) entre os módulos</a:t>
            </a:r>
            <a:endParaRPr/>
          </a:p>
          <a:p>
            <a:pPr marL="342900" lvl="1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Font typeface="Noto Sans Symbols"/>
              <a:buChar char="🡪"/>
            </a:pPr>
            <a:r>
              <a:rPr lang="en-US"/>
              <a:t>Equilíbrio entre “Caixa aberta” (ver para dentro da solução) e “Caixa fechada” (sem mostrar a organização interna dos módulos)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en-US"/>
              <a:t>Mas também há diferenças: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None/>
            </a:pPr>
            <a:r>
              <a:rPr lang="en-US"/>
              <a:t>🡪 Vista “lógica” (não mostra instalação) vs. vista de “sistema” (onde é que correm os componentes)</a:t>
            </a:r>
            <a:endParaRPr/>
          </a:p>
        </p:txBody>
      </p:sp>
      <p:sp>
        <p:nvSpPr>
          <p:cNvPr id="194" name="Google Shape;194;p25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195" name="Google Shape;195;p2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196" name="Google Shape;196;p25" descr="A close up of a green scree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57950" y="136524"/>
            <a:ext cx="2456330" cy="36171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5" descr="A picture containing object, clock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12266" y="4158777"/>
            <a:ext cx="3691369" cy="21484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6"/>
          <p:cNvSpPr txBox="1">
            <a:spLocks noGrp="1"/>
          </p:cNvSpPr>
          <p:nvPr>
            <p:ph type="title"/>
          </p:nvPr>
        </p:nvSpPr>
        <p:spPr>
          <a:xfrm>
            <a:off x="628650" y="136524"/>
            <a:ext cx="3791156" cy="1423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Noto Sans"/>
              <a:buNone/>
            </a:pPr>
            <a:r>
              <a:rPr lang="en-US"/>
              <a:t>O que é a arquitetura de software?</a:t>
            </a:r>
            <a:endParaRPr/>
          </a:p>
        </p:txBody>
      </p:sp>
      <p:sp>
        <p:nvSpPr>
          <p:cNvPr id="203" name="Google Shape;203;p26"/>
          <p:cNvSpPr txBox="1">
            <a:spLocks noGrp="1"/>
          </p:cNvSpPr>
          <p:nvPr>
            <p:ph type="body" idx="1"/>
          </p:nvPr>
        </p:nvSpPr>
        <p:spPr>
          <a:xfrm>
            <a:off x="628649" y="1800865"/>
            <a:ext cx="3791157" cy="438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en-US" b="1"/>
              <a:t>A Arquitectura é um Conjunto de Estruturas (de Software)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None/>
            </a:pPr>
            <a:r>
              <a:rPr lang="en-US" b="1"/>
              <a:t>Partes/elementos relevantes ligados por alguma relação.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en-US" b="1"/>
              <a:t>Arquitectura é uma Abstracção</a:t>
            </a:r>
            <a:endParaRPr b="1"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None/>
            </a:pPr>
            <a:r>
              <a:rPr lang="en-US" b="1"/>
              <a:t>Omite intencionalmente certas informações sobre os elementos que não são úteis para o raciocínio sobre o sistema</a:t>
            </a:r>
            <a:endParaRPr b="1"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None/>
            </a:pPr>
            <a:r>
              <a:rPr lang="en-US" b="1"/>
              <a:t>Detalhes privados dos elementos (têm a ver exclusivamente com a implementação interna) não são de arquitectura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en-US" b="1"/>
              <a:t>Arquitectura Inclui Comportamento</a:t>
            </a:r>
            <a:endParaRPr b="1"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None/>
            </a:pPr>
            <a:r>
              <a:rPr lang="en-US" b="1"/>
              <a:t>O comportamento dos elementos engloba a forma como interagem uns com os outros e com o ambiente.</a:t>
            </a:r>
            <a:endParaRPr/>
          </a:p>
        </p:txBody>
      </p:sp>
      <p:sp>
        <p:nvSpPr>
          <p:cNvPr id="204" name="Google Shape;204;p26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205" name="Google Shape;205;p2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206" name="Google Shape;206;p26" descr="Software Architecture in Practice, 4th Edition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4321" r="4321"/>
          <a:stretch/>
        </p:blipFill>
        <p:spPr>
          <a:xfrm>
            <a:off x="6261652" y="583474"/>
            <a:ext cx="2252507" cy="3242469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6"/>
          <p:cNvSpPr/>
          <p:nvPr/>
        </p:nvSpPr>
        <p:spPr>
          <a:xfrm>
            <a:off x="5045403" y="4411693"/>
            <a:ext cx="3468756" cy="1776727"/>
          </a:xfrm>
          <a:prstGeom prst="wedgeRoundRectCallout">
            <a:avLst>
              <a:gd name="adj1" fmla="val 2339"/>
              <a:gd name="adj2" fmla="val -91459"/>
              <a:gd name="adj3" fmla="val 16667"/>
            </a:avLst>
          </a:prstGeom>
          <a:solidFill>
            <a:srgbClr val="29AF8C">
              <a:alpha val="8470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i="1">
                <a:solidFill>
                  <a:srgbClr val="F2F2F2"/>
                </a:solidFill>
                <a:latin typeface="Noto Sans Light"/>
                <a:ea typeface="Noto Sans Light"/>
                <a:cs typeface="Noto Sans Light"/>
                <a:sym typeface="Noto Sans Light"/>
              </a:rPr>
              <a:t>The software architecture of a system is the set of structures needed to reason about the system. These structures comprise software elements, relations among them, and properties of both.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i="1">
              <a:solidFill>
                <a:srgbClr val="F2F2F2"/>
              </a:solidFill>
              <a:latin typeface="Noto Sans Light"/>
              <a:ea typeface="Noto Sans Light"/>
              <a:cs typeface="Noto Sans Light"/>
              <a:sym typeface="Noto Sans Ligh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i="1">
                <a:solidFill>
                  <a:srgbClr val="F2F2F2"/>
                </a:solidFill>
                <a:latin typeface="Noto Sans Light"/>
                <a:ea typeface="Noto Sans Light"/>
                <a:cs typeface="Noto Sans Light"/>
                <a:sym typeface="Noto Sans Light"/>
              </a:rPr>
              <a:t>Architecture is about reasoning-enabling structures.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5"/>
          <p:cNvSpPr txBox="1">
            <a:spLocks noGrp="1"/>
          </p:cNvSpPr>
          <p:nvPr>
            <p:ph type="title"/>
          </p:nvPr>
        </p:nvSpPr>
        <p:spPr>
          <a:xfrm>
            <a:off x="1785254" y="1709739"/>
            <a:ext cx="67254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Noto Sans"/>
              <a:buNone/>
            </a:pPr>
            <a:r>
              <a:rPr lang="en-US"/>
              <a:t>Vistas de arquitetura na UML</a:t>
            </a:r>
            <a:endParaRPr/>
          </a:p>
        </p:txBody>
      </p:sp>
      <p:sp>
        <p:nvSpPr>
          <p:cNvPr id="282" name="Google Shape;282;p35"/>
          <p:cNvSpPr txBox="1">
            <a:spLocks noGrp="1"/>
          </p:cNvSpPr>
          <p:nvPr>
            <p:ph type="body" idx="1"/>
          </p:nvPr>
        </p:nvSpPr>
        <p:spPr>
          <a:xfrm>
            <a:off x="1785256" y="4589464"/>
            <a:ext cx="6725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endParaRPr/>
          </a:p>
        </p:txBody>
      </p:sp>
      <p:sp>
        <p:nvSpPr>
          <p:cNvPr id="283" name="Google Shape;283;p35"/>
          <p:cNvSpPr txBox="1">
            <a:spLocks noGrp="1"/>
          </p:cNvSpPr>
          <p:nvPr>
            <p:ph type="ftr" idx="11"/>
          </p:nvPr>
        </p:nvSpPr>
        <p:spPr>
          <a:xfrm>
            <a:off x="1785256" y="6356351"/>
            <a:ext cx="4329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284" name="Google Shape;284;p3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6"/>
          <p:cNvSpPr txBox="1">
            <a:spLocks noGrp="1"/>
          </p:cNvSpPr>
          <p:nvPr>
            <p:ph type="title"/>
          </p:nvPr>
        </p:nvSpPr>
        <p:spPr>
          <a:xfrm>
            <a:off x="1785256" y="365126"/>
            <a:ext cx="67302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800"/>
              <a:buFont typeface="Noto Sans"/>
              <a:buNone/>
            </a:pPr>
            <a:endParaRPr/>
          </a:p>
        </p:txBody>
      </p:sp>
      <p:sp>
        <p:nvSpPr>
          <p:cNvPr id="290" name="Google Shape;290;p36"/>
          <p:cNvSpPr txBox="1">
            <a:spLocks noGrp="1"/>
          </p:cNvSpPr>
          <p:nvPr>
            <p:ph type="body" idx="1"/>
          </p:nvPr>
        </p:nvSpPr>
        <p:spPr>
          <a:xfrm>
            <a:off x="1785254" y="1371601"/>
            <a:ext cx="6730200" cy="48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endParaRPr/>
          </a:p>
        </p:txBody>
      </p:sp>
      <p:sp>
        <p:nvSpPr>
          <p:cNvPr id="291" name="Google Shape;291;p36"/>
          <p:cNvSpPr txBox="1">
            <a:spLocks noGrp="1"/>
          </p:cNvSpPr>
          <p:nvPr>
            <p:ph type="ftr" idx="11"/>
          </p:nvPr>
        </p:nvSpPr>
        <p:spPr>
          <a:xfrm>
            <a:off x="1785256" y="6356351"/>
            <a:ext cx="4329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292" name="Google Shape;292;p3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293" name="Google Shape;293;p36" descr="Package Diagram Hierarchy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65126"/>
            <a:ext cx="9144000" cy="550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7"/>
          <p:cNvSpPr txBox="1">
            <a:spLocks noGrp="1"/>
          </p:cNvSpPr>
          <p:nvPr>
            <p:ph type="title"/>
          </p:nvPr>
        </p:nvSpPr>
        <p:spPr>
          <a:xfrm>
            <a:off x="1785256" y="365126"/>
            <a:ext cx="67302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ct val="100000"/>
              <a:buFont typeface="Noto Sans"/>
              <a:buNone/>
            </a:pPr>
            <a:r>
              <a:rPr lang="en-US"/>
              <a:t>A arquitetura do sistema aborda diferentes perspetivas de análise</a:t>
            </a:r>
            <a:endParaRPr/>
          </a:p>
        </p:txBody>
      </p:sp>
      <p:sp>
        <p:nvSpPr>
          <p:cNvPr id="299" name="Google Shape;299;p37"/>
          <p:cNvSpPr txBox="1">
            <a:spLocks noGrp="1"/>
          </p:cNvSpPr>
          <p:nvPr>
            <p:ph type="body" idx="1"/>
          </p:nvPr>
        </p:nvSpPr>
        <p:spPr>
          <a:xfrm>
            <a:off x="1785254" y="1371601"/>
            <a:ext cx="6730200" cy="48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r>
              <a:rPr lang="en-US"/>
              <a:t>❶ Arquitetura lógica do software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</a:pPr>
            <a:r>
              <a:rPr lang="en-US"/>
              <a:t>Organização geral dos blocos de software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</a:pPr>
            <a:r>
              <a:rPr lang="en-US"/>
              <a:t>Independente da tecnologia de implementação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r>
              <a:rPr lang="en-US"/>
              <a:t>❷Arquitetura de componentes do software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</a:pPr>
            <a:r>
              <a:rPr lang="en-US"/>
              <a:t>Peças construídas com uma tecnologia concreta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</a:pPr>
            <a:r>
              <a:rPr lang="en-US"/>
              <a:t>Construção “modular” </a:t>
            </a:r>
            <a:endParaRPr/>
          </a:p>
          <a:p>
            <a:pPr marL="431999" lvl="2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</a:pPr>
            <a:r>
              <a:rPr lang="en-US"/>
              <a:t>E.g.: existem pré-feitos?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r>
              <a:rPr lang="en-US"/>
              <a:t>❸ Arquitetura de instalação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</a:pPr>
            <a:r>
              <a:rPr lang="en-US"/>
              <a:t>Visão dos equipamentos e configuração de produção (conectividade, distribuição,…)</a:t>
            </a:r>
            <a:endParaRPr/>
          </a:p>
        </p:txBody>
      </p:sp>
      <p:sp>
        <p:nvSpPr>
          <p:cNvPr id="300" name="Google Shape;300;p37"/>
          <p:cNvSpPr txBox="1">
            <a:spLocks noGrp="1"/>
          </p:cNvSpPr>
          <p:nvPr>
            <p:ph type="ftr" idx="11"/>
          </p:nvPr>
        </p:nvSpPr>
        <p:spPr>
          <a:xfrm>
            <a:off x="1785256" y="6356351"/>
            <a:ext cx="4329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301" name="Google Shape;301;p3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8"/>
          <p:cNvSpPr txBox="1">
            <a:spLocks noGrp="1"/>
          </p:cNvSpPr>
          <p:nvPr>
            <p:ph type="title"/>
          </p:nvPr>
        </p:nvSpPr>
        <p:spPr>
          <a:xfrm>
            <a:off x="566058" y="365127"/>
            <a:ext cx="7949400" cy="6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rPr lang="en-US"/>
              <a:t>Arquitetura lógica</a:t>
            </a:r>
            <a:endParaRPr/>
          </a:p>
        </p:txBody>
      </p:sp>
      <p:sp>
        <p:nvSpPr>
          <p:cNvPr id="307" name="Google Shape;307;p38"/>
          <p:cNvSpPr txBox="1">
            <a:spLocks noGrp="1"/>
          </p:cNvSpPr>
          <p:nvPr>
            <p:ph type="body" idx="1"/>
          </p:nvPr>
        </p:nvSpPr>
        <p:spPr>
          <a:xfrm>
            <a:off x="628650" y="1390650"/>
            <a:ext cx="3886200" cy="47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r>
              <a:rPr lang="en-US"/>
              <a:t>Organização geral da solução em blocos (</a:t>
            </a:r>
            <a:r>
              <a:rPr lang="en-US" i="1"/>
              <a:t>packages)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r>
              <a:rPr lang="en-US"/>
              <a:t>Os </a:t>
            </a:r>
            <a:r>
              <a:rPr lang="en-US" i="1"/>
              <a:t>packages </a:t>
            </a:r>
            <a:r>
              <a:rPr lang="en-US"/>
              <a:t> podem representar agrupamentos muito diferentes. 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</a:pPr>
            <a:r>
              <a:rPr lang="en-US"/>
              <a:t>E.g.:</a:t>
            </a:r>
            <a:endParaRPr/>
          </a:p>
          <a:p>
            <a:pPr marL="431999" lvl="2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</a:pPr>
            <a:r>
              <a:rPr lang="en-US" i="1"/>
              <a:t>Packages</a:t>
            </a:r>
            <a:r>
              <a:rPr lang="en-US"/>
              <a:t> num programa em Java</a:t>
            </a:r>
            <a:endParaRPr/>
          </a:p>
          <a:p>
            <a:pPr marL="431999" lvl="2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</a:pPr>
            <a:r>
              <a:rPr lang="en-US" i="1"/>
              <a:t>Packages </a:t>
            </a:r>
            <a:r>
              <a:rPr lang="en-US"/>
              <a:t>num modelo UML</a:t>
            </a:r>
            <a:endParaRPr/>
          </a:p>
          <a:p>
            <a:pPr marL="431999" lvl="2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</a:pPr>
            <a:r>
              <a:rPr lang="en-US"/>
              <a:t>Subsistemas/divisões do sistema sob especificação</a:t>
            </a:r>
            <a:endParaRPr/>
          </a:p>
        </p:txBody>
      </p:sp>
      <p:sp>
        <p:nvSpPr>
          <p:cNvPr id="308" name="Google Shape;308;p38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309" name="Google Shape;309;p3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310" name="Google Shape;310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20162" y="309591"/>
            <a:ext cx="3570317" cy="4605982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38"/>
          <p:cNvSpPr/>
          <p:nvPr/>
        </p:nvSpPr>
        <p:spPr>
          <a:xfrm>
            <a:off x="4999990" y="4949034"/>
            <a:ext cx="2916000" cy="966000"/>
          </a:xfrm>
          <a:prstGeom prst="wedgeRectCallout">
            <a:avLst>
              <a:gd name="adj1" fmla="val 1520"/>
              <a:gd name="adj2" fmla="val -189923"/>
            </a:avLst>
          </a:prstGeom>
          <a:gradFill>
            <a:gsLst>
              <a:gs pos="0">
                <a:srgbClr val="9DD9C2"/>
              </a:gs>
              <a:gs pos="50000">
                <a:srgbClr val="90CFB7"/>
              </a:gs>
              <a:gs pos="100000">
                <a:srgbClr val="7BCCAF"/>
              </a:gs>
            </a:gsLst>
            <a:lin ang="5400012" scaled="0"/>
          </a:gra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2000" tIns="45700" rIns="720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A ideia de package é usada em Java para formar grupos de entidades relacionadas.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Os </a:t>
            </a:r>
            <a:r>
              <a:rPr lang="en-US" sz="1200" i="1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packages </a:t>
            </a:r>
            <a:r>
              <a:rPr lang="en-US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podem ser hierárquicos.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9"/>
          <p:cNvSpPr txBox="1">
            <a:spLocks noGrp="1"/>
          </p:cNvSpPr>
          <p:nvPr>
            <p:ph type="title"/>
          </p:nvPr>
        </p:nvSpPr>
        <p:spPr>
          <a:xfrm>
            <a:off x="1785256" y="365127"/>
            <a:ext cx="6730200" cy="6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rPr lang="en-US"/>
              <a:t>Elementos do diagrama de pacotes</a:t>
            </a:r>
            <a:endParaRPr/>
          </a:p>
        </p:txBody>
      </p:sp>
      <p:sp>
        <p:nvSpPr>
          <p:cNvPr id="317" name="Google Shape;317;p39"/>
          <p:cNvSpPr txBox="1">
            <a:spLocks noGrp="1"/>
          </p:cNvSpPr>
          <p:nvPr>
            <p:ph type="ftr" idx="11"/>
          </p:nvPr>
        </p:nvSpPr>
        <p:spPr>
          <a:xfrm>
            <a:off x="1785256" y="6356351"/>
            <a:ext cx="4329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318" name="Google Shape;318;p3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319" name="Google Shape;319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00909" y="1411458"/>
            <a:ext cx="6314440" cy="4572194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9"/>
          <p:cNvSpPr/>
          <p:nvPr/>
        </p:nvSpPr>
        <p:spPr>
          <a:xfrm>
            <a:off x="129051" y="4921136"/>
            <a:ext cx="3097800" cy="1398900"/>
          </a:xfrm>
          <a:prstGeom prst="wedgeRectCallout">
            <a:avLst>
              <a:gd name="adj1" fmla="val 53986"/>
              <a:gd name="adj2" fmla="val -108005"/>
            </a:avLst>
          </a:prstGeom>
          <a:gradFill>
            <a:gsLst>
              <a:gs pos="0">
                <a:srgbClr val="9DD9C2"/>
              </a:gs>
              <a:gs pos="50000">
                <a:srgbClr val="90CFB7"/>
              </a:gs>
              <a:gs pos="100000">
                <a:srgbClr val="7BCCAF"/>
              </a:gs>
            </a:gsLst>
            <a:lin ang="5400012" scaled="0"/>
          </a:gra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2000" tIns="45700" rIns="720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O diagrama de pacotes mostra a disposição e organização dos elementos do modelo em “agrupamentos” de média a larga escala que podem ser utilizados para mostrar tanto a estrutura como as dependências entre sub-sistemas ou módulos.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0"/>
          <p:cNvSpPr txBox="1">
            <a:spLocks noGrp="1"/>
          </p:cNvSpPr>
          <p:nvPr>
            <p:ph type="title"/>
          </p:nvPr>
        </p:nvSpPr>
        <p:spPr>
          <a:xfrm>
            <a:off x="1785256" y="365127"/>
            <a:ext cx="6730200" cy="6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ct val="100000"/>
              <a:buFont typeface="Noto Sans"/>
              <a:buNone/>
            </a:pPr>
            <a:r>
              <a:rPr lang="en-US"/>
              <a:t>Comunicar a arquitetura lógica com pacotes (</a:t>
            </a:r>
            <a:r>
              <a:rPr lang="en-US" i="1"/>
              <a:t>packages)</a:t>
            </a:r>
            <a:endParaRPr/>
          </a:p>
        </p:txBody>
      </p:sp>
      <p:sp>
        <p:nvSpPr>
          <p:cNvPr id="326" name="Google Shape;326;p40"/>
          <p:cNvSpPr txBox="1">
            <a:spLocks noGrp="1"/>
          </p:cNvSpPr>
          <p:nvPr>
            <p:ph type="ftr" idx="11"/>
          </p:nvPr>
        </p:nvSpPr>
        <p:spPr>
          <a:xfrm>
            <a:off x="1785256" y="6356351"/>
            <a:ext cx="4329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327" name="Google Shape;327;p40"/>
          <p:cNvSpPr txBox="1"/>
          <p:nvPr/>
        </p:nvSpPr>
        <p:spPr>
          <a:xfrm>
            <a:off x="328120" y="1713172"/>
            <a:ext cx="4608600" cy="6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7950" tIns="53975" rIns="107950" bIns="539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"/>
              <a:buNone/>
            </a:pPr>
            <a:r>
              <a:rPr lang="en-US" sz="1800" u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“Contido em”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"/>
              <a:buNone/>
            </a:pPr>
            <a:r>
              <a:rPr lang="en-US" sz="1800" u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- duas representações alternativas</a:t>
            </a:r>
            <a:endParaRPr/>
          </a:p>
        </p:txBody>
      </p:sp>
      <p:sp>
        <p:nvSpPr>
          <p:cNvPr id="328" name="Google Shape;328;p4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329" name="Google Shape;329;p40" descr="Package Diagra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8120" y="2785112"/>
            <a:ext cx="8356600" cy="316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1"/>
          <p:cNvSpPr txBox="1">
            <a:spLocks noGrp="1"/>
          </p:cNvSpPr>
          <p:nvPr>
            <p:ph type="title"/>
          </p:nvPr>
        </p:nvSpPr>
        <p:spPr>
          <a:xfrm>
            <a:off x="1785256" y="365127"/>
            <a:ext cx="6730200" cy="6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rPr lang="en-US"/>
              <a:t>Associações entre pacotes</a:t>
            </a:r>
            <a:endParaRPr/>
          </a:p>
        </p:txBody>
      </p:sp>
      <p:sp>
        <p:nvSpPr>
          <p:cNvPr id="335" name="Google Shape;335;p41"/>
          <p:cNvSpPr txBox="1">
            <a:spLocks noGrp="1"/>
          </p:cNvSpPr>
          <p:nvPr>
            <p:ph type="ftr" idx="11"/>
          </p:nvPr>
        </p:nvSpPr>
        <p:spPr>
          <a:xfrm>
            <a:off x="1785256" y="6356351"/>
            <a:ext cx="4329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pic>
        <p:nvPicPr>
          <p:cNvPr id="336" name="Google Shape;336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0923" y="4188138"/>
            <a:ext cx="6619875" cy="1704975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pic>
        <p:nvPicPr>
          <p:cNvPr id="338" name="Google Shape;338;p41" descr="Package Diagram: Business composition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3854" y="1894112"/>
            <a:ext cx="6612598" cy="215602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41"/>
          <p:cNvSpPr/>
          <p:nvPr/>
        </p:nvSpPr>
        <p:spPr>
          <a:xfrm>
            <a:off x="5843016" y="472890"/>
            <a:ext cx="3169200" cy="2261400"/>
          </a:xfrm>
          <a:prstGeom prst="wedgeRectCallout">
            <a:avLst>
              <a:gd name="adj1" fmla="val -77965"/>
              <a:gd name="adj2" fmla="val 64552"/>
            </a:avLst>
          </a:prstGeom>
          <a:gradFill>
            <a:gsLst>
              <a:gs pos="0">
                <a:srgbClr val="9DD9C2"/>
              </a:gs>
              <a:gs pos="50000">
                <a:srgbClr val="90CFB7"/>
              </a:gs>
              <a:gs pos="100000">
                <a:srgbClr val="7BCCAF"/>
              </a:gs>
            </a:gsLst>
            <a:lin ang="5400012" scaled="0"/>
          </a:gra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2000" tIns="45700" rIns="720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Dependência 🡪 transmite a ideia que partes de um elemento (pacote) precisam de (usar) partes de outro.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A dependência é designada como uma relação fornecedor - cliente, em que o fornecedor proporciona algo ao cliente e, portanto, o cliente é, em certo sentido, incompleto, estando semanticamente ou funcionalmente dependente do(s) elemento(s) fornecedor(es)</a:t>
            </a:r>
            <a:endParaRPr/>
          </a:p>
        </p:txBody>
      </p:sp>
      <p:sp>
        <p:nvSpPr>
          <p:cNvPr id="340" name="Google Shape;340;p41"/>
          <p:cNvSpPr/>
          <p:nvPr/>
        </p:nvSpPr>
        <p:spPr>
          <a:xfrm>
            <a:off x="4572000" y="5840170"/>
            <a:ext cx="1982700" cy="698700"/>
          </a:xfrm>
          <a:prstGeom prst="wedgeRectCallout">
            <a:avLst>
              <a:gd name="adj1" fmla="val -80580"/>
              <a:gd name="adj2" fmla="val -69334"/>
            </a:avLst>
          </a:prstGeom>
          <a:gradFill>
            <a:gsLst>
              <a:gs pos="0">
                <a:srgbClr val="9DD9C2"/>
              </a:gs>
              <a:gs pos="50000">
                <a:srgbClr val="90CFB7"/>
              </a:gs>
              <a:gs pos="100000">
                <a:srgbClr val="7BCCAF"/>
              </a:gs>
            </a:gsLst>
            <a:lin ang="5400012" scaled="0"/>
          </a:gra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2000" tIns="45700" rIns="720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um pacote importa a funcionalidade de outro pacote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2"/>
          <p:cNvSpPr txBox="1">
            <a:spLocks noGrp="1"/>
          </p:cNvSpPr>
          <p:nvPr>
            <p:ph type="title"/>
          </p:nvPr>
        </p:nvSpPr>
        <p:spPr>
          <a:xfrm>
            <a:off x="1785256" y="365127"/>
            <a:ext cx="6730200" cy="6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endParaRPr/>
          </a:p>
        </p:txBody>
      </p:sp>
      <p:sp>
        <p:nvSpPr>
          <p:cNvPr id="346" name="Google Shape;346;p42"/>
          <p:cNvSpPr txBox="1">
            <a:spLocks noGrp="1"/>
          </p:cNvSpPr>
          <p:nvPr>
            <p:ph type="ftr" idx="11"/>
          </p:nvPr>
        </p:nvSpPr>
        <p:spPr>
          <a:xfrm>
            <a:off x="1785256" y="6356351"/>
            <a:ext cx="4329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pic>
        <p:nvPicPr>
          <p:cNvPr id="347" name="Google Shape;347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9512" y="116631"/>
            <a:ext cx="7920881" cy="6795953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42"/>
          <p:cNvSpPr txBox="1"/>
          <p:nvPr/>
        </p:nvSpPr>
        <p:spPr>
          <a:xfrm>
            <a:off x="4644008" y="219544"/>
            <a:ext cx="3168300" cy="12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7950" tIns="53975" rIns="107950" bIns="539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Noto Sans"/>
              <a:buNone/>
            </a:pPr>
            <a:r>
              <a:rPr lang="en-US" sz="1800" u="none">
                <a:solidFill>
                  <a:srgbClr val="0070C0"/>
                </a:solidFill>
                <a:latin typeface="Noto Sans"/>
                <a:ea typeface="Noto Sans"/>
                <a:cs typeface="Noto Sans"/>
                <a:sym typeface="Noto Sans"/>
              </a:rPr>
              <a:t>Exemplo de uma arquitetura lógica, identificando blocos e dependências (de uso).</a:t>
            </a:r>
            <a:endParaRPr/>
          </a:p>
        </p:txBody>
      </p:sp>
      <p:sp>
        <p:nvSpPr>
          <p:cNvPr id="349" name="Google Shape;349;p4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3"/>
          <p:cNvSpPr txBox="1">
            <a:spLocks noGrp="1"/>
          </p:cNvSpPr>
          <p:nvPr>
            <p:ph type="title"/>
          </p:nvPr>
        </p:nvSpPr>
        <p:spPr>
          <a:xfrm>
            <a:off x="1785256" y="365126"/>
            <a:ext cx="67302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ct val="100000"/>
              <a:buFont typeface="Noto Sans"/>
              <a:buNone/>
            </a:pPr>
            <a:r>
              <a:rPr lang="en-US"/>
              <a:t>A arquitetura do sistema aborda diferentes perspetivas de análise</a:t>
            </a:r>
            <a:endParaRPr/>
          </a:p>
        </p:txBody>
      </p:sp>
      <p:sp>
        <p:nvSpPr>
          <p:cNvPr id="355" name="Google Shape;355;p43"/>
          <p:cNvSpPr txBox="1">
            <a:spLocks noGrp="1"/>
          </p:cNvSpPr>
          <p:nvPr>
            <p:ph type="body" idx="1"/>
          </p:nvPr>
        </p:nvSpPr>
        <p:spPr>
          <a:xfrm>
            <a:off x="1785254" y="1371601"/>
            <a:ext cx="6730200" cy="48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r>
              <a:rPr lang="en-US"/>
              <a:t>❶ Arquitetura lógica do software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</a:pPr>
            <a:r>
              <a:rPr lang="en-US"/>
              <a:t>Organização geral dos blocos de software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</a:pPr>
            <a:r>
              <a:rPr lang="en-US"/>
              <a:t>Independente da tecnologia de implementação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r>
              <a:rPr lang="en-US">
                <a:highlight>
                  <a:srgbClr val="008080"/>
                </a:highlight>
              </a:rPr>
              <a:t>❷Arquitetura de componentes do software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</a:pPr>
            <a:r>
              <a:rPr lang="en-US"/>
              <a:t>Peças construídas com uma tecnologia concreta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</a:pPr>
            <a:r>
              <a:rPr lang="en-US"/>
              <a:t>Construção “modular” </a:t>
            </a:r>
            <a:endParaRPr/>
          </a:p>
          <a:p>
            <a:pPr marL="431999" lvl="2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</a:pPr>
            <a:r>
              <a:rPr lang="en-US"/>
              <a:t>E.g.: existem pré-feitos?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r>
              <a:rPr lang="en-US"/>
              <a:t>❸ Arquitetura de instalação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</a:pPr>
            <a:r>
              <a:rPr lang="en-US"/>
              <a:t>Visão dos equipamentos e configuração de produção (conectividade, distribuição,…)</a:t>
            </a:r>
            <a:endParaRPr/>
          </a:p>
        </p:txBody>
      </p:sp>
      <p:sp>
        <p:nvSpPr>
          <p:cNvPr id="356" name="Google Shape;356;p43"/>
          <p:cNvSpPr txBox="1">
            <a:spLocks noGrp="1"/>
          </p:cNvSpPr>
          <p:nvPr>
            <p:ph type="ftr" idx="11"/>
          </p:nvPr>
        </p:nvSpPr>
        <p:spPr>
          <a:xfrm>
            <a:off x="1785256" y="6356351"/>
            <a:ext cx="4329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357" name="Google Shape;357;p4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4"/>
          <p:cNvSpPr txBox="1">
            <a:spLocks noGrp="1"/>
          </p:cNvSpPr>
          <p:nvPr>
            <p:ph type="title"/>
          </p:nvPr>
        </p:nvSpPr>
        <p:spPr>
          <a:xfrm>
            <a:off x="566058" y="365127"/>
            <a:ext cx="7949400" cy="6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rPr lang="en-US"/>
              <a:t>Componente</a:t>
            </a:r>
            <a:endParaRPr/>
          </a:p>
        </p:txBody>
      </p:sp>
      <p:sp>
        <p:nvSpPr>
          <p:cNvPr id="363" name="Google Shape;363;p44"/>
          <p:cNvSpPr txBox="1">
            <a:spLocks noGrp="1"/>
          </p:cNvSpPr>
          <p:nvPr>
            <p:ph type="body" idx="1"/>
          </p:nvPr>
        </p:nvSpPr>
        <p:spPr>
          <a:xfrm>
            <a:off x="628650" y="1390650"/>
            <a:ext cx="3886200" cy="47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600"/>
              <a:buNone/>
            </a:pPr>
            <a:r>
              <a:rPr lang="en-US" sz="1600"/>
              <a:t>É normal dividir sistemas complexos em subsistemas mais geríveis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1600"/>
              <a:buNone/>
            </a:pPr>
            <a:r>
              <a:rPr lang="en-US" sz="1600"/>
              <a:t>O componente é uma peça substituível, reusável de um sistema maior, cujos detalhes de implementação são abstraídos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1600"/>
              <a:buNone/>
            </a:pPr>
            <a:r>
              <a:rPr lang="en-US" sz="1600"/>
              <a:t>A funcionalidade de um componente é descrita por um conjunto de interfaces fornecidos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1600"/>
              <a:buNone/>
            </a:pPr>
            <a:r>
              <a:rPr lang="en-US" sz="1600"/>
              <a:t>Para além de implementar, o componente pode requerer funcionalidades de outros</a:t>
            </a:r>
            <a:endParaRPr/>
          </a:p>
        </p:txBody>
      </p:sp>
      <p:sp>
        <p:nvSpPr>
          <p:cNvPr id="364" name="Google Shape;364;p44"/>
          <p:cNvSpPr txBox="1">
            <a:spLocks noGrp="1"/>
          </p:cNvSpPr>
          <p:nvPr>
            <p:ph type="body" idx="2"/>
          </p:nvPr>
        </p:nvSpPr>
        <p:spPr>
          <a:xfrm>
            <a:off x="4629150" y="1390650"/>
            <a:ext cx="3886200" cy="47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endParaRPr/>
          </a:p>
        </p:txBody>
      </p:sp>
      <p:sp>
        <p:nvSpPr>
          <p:cNvPr id="365" name="Google Shape;365;p44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pic>
        <p:nvPicPr>
          <p:cNvPr id="366" name="Google Shape;366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32040" y="1052736"/>
            <a:ext cx="3800475" cy="136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95594" y="3933057"/>
            <a:ext cx="4840393" cy="252028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4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Google Shape;373;p45" descr="https://slam1na.files.wordpress.com/2013/11/alllegopiece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15353" y="0"/>
            <a:ext cx="7293959" cy="4171968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45"/>
          <p:cNvSpPr txBox="1">
            <a:spLocks noGrp="1"/>
          </p:cNvSpPr>
          <p:nvPr>
            <p:ph type="title"/>
          </p:nvPr>
        </p:nvSpPr>
        <p:spPr>
          <a:xfrm>
            <a:off x="1785256" y="365127"/>
            <a:ext cx="6730200" cy="6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endParaRPr/>
          </a:p>
        </p:txBody>
      </p:sp>
      <p:sp>
        <p:nvSpPr>
          <p:cNvPr id="375" name="Google Shape;375;p45"/>
          <p:cNvSpPr txBox="1">
            <a:spLocks noGrp="1"/>
          </p:cNvSpPr>
          <p:nvPr>
            <p:ph type="ftr" idx="11"/>
          </p:nvPr>
        </p:nvSpPr>
        <p:spPr>
          <a:xfrm>
            <a:off x="1785256" y="6356351"/>
            <a:ext cx="4329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pic>
        <p:nvPicPr>
          <p:cNvPr id="376" name="Google Shape;376;p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4284777"/>
            <a:ext cx="9109313" cy="1453793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45"/>
          <p:cNvSpPr/>
          <p:nvPr/>
        </p:nvSpPr>
        <p:spPr>
          <a:xfrm>
            <a:off x="3943350" y="5800249"/>
            <a:ext cx="4572000" cy="7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Dennis, Alan, Barbara Wixom, David Tegarden. </a:t>
            </a:r>
            <a:r>
              <a:rPr lang="en-US" sz="1400" i="1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Systems Analysis and Design: An Object Oriented Approach with UML, 5th Edition</a:t>
            </a:r>
            <a:r>
              <a:rPr lang="en-US" sz="1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. Wiley.</a:t>
            </a:r>
            <a:endParaRPr sz="140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8" name="Google Shape;378;p4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6"/>
          <p:cNvSpPr txBox="1">
            <a:spLocks noGrp="1"/>
          </p:cNvSpPr>
          <p:nvPr>
            <p:ph type="title"/>
          </p:nvPr>
        </p:nvSpPr>
        <p:spPr>
          <a:xfrm>
            <a:off x="566058" y="365127"/>
            <a:ext cx="7949400" cy="6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rPr lang="en-US"/>
              <a:t>Arquitetura de componentes do software</a:t>
            </a:r>
            <a:endParaRPr/>
          </a:p>
        </p:txBody>
      </p:sp>
      <p:sp>
        <p:nvSpPr>
          <p:cNvPr id="384" name="Google Shape;384;p46"/>
          <p:cNvSpPr txBox="1">
            <a:spLocks noGrp="1"/>
          </p:cNvSpPr>
          <p:nvPr>
            <p:ph type="body" idx="1"/>
          </p:nvPr>
        </p:nvSpPr>
        <p:spPr>
          <a:xfrm>
            <a:off x="628650" y="1390650"/>
            <a:ext cx="3886200" cy="47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en-US"/>
              <a:t>Ao contrário do </a:t>
            </a:r>
            <a:r>
              <a:rPr lang="en-US" i="1"/>
              <a:t>package</a:t>
            </a:r>
            <a:r>
              <a:rPr lang="en-US"/>
              <a:t>, o componente é </a:t>
            </a:r>
            <a:r>
              <a:rPr lang="en-US" b="1">
                <a:solidFill>
                  <a:srgbClr val="51B400"/>
                </a:solidFill>
              </a:rPr>
              <a:t>uma peça tangível</a:t>
            </a:r>
            <a:r>
              <a:rPr lang="en-US"/>
              <a:t> da solução (e.g.: ficheiro, arquivo)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en-US"/>
              <a:t>Os componentes são implementados com tecnologia concreta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51B400"/>
              </a:buClr>
              <a:buSzPct val="100000"/>
              <a:buNone/>
            </a:pPr>
            <a:r>
              <a:rPr lang="en-US">
                <a:solidFill>
                  <a:srgbClr val="51B400"/>
                </a:solidFill>
              </a:rPr>
              <a:t>Propriedades</a:t>
            </a:r>
            <a:r>
              <a:rPr lang="en-US"/>
              <a:t> desejáveis: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None/>
            </a:pPr>
            <a:r>
              <a:rPr lang="en-US"/>
              <a:t>Encapsulamento (da estrutura interna)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None/>
            </a:pPr>
            <a:r>
              <a:rPr lang="en-US"/>
              <a:t>Reutilizável (em vários projetos)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None/>
            </a:pPr>
            <a:r>
              <a:rPr lang="en-US"/>
              <a:t>Substituível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en-US"/>
              <a:t>Candidatos naturais: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None/>
            </a:pPr>
            <a:r>
              <a:rPr lang="en-US"/>
              <a:t>Aspetos recorrentes em vários projetos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None/>
            </a:pPr>
            <a:r>
              <a:rPr lang="en-US"/>
              <a:t>Módulos que se podem obter pré-feitos ou disponibilizar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None/>
            </a:pPr>
            <a:r>
              <a:rPr lang="en-US"/>
              <a:t>Módulos definidos para ir de encontro às regras dos ambientes de execução (e.g.: módulos para a</a:t>
            </a:r>
            <a:r>
              <a:rPr lang="en-US" i="1"/>
              <a:t>pplication servers</a:t>
            </a:r>
            <a:r>
              <a:rPr lang="en-US"/>
              <a:t>)</a:t>
            </a:r>
            <a:endParaRPr/>
          </a:p>
        </p:txBody>
      </p:sp>
      <p:sp>
        <p:nvSpPr>
          <p:cNvPr id="385" name="Google Shape;385;p46"/>
          <p:cNvSpPr txBox="1">
            <a:spLocks noGrp="1"/>
          </p:cNvSpPr>
          <p:nvPr>
            <p:ph type="body" idx="2"/>
          </p:nvPr>
        </p:nvSpPr>
        <p:spPr>
          <a:xfrm>
            <a:off x="4629150" y="1390650"/>
            <a:ext cx="3886200" cy="47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endParaRPr/>
          </a:p>
        </p:txBody>
      </p:sp>
      <p:sp>
        <p:nvSpPr>
          <p:cNvPr id="386" name="Google Shape;386;p46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pic>
        <p:nvPicPr>
          <p:cNvPr id="387" name="Google Shape;387;p4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14483" y="2272606"/>
            <a:ext cx="3059550" cy="61191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46">
            <a:hlinkClick r:id="rId3"/>
          </p:cNvPr>
          <p:cNvSpPr/>
          <p:nvPr/>
        </p:nvSpPr>
        <p:spPr>
          <a:xfrm>
            <a:off x="4814483" y="3028152"/>
            <a:ext cx="3099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https://mvnrepository.com</a:t>
            </a:r>
            <a:endParaRPr/>
          </a:p>
        </p:txBody>
      </p:sp>
      <p:sp>
        <p:nvSpPr>
          <p:cNvPr id="389" name="Google Shape;389;p46"/>
          <p:cNvSpPr/>
          <p:nvPr/>
        </p:nvSpPr>
        <p:spPr>
          <a:xfrm>
            <a:off x="5582482" y="3841995"/>
            <a:ext cx="3099000" cy="738300"/>
          </a:xfrm>
          <a:prstGeom prst="wedgeRectCallout">
            <a:avLst>
              <a:gd name="adj1" fmla="val -34051"/>
              <a:gd name="adj2" fmla="val -104920"/>
            </a:avLst>
          </a:prstGeom>
          <a:gradFill>
            <a:gsLst>
              <a:gs pos="0">
                <a:srgbClr val="9DD9C2"/>
              </a:gs>
              <a:gs pos="50000">
                <a:srgbClr val="90CFB7"/>
              </a:gs>
              <a:gs pos="100000">
                <a:srgbClr val="7BCCAF"/>
              </a:gs>
            </a:gsLst>
            <a:lin ang="5400012" scaled="0"/>
          </a:gra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2000" tIns="45700" rIns="720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Uma “loja” de componentes, encapsulados, reutilizáveis e substituíveis.</a:t>
            </a:r>
            <a:endParaRPr/>
          </a:p>
        </p:txBody>
      </p:sp>
      <p:sp>
        <p:nvSpPr>
          <p:cNvPr id="390" name="Google Shape;390;p4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7"/>
          <p:cNvSpPr txBox="1">
            <a:spLocks noGrp="1"/>
          </p:cNvSpPr>
          <p:nvPr>
            <p:ph type="title"/>
          </p:nvPr>
        </p:nvSpPr>
        <p:spPr>
          <a:xfrm>
            <a:off x="6086474" y="485774"/>
            <a:ext cx="2829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1800"/>
              <a:buFont typeface="Noto Sans"/>
              <a:buNone/>
            </a:pPr>
            <a:r>
              <a:rPr lang="en-US"/>
              <a:t>Solução modular com componentes</a:t>
            </a:r>
            <a:endParaRPr/>
          </a:p>
        </p:txBody>
      </p:sp>
      <p:sp>
        <p:nvSpPr>
          <p:cNvPr id="396" name="Google Shape;396;p47"/>
          <p:cNvSpPr txBox="1">
            <a:spLocks noGrp="1"/>
          </p:cNvSpPr>
          <p:nvPr>
            <p:ph type="body" idx="1"/>
          </p:nvPr>
        </p:nvSpPr>
        <p:spPr>
          <a:xfrm>
            <a:off x="6086474" y="1293812"/>
            <a:ext cx="2829000" cy="48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rPr lang="en-US" sz="1800"/>
              <a:t>Com os componentes, pretende-se arquiteturas com baixo “coupling”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rPr lang="en-US" sz="1800"/>
              <a:t>A exposição da funcionalidade através de interfaces ajuda a separar o contrato da implementação</a:t>
            </a:r>
            <a:endParaRPr/>
          </a:p>
        </p:txBody>
      </p:sp>
      <p:sp>
        <p:nvSpPr>
          <p:cNvPr id="397" name="Google Shape;397;p47"/>
          <p:cNvSpPr txBox="1">
            <a:spLocks noGrp="1"/>
          </p:cNvSpPr>
          <p:nvPr>
            <p:ph type="ftr" idx="11"/>
          </p:nvPr>
        </p:nvSpPr>
        <p:spPr>
          <a:xfrm>
            <a:off x="1785256" y="6356351"/>
            <a:ext cx="4329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pic>
        <p:nvPicPr>
          <p:cNvPr id="398" name="Google Shape;398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1559" y="4365104"/>
            <a:ext cx="8249214" cy="1512168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47"/>
          <p:cNvSpPr/>
          <p:nvPr/>
        </p:nvSpPr>
        <p:spPr>
          <a:xfrm>
            <a:off x="6300192" y="6017547"/>
            <a:ext cx="1944300" cy="33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4920" y="22500"/>
                </a:moveTo>
                <a:lnTo>
                  <a:pt x="-20000" y="22500"/>
                </a:lnTo>
                <a:lnTo>
                  <a:pt x="-7802" y="-292274"/>
                </a:lnTo>
              </a:path>
            </a:pathLst>
          </a:custGeom>
          <a:solidFill>
            <a:schemeClr val="lt1"/>
          </a:solidFill>
          <a:ln w="19050" cap="flat" cmpd="sng">
            <a:solidFill>
              <a:srgbClr val="FF951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878B6"/>
              </a:buClr>
              <a:buSzPts val="1600"/>
              <a:buFont typeface="Noto Sans"/>
              <a:buNone/>
            </a:pPr>
            <a:r>
              <a:rPr lang="en-US" sz="1600" u="none">
                <a:solidFill>
                  <a:srgbClr val="7878B6"/>
                </a:solidFill>
                <a:latin typeface="Noto Sans"/>
                <a:ea typeface="Noto Sans"/>
                <a:cs typeface="Noto Sans"/>
                <a:sym typeface="Noto Sans"/>
              </a:rPr>
              <a:t>Fornece (</a:t>
            </a:r>
            <a:r>
              <a:rPr lang="en-US" sz="1600" i="1" u="none">
                <a:solidFill>
                  <a:srgbClr val="7878B6"/>
                </a:solidFill>
                <a:latin typeface="Noto Sans"/>
                <a:ea typeface="Noto Sans"/>
                <a:cs typeface="Noto Sans"/>
                <a:sym typeface="Noto Sans"/>
              </a:rPr>
              <a:t>provider)</a:t>
            </a:r>
            <a:endParaRPr sz="1600" u="none">
              <a:solidFill>
                <a:srgbClr val="7878B6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0" name="Google Shape;400;p47"/>
          <p:cNvSpPr/>
          <p:nvPr/>
        </p:nvSpPr>
        <p:spPr>
          <a:xfrm>
            <a:off x="3851920" y="6225322"/>
            <a:ext cx="1944300" cy="36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91025" y="9560"/>
                </a:moveTo>
                <a:lnTo>
                  <a:pt x="92876" y="-103663"/>
                </a:lnTo>
                <a:lnTo>
                  <a:pt x="80806" y="-337961"/>
                </a:lnTo>
              </a:path>
            </a:pathLst>
          </a:custGeom>
          <a:solidFill>
            <a:schemeClr val="lt1"/>
          </a:solidFill>
          <a:ln w="19050" cap="flat" cmpd="sng">
            <a:solidFill>
              <a:srgbClr val="FF951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878B6"/>
              </a:buClr>
              <a:buSzPts val="1600"/>
              <a:buFont typeface="Noto Sans"/>
              <a:buNone/>
            </a:pPr>
            <a:r>
              <a:rPr lang="en-US" sz="1600" u="none">
                <a:solidFill>
                  <a:srgbClr val="7878B6"/>
                </a:solidFill>
                <a:latin typeface="Noto Sans"/>
                <a:ea typeface="Noto Sans"/>
                <a:cs typeface="Noto Sans"/>
                <a:sym typeface="Noto Sans"/>
              </a:rPr>
              <a:t>Requer (</a:t>
            </a:r>
            <a:r>
              <a:rPr lang="en-US" sz="1600" i="1" u="none">
                <a:solidFill>
                  <a:srgbClr val="7878B6"/>
                </a:solidFill>
                <a:latin typeface="Noto Sans"/>
                <a:ea typeface="Noto Sans"/>
                <a:cs typeface="Noto Sans"/>
                <a:sym typeface="Noto Sans"/>
              </a:rPr>
              <a:t>consumer)</a:t>
            </a:r>
            <a:endParaRPr sz="1600" u="none">
              <a:solidFill>
                <a:srgbClr val="7878B6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1" name="Google Shape;401;p47"/>
          <p:cNvSpPr/>
          <p:nvPr/>
        </p:nvSpPr>
        <p:spPr>
          <a:xfrm>
            <a:off x="1907704" y="3336147"/>
            <a:ext cx="1944300" cy="33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4920" y="22500"/>
                </a:moveTo>
                <a:lnTo>
                  <a:pt x="-20000" y="22500"/>
                </a:lnTo>
                <a:lnTo>
                  <a:pt x="-21912" y="403241"/>
                </a:lnTo>
              </a:path>
            </a:pathLst>
          </a:custGeom>
          <a:solidFill>
            <a:schemeClr val="lt1"/>
          </a:solidFill>
          <a:ln w="19050" cap="flat" cmpd="sng">
            <a:solidFill>
              <a:srgbClr val="FF951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878B6"/>
              </a:buClr>
              <a:buSzPts val="1600"/>
              <a:buFont typeface="Noto Sans"/>
              <a:buNone/>
            </a:pPr>
            <a:r>
              <a:rPr lang="en-US" sz="1600" u="none">
                <a:solidFill>
                  <a:srgbClr val="7878B6"/>
                </a:solidFill>
                <a:latin typeface="Noto Sans"/>
                <a:ea typeface="Noto Sans"/>
                <a:cs typeface="Noto Sans"/>
                <a:sym typeface="Noto Sans"/>
              </a:rPr>
              <a:t>Fornece (</a:t>
            </a:r>
            <a:r>
              <a:rPr lang="en-US" sz="1600" i="1" u="none">
                <a:solidFill>
                  <a:srgbClr val="7878B6"/>
                </a:solidFill>
                <a:latin typeface="Noto Sans"/>
                <a:ea typeface="Noto Sans"/>
                <a:cs typeface="Noto Sans"/>
                <a:sym typeface="Noto Sans"/>
              </a:rPr>
              <a:t>provider)</a:t>
            </a:r>
            <a:endParaRPr sz="1600" u="none">
              <a:solidFill>
                <a:srgbClr val="7878B6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2" name="Google Shape;402;p4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8"/>
          <p:cNvSpPr txBox="1">
            <a:spLocks noGrp="1"/>
          </p:cNvSpPr>
          <p:nvPr>
            <p:ph type="title"/>
          </p:nvPr>
        </p:nvSpPr>
        <p:spPr>
          <a:xfrm>
            <a:off x="1785256" y="365127"/>
            <a:ext cx="6730200" cy="6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ct val="100000"/>
              <a:buFont typeface="Noto Sans"/>
              <a:buNone/>
            </a:pPr>
            <a:r>
              <a:rPr lang="en-US"/>
              <a:t>O mesmo modelo, notação ligeiramente diferente 1</a:t>
            </a:r>
            <a:endParaRPr/>
          </a:p>
        </p:txBody>
      </p:sp>
      <p:sp>
        <p:nvSpPr>
          <p:cNvPr id="408" name="Google Shape;408;p48"/>
          <p:cNvSpPr txBox="1">
            <a:spLocks noGrp="1"/>
          </p:cNvSpPr>
          <p:nvPr>
            <p:ph type="ftr" idx="11"/>
          </p:nvPr>
        </p:nvSpPr>
        <p:spPr>
          <a:xfrm>
            <a:off x="1785256" y="6356351"/>
            <a:ext cx="4329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pic>
        <p:nvPicPr>
          <p:cNvPr id="409" name="Google Shape;409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4921" y="1988840"/>
            <a:ext cx="9044364" cy="3888432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48"/>
          <p:cNvSpPr txBox="1"/>
          <p:nvPr/>
        </p:nvSpPr>
        <p:spPr>
          <a:xfrm>
            <a:off x="107504" y="4725144"/>
            <a:ext cx="4104600" cy="9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7950" tIns="53975" rIns="107950" bIns="539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Noto Sans"/>
              <a:buNone/>
            </a:pPr>
            <a:r>
              <a:rPr lang="en-US" sz="1800" u="none">
                <a:solidFill>
                  <a:srgbClr val="0070C0"/>
                </a:solidFill>
                <a:latin typeface="Noto Sans"/>
                <a:ea typeface="Noto Sans"/>
                <a:cs typeface="Noto Sans"/>
                <a:sym typeface="Noto Sans"/>
              </a:rPr>
              <a:t>Exemplo de uma arquitetura de componentes, identificando módulos e a articulação entre eles</a:t>
            </a:r>
            <a:endParaRPr/>
          </a:p>
        </p:txBody>
      </p:sp>
      <p:sp>
        <p:nvSpPr>
          <p:cNvPr id="411" name="Google Shape;411;p4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9"/>
          <p:cNvSpPr txBox="1">
            <a:spLocks noGrp="1"/>
          </p:cNvSpPr>
          <p:nvPr>
            <p:ph type="title"/>
          </p:nvPr>
        </p:nvSpPr>
        <p:spPr>
          <a:xfrm>
            <a:off x="1785256" y="365127"/>
            <a:ext cx="6730200" cy="6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ct val="100000"/>
              <a:buFont typeface="Noto Sans"/>
              <a:buNone/>
            </a:pPr>
            <a:r>
              <a:rPr lang="en-US"/>
              <a:t>O mesmo modelo, notação ligeiramente diferente 2</a:t>
            </a:r>
            <a:endParaRPr/>
          </a:p>
        </p:txBody>
      </p:sp>
      <p:sp>
        <p:nvSpPr>
          <p:cNvPr id="417" name="Google Shape;417;p49"/>
          <p:cNvSpPr txBox="1">
            <a:spLocks noGrp="1"/>
          </p:cNvSpPr>
          <p:nvPr>
            <p:ph type="ftr" idx="11"/>
          </p:nvPr>
        </p:nvSpPr>
        <p:spPr>
          <a:xfrm>
            <a:off x="1785256" y="6356351"/>
            <a:ext cx="4329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pic>
        <p:nvPicPr>
          <p:cNvPr id="418" name="Google Shape;418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53883" y="1389743"/>
            <a:ext cx="7592838" cy="4966608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49"/>
          <p:cNvSpPr txBox="1"/>
          <p:nvPr/>
        </p:nvSpPr>
        <p:spPr>
          <a:xfrm>
            <a:off x="6505311" y="1709762"/>
            <a:ext cx="2808300" cy="20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7950" tIns="53975" rIns="107950" bIns="539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Noto Sans"/>
              <a:buNone/>
            </a:pPr>
            <a:r>
              <a:rPr lang="en-US" sz="1800" u="none">
                <a:solidFill>
                  <a:srgbClr val="0070C0"/>
                </a:solidFill>
                <a:latin typeface="Noto Sans"/>
                <a:ea typeface="Noto Sans"/>
                <a:cs typeface="Noto Sans"/>
                <a:sym typeface="Noto Sans"/>
              </a:rPr>
              <a:t>Exemplo de uma arquitetura de componentes, identificando módulos e a articulação entre eles (notação alternativa)</a:t>
            </a:r>
            <a:endParaRPr/>
          </a:p>
        </p:txBody>
      </p:sp>
      <p:sp>
        <p:nvSpPr>
          <p:cNvPr id="420" name="Google Shape;420;p4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1"/>
          <p:cNvSpPr txBox="1">
            <a:spLocks noGrp="1"/>
          </p:cNvSpPr>
          <p:nvPr>
            <p:ph type="title"/>
          </p:nvPr>
        </p:nvSpPr>
        <p:spPr>
          <a:xfrm>
            <a:off x="1785256" y="365127"/>
            <a:ext cx="6730200" cy="6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rPr lang="en-US"/>
              <a:t>Notação “caixa fechada” / “caixa aberta”</a:t>
            </a:r>
            <a:endParaRPr/>
          </a:p>
        </p:txBody>
      </p:sp>
      <p:sp>
        <p:nvSpPr>
          <p:cNvPr id="436" name="Google Shape;436;p51"/>
          <p:cNvSpPr txBox="1">
            <a:spLocks noGrp="1"/>
          </p:cNvSpPr>
          <p:nvPr>
            <p:ph type="ftr" idx="11"/>
          </p:nvPr>
        </p:nvSpPr>
        <p:spPr>
          <a:xfrm>
            <a:off x="1785256" y="6356351"/>
            <a:ext cx="4329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pic>
        <p:nvPicPr>
          <p:cNvPr id="437" name="Google Shape;437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496" y="1438274"/>
            <a:ext cx="9021516" cy="4294981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5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1"/>
          <p:cNvSpPr txBox="1">
            <a:spLocks noGrp="1"/>
          </p:cNvSpPr>
          <p:nvPr>
            <p:ph type="title"/>
          </p:nvPr>
        </p:nvSpPr>
        <p:spPr>
          <a:xfrm>
            <a:off x="1785256" y="365127"/>
            <a:ext cx="6730093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rPr lang="en-US"/>
              <a:t>Caso de exemplo: componentes-conetores (C&amp;C)</a:t>
            </a:r>
            <a:endParaRPr/>
          </a:p>
        </p:txBody>
      </p:sp>
      <p:sp>
        <p:nvSpPr>
          <p:cNvPr id="249" name="Google Shape;249;p31"/>
          <p:cNvSpPr txBox="1">
            <a:spLocks noGrp="1"/>
          </p:cNvSpPr>
          <p:nvPr>
            <p:ph type="ftr" idx="11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250" name="Google Shape;250;p3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251" name="Google Shape;251;p31"/>
          <p:cNvSpPr txBox="1">
            <a:spLocks noGrp="1"/>
          </p:cNvSpPr>
          <p:nvPr>
            <p:ph type="subTitle" idx="1"/>
          </p:nvPr>
        </p:nvSpPr>
        <p:spPr>
          <a:xfrm>
            <a:off x="1785256" y="1038759"/>
            <a:ext cx="6730092" cy="589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en-US" i="1"/>
              <a:t>Service structure: </a:t>
            </a:r>
            <a:r>
              <a:rPr lang="en-US"/>
              <a:t>as unidades aqui são serviços (em runtime) que interoperam através de um mecanismo de coordenação</a:t>
            </a:r>
            <a:r>
              <a:rPr lang="en-US" i="1"/>
              <a:t>.</a:t>
            </a:r>
            <a:r>
              <a:rPr lang="en-US"/>
              <a:t> </a:t>
            </a:r>
            <a:endParaRPr/>
          </a:p>
        </p:txBody>
      </p:sp>
      <p:pic>
        <p:nvPicPr>
          <p:cNvPr id="252" name="Google Shape;252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920430"/>
            <a:ext cx="9144000" cy="3554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2"/>
          <p:cNvSpPr txBox="1">
            <a:spLocks noGrp="1"/>
          </p:cNvSpPr>
          <p:nvPr>
            <p:ph type="title"/>
          </p:nvPr>
        </p:nvSpPr>
        <p:spPr>
          <a:xfrm>
            <a:off x="1785256" y="365126"/>
            <a:ext cx="67302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ct val="100000"/>
              <a:buFont typeface="Noto Sans"/>
              <a:buNone/>
            </a:pPr>
            <a:r>
              <a:rPr lang="en-US"/>
              <a:t>A arquitetura do sistema aborda diferentes perspetivas de análise</a:t>
            </a:r>
            <a:endParaRPr/>
          </a:p>
        </p:txBody>
      </p:sp>
      <p:sp>
        <p:nvSpPr>
          <p:cNvPr id="444" name="Google Shape;444;p52"/>
          <p:cNvSpPr txBox="1">
            <a:spLocks noGrp="1"/>
          </p:cNvSpPr>
          <p:nvPr>
            <p:ph type="body" idx="1"/>
          </p:nvPr>
        </p:nvSpPr>
        <p:spPr>
          <a:xfrm>
            <a:off x="1785254" y="1371601"/>
            <a:ext cx="6730200" cy="48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r>
              <a:rPr lang="en-US"/>
              <a:t>❶ Arquitetura lógica do software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</a:pPr>
            <a:r>
              <a:rPr lang="en-US"/>
              <a:t>Organização geral dos blocos de software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</a:pPr>
            <a:r>
              <a:rPr lang="en-US"/>
              <a:t>Independente da tecnologia de implementação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r>
              <a:rPr lang="en-US"/>
              <a:t>❷Arquitetura de componentes do software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</a:pPr>
            <a:r>
              <a:rPr lang="en-US"/>
              <a:t>Peças construídas com uma tecnologia concreta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</a:pPr>
            <a:r>
              <a:rPr lang="en-US"/>
              <a:t>Construção “modular” </a:t>
            </a:r>
            <a:endParaRPr/>
          </a:p>
          <a:p>
            <a:pPr marL="431999" lvl="2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</a:pPr>
            <a:r>
              <a:rPr lang="en-US"/>
              <a:t>E.g.: existem pré-feitos?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r>
              <a:rPr lang="en-US">
                <a:highlight>
                  <a:srgbClr val="008080"/>
                </a:highlight>
              </a:rPr>
              <a:t>❸ Arquitetura de instalação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</a:pPr>
            <a:r>
              <a:rPr lang="en-US"/>
              <a:t>Visão dos equipamentos e configuração de produção (conectividade, distribuição,…)</a:t>
            </a:r>
            <a:endParaRPr/>
          </a:p>
        </p:txBody>
      </p:sp>
      <p:sp>
        <p:nvSpPr>
          <p:cNvPr id="445" name="Google Shape;445;p52"/>
          <p:cNvSpPr txBox="1">
            <a:spLocks noGrp="1"/>
          </p:cNvSpPr>
          <p:nvPr>
            <p:ph type="ftr" idx="11"/>
          </p:nvPr>
        </p:nvSpPr>
        <p:spPr>
          <a:xfrm>
            <a:off x="1785256" y="6356351"/>
            <a:ext cx="4329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446" name="Google Shape;446;p5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3"/>
          <p:cNvSpPr txBox="1">
            <a:spLocks noGrp="1"/>
          </p:cNvSpPr>
          <p:nvPr>
            <p:ph type="title"/>
          </p:nvPr>
        </p:nvSpPr>
        <p:spPr>
          <a:xfrm>
            <a:off x="566058" y="365127"/>
            <a:ext cx="7949400" cy="6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rPr lang="en-US"/>
              <a:t>Diagramas de instalação da UML</a:t>
            </a:r>
            <a:endParaRPr/>
          </a:p>
        </p:txBody>
      </p:sp>
      <p:sp>
        <p:nvSpPr>
          <p:cNvPr id="452" name="Google Shape;452;p53"/>
          <p:cNvSpPr txBox="1">
            <a:spLocks noGrp="1"/>
          </p:cNvSpPr>
          <p:nvPr>
            <p:ph type="body" idx="1"/>
          </p:nvPr>
        </p:nvSpPr>
        <p:spPr>
          <a:xfrm>
            <a:off x="628650" y="1390650"/>
            <a:ext cx="3886200" cy="47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400"/>
              <a:buNone/>
            </a:pPr>
            <a:r>
              <a:rPr lang="en-US" sz="2400"/>
              <a:t>Nós (</a:t>
            </a:r>
            <a:r>
              <a:rPr lang="en-US" sz="2400" i="1"/>
              <a:t>node</a:t>
            </a:r>
            <a:r>
              <a:rPr lang="en-US" sz="2400"/>
              <a:t>)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2000"/>
              <a:buNone/>
            </a:pPr>
            <a:r>
              <a:rPr lang="en-US" sz="2000"/>
              <a:t>Um equipamento de hardware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2400"/>
              <a:buNone/>
            </a:pPr>
            <a:r>
              <a:rPr lang="en-US" sz="2400"/>
              <a:t>Ambiente de execução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2000"/>
              <a:buNone/>
            </a:pPr>
            <a:r>
              <a:rPr lang="en-US" sz="2000"/>
              <a:t>Um ambiente externo à solução que proporciona o contexto necessário à sua execução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2000"/>
              <a:buNone/>
            </a:pPr>
            <a:r>
              <a:rPr lang="en-US" sz="2000"/>
              <a:t>E.g.: SO, servidor web, servidor aplicacional</a:t>
            </a:r>
            <a:endParaRPr/>
          </a:p>
        </p:txBody>
      </p:sp>
      <p:sp>
        <p:nvSpPr>
          <p:cNvPr id="453" name="Google Shape;453;p53"/>
          <p:cNvSpPr txBox="1">
            <a:spLocks noGrp="1"/>
          </p:cNvSpPr>
          <p:nvPr>
            <p:ph type="body" idx="2"/>
          </p:nvPr>
        </p:nvSpPr>
        <p:spPr>
          <a:xfrm>
            <a:off x="4629150" y="1390650"/>
            <a:ext cx="3886200" cy="47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400"/>
              <a:buNone/>
            </a:pPr>
            <a:r>
              <a:rPr lang="en-US" sz="2400"/>
              <a:t>Artefactos (</a:t>
            </a:r>
            <a:r>
              <a:rPr lang="en-US" sz="2400" i="1"/>
              <a:t>artifact)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2000"/>
              <a:buNone/>
            </a:pPr>
            <a:r>
              <a:rPr lang="en-US" sz="2000"/>
              <a:t>Ficheiros concretos que são executados ou utilizados pela solução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2000"/>
              <a:buNone/>
            </a:pPr>
            <a:r>
              <a:rPr lang="en-US" sz="2000"/>
              <a:t>E.g.: executáveis, bibliotecas, configurações, scripts</a:t>
            </a:r>
            <a:endParaRPr/>
          </a:p>
        </p:txBody>
      </p:sp>
      <p:sp>
        <p:nvSpPr>
          <p:cNvPr id="454" name="Google Shape;454;p53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455" name="Google Shape;455;p5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4"/>
          <p:cNvSpPr txBox="1">
            <a:spLocks noGrp="1"/>
          </p:cNvSpPr>
          <p:nvPr>
            <p:ph type="title"/>
          </p:nvPr>
        </p:nvSpPr>
        <p:spPr>
          <a:xfrm>
            <a:off x="1785256" y="365127"/>
            <a:ext cx="6730200" cy="6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endParaRPr/>
          </a:p>
        </p:txBody>
      </p:sp>
      <p:sp>
        <p:nvSpPr>
          <p:cNvPr id="461" name="Google Shape;461;p54"/>
          <p:cNvSpPr txBox="1">
            <a:spLocks noGrp="1"/>
          </p:cNvSpPr>
          <p:nvPr>
            <p:ph type="ftr" idx="11"/>
          </p:nvPr>
        </p:nvSpPr>
        <p:spPr>
          <a:xfrm>
            <a:off x="1785256" y="6356351"/>
            <a:ext cx="4329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pic>
        <p:nvPicPr>
          <p:cNvPr id="462" name="Google Shape;462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2669" y="0"/>
            <a:ext cx="819866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5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5"/>
          <p:cNvSpPr txBox="1">
            <a:spLocks noGrp="1"/>
          </p:cNvSpPr>
          <p:nvPr>
            <p:ph type="title"/>
          </p:nvPr>
        </p:nvSpPr>
        <p:spPr>
          <a:xfrm>
            <a:off x="1785256" y="365127"/>
            <a:ext cx="6730200" cy="6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rPr lang="en-US"/>
              <a:t>Os artefactos são executados em nós</a:t>
            </a:r>
            <a:endParaRPr/>
          </a:p>
        </p:txBody>
      </p:sp>
      <p:sp>
        <p:nvSpPr>
          <p:cNvPr id="469" name="Google Shape;469;p55"/>
          <p:cNvSpPr txBox="1">
            <a:spLocks noGrp="1"/>
          </p:cNvSpPr>
          <p:nvPr>
            <p:ph type="ftr" idx="11"/>
          </p:nvPr>
        </p:nvSpPr>
        <p:spPr>
          <a:xfrm>
            <a:off x="1785256" y="6356351"/>
            <a:ext cx="4329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pic>
        <p:nvPicPr>
          <p:cNvPr id="470" name="Google Shape;470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71799" y="4149080"/>
            <a:ext cx="5663513" cy="13681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5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1560" y="1268760"/>
            <a:ext cx="2952328" cy="2346722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55"/>
          <p:cNvSpPr txBox="1"/>
          <p:nvPr/>
        </p:nvSpPr>
        <p:spPr>
          <a:xfrm>
            <a:off x="5713690" y="1426094"/>
            <a:ext cx="2808300" cy="3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7950" tIns="53975" rIns="107950" bIns="539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"/>
              <a:buNone/>
            </a:pPr>
            <a:r>
              <a:rPr lang="en-US" sz="18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Notações alternativas.</a:t>
            </a:r>
            <a:endParaRPr/>
          </a:p>
        </p:txBody>
      </p:sp>
      <p:sp>
        <p:nvSpPr>
          <p:cNvPr id="473" name="Google Shape;473;p5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6"/>
          <p:cNvSpPr txBox="1">
            <a:spLocks noGrp="1"/>
          </p:cNvSpPr>
          <p:nvPr>
            <p:ph type="title"/>
          </p:nvPr>
        </p:nvSpPr>
        <p:spPr>
          <a:xfrm>
            <a:off x="1785256" y="365127"/>
            <a:ext cx="6730200" cy="6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rPr lang="en-US"/>
              <a:t>Rastreabilidade até aos componentes</a:t>
            </a:r>
            <a:endParaRPr/>
          </a:p>
        </p:txBody>
      </p:sp>
      <p:sp>
        <p:nvSpPr>
          <p:cNvPr id="479" name="Google Shape;479;p56"/>
          <p:cNvSpPr txBox="1">
            <a:spLocks noGrp="1"/>
          </p:cNvSpPr>
          <p:nvPr>
            <p:ph type="ftr" idx="11"/>
          </p:nvPr>
        </p:nvSpPr>
        <p:spPr>
          <a:xfrm>
            <a:off x="1785256" y="6356351"/>
            <a:ext cx="4329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pic>
        <p:nvPicPr>
          <p:cNvPr id="480" name="Google Shape;480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7544" y="1916832"/>
            <a:ext cx="5495925" cy="1038225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56"/>
          <p:cNvSpPr txBox="1"/>
          <p:nvPr/>
        </p:nvSpPr>
        <p:spPr>
          <a:xfrm>
            <a:off x="467544" y="3284984"/>
            <a:ext cx="5544600" cy="6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7950" tIns="53975" rIns="107950" bIns="539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"/>
              <a:buNone/>
            </a:pPr>
            <a:r>
              <a:rPr lang="en-US" sz="1800" u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A relação “manifest” permite associar componentes a artefactos.</a:t>
            </a:r>
            <a:endParaRPr/>
          </a:p>
        </p:txBody>
      </p:sp>
      <p:sp>
        <p:nvSpPr>
          <p:cNvPr id="482" name="Google Shape;482;p5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57"/>
          <p:cNvSpPr txBox="1">
            <a:spLocks noGrp="1"/>
          </p:cNvSpPr>
          <p:nvPr>
            <p:ph type="title"/>
          </p:nvPr>
        </p:nvSpPr>
        <p:spPr>
          <a:xfrm>
            <a:off x="1785256" y="365127"/>
            <a:ext cx="6730200" cy="6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endParaRPr/>
          </a:p>
        </p:txBody>
      </p:sp>
      <p:sp>
        <p:nvSpPr>
          <p:cNvPr id="488" name="Google Shape;488;p57"/>
          <p:cNvSpPr txBox="1">
            <a:spLocks noGrp="1"/>
          </p:cNvSpPr>
          <p:nvPr>
            <p:ph type="ftr" idx="11"/>
          </p:nvPr>
        </p:nvSpPr>
        <p:spPr>
          <a:xfrm>
            <a:off x="1785256" y="6356351"/>
            <a:ext cx="4329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pic>
        <p:nvPicPr>
          <p:cNvPr id="489" name="Google Shape;489;p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672" y="18248"/>
            <a:ext cx="8219213" cy="6641896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57"/>
          <p:cNvSpPr txBox="1"/>
          <p:nvPr/>
        </p:nvSpPr>
        <p:spPr>
          <a:xfrm>
            <a:off x="179512" y="5373216"/>
            <a:ext cx="4536600" cy="9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7950" tIns="53975" rIns="107950" bIns="539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Noto Sans"/>
              <a:buNone/>
            </a:pPr>
            <a:r>
              <a:rPr lang="en-US" sz="1800" u="none">
                <a:solidFill>
                  <a:srgbClr val="0070C0"/>
                </a:solidFill>
                <a:latin typeface="Noto Sans"/>
                <a:ea typeface="Noto Sans"/>
                <a:cs typeface="Noto Sans"/>
                <a:sym typeface="Noto Sans"/>
              </a:rPr>
              <a:t>Exemplo de uma arquitetura de instalação, identificando nós, artefactos e ambientes de execução.</a:t>
            </a:r>
            <a:endParaRPr/>
          </a:p>
        </p:txBody>
      </p:sp>
      <p:sp>
        <p:nvSpPr>
          <p:cNvPr id="491" name="Google Shape;491;p57"/>
          <p:cNvSpPr/>
          <p:nvPr/>
        </p:nvSpPr>
        <p:spPr>
          <a:xfrm>
            <a:off x="3563888" y="548680"/>
            <a:ext cx="1944300" cy="33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4920" y="22500"/>
                </a:moveTo>
                <a:lnTo>
                  <a:pt x="-20000" y="22500"/>
                </a:lnTo>
                <a:lnTo>
                  <a:pt x="-61418" y="-10834"/>
                </a:lnTo>
              </a:path>
            </a:pathLst>
          </a:custGeom>
          <a:solidFill>
            <a:schemeClr val="lt1"/>
          </a:solidFill>
          <a:ln w="19050" cap="flat" cmpd="sng">
            <a:solidFill>
              <a:srgbClr val="FF951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878B6"/>
              </a:buClr>
              <a:buSzPts val="1600"/>
              <a:buFont typeface="Noto Sans"/>
              <a:buNone/>
            </a:pPr>
            <a:r>
              <a:rPr lang="en-US" sz="1600" u="none">
                <a:solidFill>
                  <a:srgbClr val="7878B6"/>
                </a:solidFill>
                <a:latin typeface="Noto Sans"/>
                <a:ea typeface="Noto Sans"/>
                <a:cs typeface="Noto Sans"/>
                <a:sym typeface="Noto Sans"/>
              </a:rPr>
              <a:t>Nó</a:t>
            </a:r>
            <a:endParaRPr/>
          </a:p>
        </p:txBody>
      </p:sp>
      <p:sp>
        <p:nvSpPr>
          <p:cNvPr id="492" name="Google Shape;492;p57"/>
          <p:cNvSpPr/>
          <p:nvPr/>
        </p:nvSpPr>
        <p:spPr>
          <a:xfrm>
            <a:off x="3059832" y="1832834"/>
            <a:ext cx="2376300" cy="36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4920" y="22500"/>
                </a:moveTo>
                <a:lnTo>
                  <a:pt x="-20000" y="22500"/>
                </a:lnTo>
                <a:lnTo>
                  <a:pt x="-29198" y="324320"/>
                </a:lnTo>
              </a:path>
            </a:pathLst>
          </a:custGeom>
          <a:solidFill>
            <a:schemeClr val="lt1"/>
          </a:solidFill>
          <a:ln w="19050" cap="flat" cmpd="sng">
            <a:solidFill>
              <a:srgbClr val="FF951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878B6"/>
              </a:buClr>
              <a:buSzPts val="1600"/>
              <a:buFont typeface="Noto Sans"/>
              <a:buNone/>
            </a:pPr>
            <a:r>
              <a:rPr lang="en-US" sz="1600" u="none">
                <a:solidFill>
                  <a:srgbClr val="7878B6"/>
                </a:solidFill>
                <a:latin typeface="Noto Sans"/>
                <a:ea typeface="Noto Sans"/>
                <a:cs typeface="Noto Sans"/>
                <a:sym typeface="Noto Sans"/>
              </a:rPr>
              <a:t>Nó especializado (</a:t>
            </a:r>
            <a:r>
              <a:rPr lang="en-US" sz="1600" i="1" u="none">
                <a:solidFill>
                  <a:srgbClr val="7878B6"/>
                </a:solidFill>
                <a:latin typeface="Noto Sans"/>
                <a:ea typeface="Noto Sans"/>
                <a:cs typeface="Noto Sans"/>
                <a:sym typeface="Noto Sans"/>
              </a:rPr>
              <a:t>device</a:t>
            </a:r>
            <a:r>
              <a:rPr lang="en-US" sz="1600" u="none">
                <a:solidFill>
                  <a:srgbClr val="7878B6"/>
                </a:solidFill>
                <a:latin typeface="Noto Sans"/>
                <a:ea typeface="Noto Sans"/>
                <a:cs typeface="Noto Sans"/>
                <a:sym typeface="Noto Sans"/>
              </a:rPr>
              <a:t>)</a:t>
            </a:r>
            <a:endParaRPr/>
          </a:p>
        </p:txBody>
      </p:sp>
      <p:sp>
        <p:nvSpPr>
          <p:cNvPr id="493" name="Google Shape;493;p57"/>
          <p:cNvSpPr/>
          <p:nvPr/>
        </p:nvSpPr>
        <p:spPr>
          <a:xfrm>
            <a:off x="3131840" y="2637217"/>
            <a:ext cx="2376300" cy="33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4920" y="22500"/>
                </a:moveTo>
                <a:lnTo>
                  <a:pt x="-20000" y="22500"/>
                </a:lnTo>
                <a:lnTo>
                  <a:pt x="-29198" y="324320"/>
                </a:lnTo>
              </a:path>
            </a:pathLst>
          </a:custGeom>
          <a:solidFill>
            <a:schemeClr val="lt1"/>
          </a:solidFill>
          <a:ln w="19050" cap="flat" cmpd="sng">
            <a:solidFill>
              <a:srgbClr val="FF951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878B6"/>
              </a:buClr>
              <a:buSzPts val="1600"/>
              <a:buFont typeface="Noto Sans"/>
              <a:buNone/>
            </a:pPr>
            <a:r>
              <a:rPr lang="en-US" sz="1600" u="none">
                <a:solidFill>
                  <a:srgbClr val="7878B6"/>
                </a:solidFill>
                <a:latin typeface="Noto Sans"/>
                <a:ea typeface="Noto Sans"/>
                <a:cs typeface="Noto Sans"/>
                <a:sym typeface="Noto Sans"/>
              </a:rPr>
              <a:t>Ambiente de execução</a:t>
            </a:r>
            <a:endParaRPr/>
          </a:p>
        </p:txBody>
      </p:sp>
      <p:sp>
        <p:nvSpPr>
          <p:cNvPr id="494" name="Google Shape;494;p57"/>
          <p:cNvSpPr/>
          <p:nvPr/>
        </p:nvSpPr>
        <p:spPr>
          <a:xfrm>
            <a:off x="1926572" y="4941168"/>
            <a:ext cx="2376300" cy="33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4920" y="22500"/>
                </a:moveTo>
                <a:lnTo>
                  <a:pt x="-20000" y="22500"/>
                </a:lnTo>
                <a:lnTo>
                  <a:pt x="-26428" y="-96223"/>
                </a:lnTo>
              </a:path>
            </a:pathLst>
          </a:custGeom>
          <a:solidFill>
            <a:schemeClr val="lt1"/>
          </a:solidFill>
          <a:ln w="19050" cap="flat" cmpd="sng">
            <a:solidFill>
              <a:srgbClr val="FF951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878B6"/>
              </a:buClr>
              <a:buSzPts val="1600"/>
              <a:buFont typeface="Noto Sans"/>
              <a:buNone/>
            </a:pPr>
            <a:r>
              <a:rPr lang="en-US" sz="1600" u="none">
                <a:solidFill>
                  <a:srgbClr val="7878B6"/>
                </a:solidFill>
                <a:latin typeface="Noto Sans"/>
                <a:ea typeface="Noto Sans"/>
                <a:cs typeface="Noto Sans"/>
                <a:sym typeface="Noto Sans"/>
              </a:rPr>
              <a:t>Artefacto</a:t>
            </a:r>
            <a:endParaRPr/>
          </a:p>
        </p:txBody>
      </p:sp>
      <p:sp>
        <p:nvSpPr>
          <p:cNvPr id="495" name="Google Shape;495;p57"/>
          <p:cNvSpPr/>
          <p:nvPr/>
        </p:nvSpPr>
        <p:spPr>
          <a:xfrm>
            <a:off x="6588224" y="5171244"/>
            <a:ext cx="1584300" cy="633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4920" y="22500"/>
                </a:moveTo>
                <a:lnTo>
                  <a:pt x="-20000" y="22500"/>
                </a:lnTo>
                <a:lnTo>
                  <a:pt x="-27814" y="46326"/>
                </a:lnTo>
              </a:path>
            </a:pathLst>
          </a:custGeom>
          <a:solidFill>
            <a:schemeClr val="lt1"/>
          </a:solidFill>
          <a:ln w="19050" cap="flat" cmpd="sng">
            <a:solidFill>
              <a:srgbClr val="FF951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878B6"/>
              </a:buClr>
              <a:buSzPts val="1600"/>
              <a:buFont typeface="Noto Sans"/>
              <a:buNone/>
            </a:pPr>
            <a:r>
              <a:rPr lang="en-US" sz="1600" u="none">
                <a:solidFill>
                  <a:srgbClr val="7878B6"/>
                </a:solidFill>
                <a:latin typeface="Noto Sans"/>
                <a:ea typeface="Noto Sans"/>
                <a:cs typeface="Noto Sans"/>
                <a:sym typeface="Noto Sans"/>
              </a:rPr>
              <a:t>Canal de comunicação</a:t>
            </a:r>
            <a:endParaRPr/>
          </a:p>
        </p:txBody>
      </p:sp>
      <p:sp>
        <p:nvSpPr>
          <p:cNvPr id="496" name="Google Shape;496;p5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8"/>
          <p:cNvSpPr txBox="1">
            <a:spLocks noGrp="1"/>
          </p:cNvSpPr>
          <p:nvPr>
            <p:ph type="title"/>
          </p:nvPr>
        </p:nvSpPr>
        <p:spPr>
          <a:xfrm>
            <a:off x="1785256" y="365127"/>
            <a:ext cx="6730200" cy="6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rPr lang="en-US"/>
              <a:t>Exemplos (diagrama de instalação)</a:t>
            </a:r>
            <a:endParaRPr/>
          </a:p>
        </p:txBody>
      </p:sp>
      <p:pic>
        <p:nvPicPr>
          <p:cNvPr id="502" name="Google Shape;502;p58" descr="Diagram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6653" y="1401944"/>
            <a:ext cx="8378334" cy="4345713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58"/>
          <p:cNvSpPr txBox="1">
            <a:spLocks noGrp="1"/>
          </p:cNvSpPr>
          <p:nvPr>
            <p:ph type="ftr" idx="11"/>
          </p:nvPr>
        </p:nvSpPr>
        <p:spPr>
          <a:xfrm>
            <a:off x="1785256" y="6356351"/>
            <a:ext cx="4329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504" name="Google Shape;504;p5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59"/>
          <p:cNvSpPr txBox="1">
            <a:spLocks noGrp="1"/>
          </p:cNvSpPr>
          <p:nvPr>
            <p:ph type="title"/>
          </p:nvPr>
        </p:nvSpPr>
        <p:spPr>
          <a:xfrm>
            <a:off x="1785256" y="365127"/>
            <a:ext cx="6730200" cy="6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rPr lang="en-US"/>
              <a:t>Vista de módulos 🡪 na UML: d. de pacotes</a:t>
            </a:r>
            <a:endParaRPr/>
          </a:p>
        </p:txBody>
      </p:sp>
      <p:sp>
        <p:nvSpPr>
          <p:cNvPr id="510" name="Google Shape;510;p59"/>
          <p:cNvSpPr txBox="1">
            <a:spLocks noGrp="1"/>
          </p:cNvSpPr>
          <p:nvPr>
            <p:ph type="ftr" idx="11"/>
          </p:nvPr>
        </p:nvSpPr>
        <p:spPr>
          <a:xfrm>
            <a:off x="3537376" y="6220776"/>
            <a:ext cx="4329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pic>
        <p:nvPicPr>
          <p:cNvPr id="511" name="Google Shape;511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11534" y="1045107"/>
            <a:ext cx="6800646" cy="5834815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59"/>
          <p:cNvSpPr txBox="1"/>
          <p:nvPr/>
        </p:nvSpPr>
        <p:spPr>
          <a:xfrm>
            <a:off x="4318298" y="1256575"/>
            <a:ext cx="3168300" cy="12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7950" tIns="53975" rIns="107950" bIns="539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Noto Sans"/>
              <a:buNone/>
            </a:pPr>
            <a:r>
              <a:rPr lang="en-US" sz="1800" u="none">
                <a:solidFill>
                  <a:srgbClr val="0070C0"/>
                </a:solidFill>
                <a:latin typeface="Noto Sans"/>
                <a:ea typeface="Noto Sans"/>
                <a:cs typeface="Noto Sans"/>
                <a:sym typeface="Noto Sans"/>
              </a:rPr>
              <a:t>Exemplo de uma arquitetura lógica, identificando blocos e dependências (de uso).</a:t>
            </a:r>
            <a:endParaRPr/>
          </a:p>
        </p:txBody>
      </p:sp>
      <p:sp>
        <p:nvSpPr>
          <p:cNvPr id="513" name="Google Shape;513;p5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60"/>
          <p:cNvSpPr txBox="1">
            <a:spLocks noGrp="1"/>
          </p:cNvSpPr>
          <p:nvPr>
            <p:ph type="title"/>
          </p:nvPr>
        </p:nvSpPr>
        <p:spPr>
          <a:xfrm>
            <a:off x="1785256" y="365127"/>
            <a:ext cx="6730200" cy="6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rPr lang="en-US"/>
              <a:t>Vista C&amp;C 🡪 na UML: d. componentes</a:t>
            </a:r>
            <a:endParaRPr/>
          </a:p>
        </p:txBody>
      </p:sp>
      <p:sp>
        <p:nvSpPr>
          <p:cNvPr id="519" name="Google Shape;519;p60"/>
          <p:cNvSpPr txBox="1">
            <a:spLocks noGrp="1"/>
          </p:cNvSpPr>
          <p:nvPr>
            <p:ph type="ftr" idx="11"/>
          </p:nvPr>
        </p:nvSpPr>
        <p:spPr>
          <a:xfrm>
            <a:off x="1785256" y="6356351"/>
            <a:ext cx="4329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pic>
        <p:nvPicPr>
          <p:cNvPr id="520" name="Google Shape;520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4921" y="1988840"/>
            <a:ext cx="9044364" cy="3888432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60"/>
          <p:cNvSpPr txBox="1"/>
          <p:nvPr/>
        </p:nvSpPr>
        <p:spPr>
          <a:xfrm>
            <a:off x="107504" y="4725144"/>
            <a:ext cx="4104600" cy="9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7950" tIns="53975" rIns="107950" bIns="539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Noto Sans"/>
              <a:buNone/>
            </a:pPr>
            <a:r>
              <a:rPr lang="en-US" sz="1800" u="none">
                <a:solidFill>
                  <a:srgbClr val="0070C0"/>
                </a:solidFill>
                <a:latin typeface="Noto Sans"/>
                <a:ea typeface="Noto Sans"/>
                <a:cs typeface="Noto Sans"/>
                <a:sym typeface="Noto Sans"/>
              </a:rPr>
              <a:t>Exemplo de uma arquitetura de componentes, identificando módulos e a articulação entre eles</a:t>
            </a:r>
            <a:endParaRPr/>
          </a:p>
        </p:txBody>
      </p:sp>
      <p:sp>
        <p:nvSpPr>
          <p:cNvPr id="522" name="Google Shape;522;p6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61"/>
          <p:cNvSpPr txBox="1">
            <a:spLocks noGrp="1"/>
          </p:cNvSpPr>
          <p:nvPr>
            <p:ph type="title"/>
          </p:nvPr>
        </p:nvSpPr>
        <p:spPr>
          <a:xfrm>
            <a:off x="1785256" y="365127"/>
            <a:ext cx="6730200" cy="6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ct val="100000"/>
              <a:buFont typeface="Noto Sans"/>
              <a:buNone/>
            </a:pPr>
            <a:r>
              <a:rPr lang="en-US"/>
              <a:t>Vista de alocação 🡪 na UML:  d. instalação/</a:t>
            </a:r>
            <a:r>
              <a:rPr lang="en-US" i="1"/>
              <a:t>deployment</a:t>
            </a:r>
            <a:endParaRPr/>
          </a:p>
        </p:txBody>
      </p:sp>
      <p:pic>
        <p:nvPicPr>
          <p:cNvPr id="528" name="Google Shape;528;p61" descr="Diagram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6653" y="1401944"/>
            <a:ext cx="8378334" cy="4345713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61"/>
          <p:cNvSpPr txBox="1">
            <a:spLocks noGrp="1"/>
          </p:cNvSpPr>
          <p:nvPr>
            <p:ph type="ftr" idx="11"/>
          </p:nvPr>
        </p:nvSpPr>
        <p:spPr>
          <a:xfrm>
            <a:off x="1785256" y="6356351"/>
            <a:ext cx="4329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530" name="Google Shape;530;p6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4" name="Google Shape;274;p34"/>
          <p:cNvGraphicFramePr/>
          <p:nvPr/>
        </p:nvGraphicFramePr>
        <p:xfrm>
          <a:off x="207168" y="13652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{4D3FE81F-BB1B-4569-B68B-4CDC19AA1F5E}</a:tableStyleId>
              </a:tblPr>
              <a:tblGrid>
                <a:gridCol w="1015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9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4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VIEWS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Modules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C&amp;C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Allocation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2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Key element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/>
                        <a:t>Modules</a:t>
                      </a:r>
                      <a:r>
                        <a:rPr lang="en-US" sz="1400"/>
                        <a:t>, which are implementation units of software that provide a coherent set of responsibilities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/>
                        <a:t>Components</a:t>
                      </a:r>
                      <a:r>
                        <a:rPr lang="en-US" sz="1400"/>
                        <a:t>: principal processing units and data stores.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/>
                        <a:t>Connectors</a:t>
                      </a:r>
                      <a:r>
                        <a:rPr lang="en-US" sz="1400"/>
                        <a:t>: pathways of interaction between components.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Software elements and environmental/processing elements.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1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Relations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    </a:t>
                      </a:r>
                      <a:r>
                        <a:rPr lang="en-US" sz="1400" b="1"/>
                        <a:t>Is-part-of</a:t>
                      </a:r>
                      <a:r>
                        <a:rPr lang="en-US" sz="1400"/>
                        <a:t>, which defines a part/whole relationship between the submodule (the part) and the aggregate module (the whole)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   </a:t>
                      </a:r>
                      <a:r>
                        <a:rPr lang="en-US" sz="1400" b="1"/>
                        <a:t> Depends-on</a:t>
                      </a:r>
                      <a:r>
                        <a:rPr lang="en-US" sz="1400"/>
                        <a:t>, defines a dependency between two modules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    </a:t>
                      </a:r>
                      <a:r>
                        <a:rPr lang="en-US" sz="1400" b="1"/>
                        <a:t>Is-a</a:t>
                      </a:r>
                      <a:r>
                        <a:rPr lang="en-US" sz="1400"/>
                        <a:t>, which defines a generalization/specialization relationship between a more specific module (the child) and a more general module (the parent)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/>
                        <a:t>Attachments </a:t>
                      </a:r>
                      <a:r>
                        <a:rPr lang="en-US" sz="1400" b="0"/>
                        <a:t>(connections):</a:t>
                      </a:r>
                      <a:r>
                        <a:rPr lang="en-US" sz="1400"/>
                        <a:t> Components are associated with connectors to yield a graph.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/>
                        <a:t>Allocated-to</a:t>
                      </a:r>
                      <a:r>
                        <a:rPr lang="en-US" sz="1400"/>
                        <a:t>: A software element is mapped (allocated to) an environmental element.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3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Sample usages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en-US" sz="1400"/>
                        <a:t>Blueprint for construction of the code</a:t>
                      </a:r>
                      <a:endParaRPr/>
                    </a:p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en-US" sz="1400"/>
                        <a:t>Analysis of the impact of changes</a:t>
                      </a:r>
                      <a:endParaRPr/>
                    </a:p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en-US" sz="1400"/>
                        <a:t>Planning incremental develop.</a:t>
                      </a:r>
                      <a:endParaRPr/>
                    </a:p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en-US" sz="1400"/>
                        <a:t>Communicating the functionality of a system and the structure of its code base</a:t>
                      </a:r>
                      <a:endParaRPr/>
                    </a:p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en-US" sz="1400"/>
                        <a:t>Supporting the definition of work assignments, implementation schedules, and budget information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en-US" sz="1400"/>
                        <a:t>Guide development by specifying the structure and behavior of runtime elements.</a:t>
                      </a:r>
                      <a:endParaRPr/>
                    </a:p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en-US" sz="1400"/>
                        <a:t>Reasoning of “redistributable” libraries/services.</a:t>
                      </a:r>
                      <a:endParaRPr/>
                    </a:p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en-US" sz="1400"/>
                        <a:t>Help reason about runtime system quality attributes, such as performance and availability.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For reasoning about performance, availability, security, and safety. For reasoning about the form and mechanisms of system installation.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5" name="Google Shape;275;p34"/>
          <p:cNvSpPr txBox="1">
            <a:spLocks noGrp="1"/>
          </p:cNvSpPr>
          <p:nvPr>
            <p:ph type="ftr" idx="11"/>
          </p:nvPr>
        </p:nvSpPr>
        <p:spPr>
          <a:xfrm>
            <a:off x="1785256" y="6356351"/>
            <a:ext cx="4329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276" name="Google Shape;276;p3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62"/>
          <p:cNvSpPr txBox="1">
            <a:spLocks noGrp="1"/>
          </p:cNvSpPr>
          <p:nvPr>
            <p:ph type="ftr" idx="11"/>
          </p:nvPr>
        </p:nvSpPr>
        <p:spPr>
          <a:xfrm>
            <a:off x="1785256" y="6356351"/>
            <a:ext cx="4329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 Oliveira</a:t>
            </a:r>
            <a:endParaRPr/>
          </a:p>
        </p:txBody>
      </p:sp>
      <p:sp>
        <p:nvSpPr>
          <p:cNvPr id="537" name="Google Shape;537;p6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  <p:sp>
        <p:nvSpPr>
          <p:cNvPr id="538" name="Google Shape;538;p62"/>
          <p:cNvSpPr txBox="1">
            <a:spLocks noGrp="1"/>
          </p:cNvSpPr>
          <p:nvPr>
            <p:ph type="title"/>
          </p:nvPr>
        </p:nvSpPr>
        <p:spPr>
          <a:xfrm>
            <a:off x="1785256" y="365127"/>
            <a:ext cx="6730200" cy="6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ct val="100000"/>
              <a:buFont typeface="Noto Sans"/>
              <a:buNone/>
            </a:pPr>
            <a:r>
              <a:rPr lang="en-US" sz="3200"/>
              <a:t>Vista dinâmica (interação). Notar o nível de abstração (subsistema, não objetos)</a:t>
            </a:r>
            <a:endParaRPr/>
          </a:p>
        </p:txBody>
      </p:sp>
      <p:pic>
        <p:nvPicPr>
          <p:cNvPr id="539" name="Google Shape;539;p62" descr="pluginworkflow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35542" y="1230455"/>
            <a:ext cx="6672917" cy="56275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63"/>
          <p:cNvSpPr txBox="1">
            <a:spLocks noGrp="1"/>
          </p:cNvSpPr>
          <p:nvPr>
            <p:ph type="title"/>
          </p:nvPr>
        </p:nvSpPr>
        <p:spPr>
          <a:xfrm>
            <a:off x="1785254" y="1709739"/>
            <a:ext cx="67254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Noto Sans"/>
              <a:buNone/>
            </a:pPr>
            <a:r>
              <a:rPr lang="en-US"/>
              <a:t>Requisitos com impacto nas decisões de arquitetura</a:t>
            </a:r>
            <a:endParaRPr/>
          </a:p>
        </p:txBody>
      </p:sp>
      <p:sp>
        <p:nvSpPr>
          <p:cNvPr id="545" name="Google Shape;545;p63"/>
          <p:cNvSpPr txBox="1">
            <a:spLocks noGrp="1"/>
          </p:cNvSpPr>
          <p:nvPr>
            <p:ph type="body" idx="1"/>
          </p:nvPr>
        </p:nvSpPr>
        <p:spPr>
          <a:xfrm>
            <a:off x="1785256" y="4589464"/>
            <a:ext cx="6725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endParaRPr/>
          </a:p>
        </p:txBody>
      </p:sp>
      <p:sp>
        <p:nvSpPr>
          <p:cNvPr id="546" name="Google Shape;546;p63"/>
          <p:cNvSpPr txBox="1">
            <a:spLocks noGrp="1"/>
          </p:cNvSpPr>
          <p:nvPr>
            <p:ph type="ftr" idx="11"/>
          </p:nvPr>
        </p:nvSpPr>
        <p:spPr>
          <a:xfrm>
            <a:off x="1785256" y="6356351"/>
            <a:ext cx="4329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547" name="Google Shape;547;p6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4"/>
          <p:cNvSpPr txBox="1">
            <a:spLocks noGrp="1"/>
          </p:cNvSpPr>
          <p:nvPr>
            <p:ph type="title"/>
          </p:nvPr>
        </p:nvSpPr>
        <p:spPr>
          <a:xfrm>
            <a:off x="566058" y="365127"/>
            <a:ext cx="7949400" cy="6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ct val="100000"/>
              <a:buFont typeface="Noto Sans"/>
              <a:buNone/>
            </a:pPr>
            <a:r>
              <a:rPr lang="en-US"/>
              <a:t>As decisões de arquitetura são conduzidas pelos requisitos</a:t>
            </a:r>
            <a:endParaRPr/>
          </a:p>
        </p:txBody>
      </p:sp>
      <p:sp>
        <p:nvSpPr>
          <p:cNvPr id="553" name="Google Shape;553;p64"/>
          <p:cNvSpPr txBox="1">
            <a:spLocks noGrp="1"/>
          </p:cNvSpPr>
          <p:nvPr>
            <p:ph type="body" idx="1"/>
          </p:nvPr>
        </p:nvSpPr>
        <p:spPr>
          <a:xfrm>
            <a:off x="628650" y="1390650"/>
            <a:ext cx="3886200" cy="47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</a:pPr>
            <a:r>
              <a:rPr lang="en-US"/>
              <a:t>Para o arquitecto, nem todos os requisitos são idênticos. 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</a:pPr>
            <a:r>
              <a:rPr lang="en-US"/>
              <a:t>Alguns têm um impacto muito mais profundo na arquitectura do que outros.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r>
              <a:rPr lang="en-US"/>
              <a:t>Um requisito de arquitectura significativo é um requisito que terá um efeito profundo na arquitectura </a:t>
            </a:r>
            <a:r>
              <a:rPr lang="en-US">
                <a:latin typeface="Noto Sans"/>
                <a:ea typeface="Noto Sans"/>
                <a:cs typeface="Noto Sans"/>
                <a:sym typeface="Noto Sans"/>
              </a:rPr>
              <a:t>- </a:t>
            </a:r>
            <a:r>
              <a:rPr lang="en-US">
                <a:latin typeface="Noto Sans Light"/>
                <a:ea typeface="Noto Sans Light"/>
                <a:cs typeface="Noto Sans Light"/>
                <a:sym typeface="Noto Sans Light"/>
              </a:rPr>
              <a:t>ou seja, a arquitectura pode ser substancialmente diferente conforme a presença/ausência desse requisito.</a:t>
            </a:r>
            <a:endParaRPr>
              <a:latin typeface="Noto Sans Light"/>
              <a:ea typeface="Noto Sans Light"/>
              <a:cs typeface="Noto Sans Light"/>
              <a:sym typeface="Noto Sans Light"/>
            </a:endParaRPr>
          </a:p>
        </p:txBody>
      </p:sp>
      <p:sp>
        <p:nvSpPr>
          <p:cNvPr id="554" name="Google Shape;554;p64"/>
          <p:cNvSpPr txBox="1">
            <a:spLocks noGrp="1"/>
          </p:cNvSpPr>
          <p:nvPr>
            <p:ph type="body" idx="2"/>
          </p:nvPr>
        </p:nvSpPr>
        <p:spPr>
          <a:xfrm>
            <a:off x="4629150" y="1390650"/>
            <a:ext cx="3886200" cy="47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endParaRPr/>
          </a:p>
        </p:txBody>
      </p:sp>
      <p:sp>
        <p:nvSpPr>
          <p:cNvPr id="555" name="Google Shape;555;p64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556" name="Google Shape;556;p6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1" name="Google Shape;561;p6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7779"/>
            <a:ext cx="9144000" cy="382905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65"/>
          <p:cNvSpPr txBox="1">
            <a:spLocks noGrp="1"/>
          </p:cNvSpPr>
          <p:nvPr>
            <p:ph type="title"/>
          </p:nvPr>
        </p:nvSpPr>
        <p:spPr>
          <a:xfrm>
            <a:off x="1785256" y="365126"/>
            <a:ext cx="67302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ct val="100000"/>
              <a:buFont typeface="Noto Sans"/>
              <a:buNone/>
            </a:pPr>
            <a:r>
              <a:rPr lang="en-US"/>
              <a:t>Requisitos significativos para a arquitetura</a:t>
            </a:r>
            <a:endParaRPr/>
          </a:p>
        </p:txBody>
      </p:sp>
      <p:sp>
        <p:nvSpPr>
          <p:cNvPr id="563" name="Google Shape;563;p65"/>
          <p:cNvSpPr txBox="1">
            <a:spLocks noGrp="1"/>
          </p:cNvSpPr>
          <p:nvPr>
            <p:ph type="body" idx="1"/>
          </p:nvPr>
        </p:nvSpPr>
        <p:spPr>
          <a:xfrm>
            <a:off x="1785254" y="1371601"/>
            <a:ext cx="6730200" cy="46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2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r>
              <a:rPr lang="en-US"/>
              <a:t>Not all requirements have equal significance with regards to the architecture. 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</a:pPr>
            <a:r>
              <a:rPr lang="en-US"/>
              <a:t>Typically, these are requirements that are technically challenging, technically constraining, or central to the system's purpose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r>
              <a:rPr lang="en-US"/>
              <a:t>The following are good examples of Architecturally Significant Requirements: </a:t>
            </a:r>
            <a:endParaRPr/>
          </a:p>
          <a:p>
            <a:pPr marL="285750" lvl="1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Font typeface="Arial"/>
              <a:buChar char="•"/>
            </a:pPr>
            <a:r>
              <a:rPr lang="en-US"/>
              <a:t>The system must stream video media worldwide, with a delay to start playing &lt;5 seg for 90% of accesses. </a:t>
            </a:r>
            <a:endParaRPr/>
          </a:p>
          <a:p>
            <a:pPr marL="285750" lvl="1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Font typeface="Arial"/>
              <a:buChar char="•"/>
            </a:pPr>
            <a:r>
              <a:rPr lang="en-US"/>
              <a:t>The mobile application should be available both for Android and iOS with similar capabilities.</a:t>
            </a:r>
            <a:endParaRPr/>
          </a:p>
          <a:p>
            <a:pPr marL="285750" lvl="1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Font typeface="Arial"/>
              <a:buChar char="•"/>
            </a:pPr>
            <a:r>
              <a:rPr lang="en-US"/>
              <a:t>The system must deploy on Microsoft Windows 11+ and Linux. </a:t>
            </a:r>
            <a:endParaRPr/>
          </a:p>
          <a:p>
            <a:pPr marL="285750" lvl="1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Font typeface="Arial"/>
              <a:buChar char="•"/>
            </a:pPr>
            <a:r>
              <a:rPr lang="en-US"/>
              <a:t>The ATM system must dispense cash on demand to validated account holders with sufficient cleared funds (atomic transactions)</a:t>
            </a:r>
            <a:endParaRPr/>
          </a:p>
        </p:txBody>
      </p:sp>
      <p:sp>
        <p:nvSpPr>
          <p:cNvPr id="564" name="Google Shape;564;p65"/>
          <p:cNvSpPr txBox="1">
            <a:spLocks noGrp="1"/>
          </p:cNvSpPr>
          <p:nvPr>
            <p:ph type="ftr" idx="11"/>
          </p:nvPr>
        </p:nvSpPr>
        <p:spPr>
          <a:xfrm>
            <a:off x="1785256" y="6356351"/>
            <a:ext cx="4329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565" name="Google Shape;565;p6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  <p:sp>
        <p:nvSpPr>
          <p:cNvPr id="566" name="Google Shape;566;p65">
            <a:hlinkClick r:id="rId4"/>
          </p:cNvPr>
          <p:cNvSpPr txBox="1"/>
          <p:nvPr/>
        </p:nvSpPr>
        <p:spPr>
          <a:xfrm>
            <a:off x="79512" y="5969214"/>
            <a:ext cx="603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https://sweet.ua.pt/ico/OpenUp/OpenUP_v1514/core.tech.common.extend_supp/guidances/concepts/arch_significant_requirements_1EE5D757.html?nodeId=7dddf10c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66"/>
          <p:cNvSpPr txBox="1">
            <a:spLocks noGrp="1"/>
          </p:cNvSpPr>
          <p:nvPr>
            <p:ph type="title"/>
          </p:nvPr>
        </p:nvSpPr>
        <p:spPr>
          <a:xfrm>
            <a:off x="1785256" y="365127"/>
            <a:ext cx="6730200" cy="6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rPr lang="en-US"/>
              <a:t>Exemplo de um sistema complexo: Feedzai</a:t>
            </a:r>
            <a:endParaRPr/>
          </a:p>
        </p:txBody>
      </p:sp>
      <p:sp>
        <p:nvSpPr>
          <p:cNvPr id="572" name="Google Shape;572;p66"/>
          <p:cNvSpPr txBox="1">
            <a:spLocks noGrp="1"/>
          </p:cNvSpPr>
          <p:nvPr>
            <p:ph type="ftr" idx="11"/>
          </p:nvPr>
        </p:nvSpPr>
        <p:spPr>
          <a:xfrm>
            <a:off x="1785256" y="6356351"/>
            <a:ext cx="4329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573" name="Google Shape;573;p6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  <p:pic>
        <p:nvPicPr>
          <p:cNvPr id="574" name="Google Shape;574;p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058926"/>
            <a:ext cx="9144000" cy="4740147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66">
            <a:hlinkClick r:id="rId4"/>
          </p:cNvPr>
          <p:cNvSpPr/>
          <p:nvPr/>
        </p:nvSpPr>
        <p:spPr>
          <a:xfrm>
            <a:off x="1785256" y="5893046"/>
            <a:ext cx="2292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https://feedzai.com</a:t>
            </a:r>
            <a:endParaRPr/>
          </a:p>
        </p:txBody>
      </p:sp>
      <p:sp>
        <p:nvSpPr>
          <p:cNvPr id="576" name="Google Shape;576;p66"/>
          <p:cNvSpPr/>
          <p:nvPr/>
        </p:nvSpPr>
        <p:spPr>
          <a:xfrm>
            <a:off x="4984230" y="4069829"/>
            <a:ext cx="4092300" cy="2651700"/>
          </a:xfrm>
          <a:prstGeom prst="wedgeRectCallout">
            <a:avLst>
              <a:gd name="adj1" fmla="val -65000"/>
              <a:gd name="adj2" fmla="val -43141"/>
            </a:avLst>
          </a:prstGeom>
          <a:solidFill>
            <a:srgbClr val="29AF8C">
              <a:alpha val="74900"/>
            </a:srgbClr>
          </a:solidFill>
          <a:ln w="12700" cap="flat" cmpd="sng">
            <a:solidFill>
              <a:srgbClr val="1D7F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-76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Número muito elevado de transações financeiras que devem ser analisadas em paralelo (intensidade variável)</a:t>
            </a:r>
            <a:endParaRPr/>
          </a:p>
          <a:p>
            <a:pPr marL="0" marR="0" lvl="0" indent="-76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Processamento de eventos em larga escala em janelas temporais (solução otimizada para o processamento de </a:t>
            </a:r>
            <a:r>
              <a:rPr lang="en-US" sz="1200" b="0" i="1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feeds</a:t>
            </a:r>
            <a:r>
              <a:rPr lang="en-US"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i.e., séries de dados, e não interrogação de bases de dados convencionais)</a:t>
            </a:r>
            <a:endParaRPr/>
          </a:p>
          <a:p>
            <a:pPr marL="0" marR="0" lvl="0" indent="-76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Respostas de muito baixa latência (indicação de fraude em &lt;0,5s)</a:t>
            </a:r>
            <a:endParaRPr/>
          </a:p>
          <a:p>
            <a:pPr marL="0" marR="0" lvl="0" indent="-76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Natureza sensível da informação: canais seguros e invioláveis.</a:t>
            </a:r>
            <a:endParaRPr/>
          </a:p>
          <a:p>
            <a:pPr marL="0" marR="0" lvl="0" indent="-76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Há clientes que preferem a solução na  cloud e outros que querem usar apenas instalações no seu datacenter</a:t>
            </a:r>
            <a:endParaRPr sz="120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67"/>
          <p:cNvSpPr txBox="1">
            <a:spLocks noGrp="1"/>
          </p:cNvSpPr>
          <p:nvPr>
            <p:ph type="title"/>
          </p:nvPr>
        </p:nvSpPr>
        <p:spPr>
          <a:xfrm>
            <a:off x="566058" y="365127"/>
            <a:ext cx="7949400" cy="673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Caraterísticas de uma arquitetura: operacionais	</a:t>
            </a:r>
            <a:endParaRPr/>
          </a:p>
        </p:txBody>
      </p:sp>
      <p:sp>
        <p:nvSpPr>
          <p:cNvPr id="583" name="Google Shape;583;p67"/>
          <p:cNvSpPr txBox="1">
            <a:spLocks noGrp="1"/>
          </p:cNvSpPr>
          <p:nvPr>
            <p:ph type="body" idx="1"/>
          </p:nvPr>
        </p:nvSpPr>
        <p:spPr>
          <a:xfrm>
            <a:off x="628650" y="1390650"/>
            <a:ext cx="3886200" cy="4786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800"/>
              </a:spcBef>
              <a:spcAft>
                <a:spcPts val="600"/>
              </a:spcAft>
              <a:buNone/>
            </a:pPr>
            <a:endParaRPr/>
          </a:p>
        </p:txBody>
      </p:sp>
      <p:sp>
        <p:nvSpPr>
          <p:cNvPr id="584" name="Google Shape;584;p67"/>
          <p:cNvSpPr txBox="1">
            <a:spLocks noGrp="1"/>
          </p:cNvSpPr>
          <p:nvPr>
            <p:ph type="body" idx="2"/>
          </p:nvPr>
        </p:nvSpPr>
        <p:spPr>
          <a:xfrm>
            <a:off x="4629150" y="1390650"/>
            <a:ext cx="3886200" cy="4786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800"/>
              </a:spcBef>
              <a:spcAft>
                <a:spcPts val="600"/>
              </a:spcAft>
              <a:buNone/>
            </a:pPr>
            <a:endParaRPr/>
          </a:p>
        </p:txBody>
      </p:sp>
      <p:sp>
        <p:nvSpPr>
          <p:cNvPr id="585" name="Google Shape;585;p6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  <p:pic>
        <p:nvPicPr>
          <p:cNvPr id="586" name="Google Shape;586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650" y="1482775"/>
            <a:ext cx="8332374" cy="5375225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67"/>
          <p:cNvSpPr/>
          <p:nvPr/>
        </p:nvSpPr>
        <p:spPr>
          <a:xfrm>
            <a:off x="5937157" y="976270"/>
            <a:ext cx="3099000" cy="738300"/>
          </a:xfrm>
          <a:prstGeom prst="wedgeRectCallout">
            <a:avLst>
              <a:gd name="adj1" fmla="val -57508"/>
              <a:gd name="adj2" fmla="val 120619"/>
            </a:avLst>
          </a:prstGeom>
          <a:gradFill>
            <a:gsLst>
              <a:gs pos="0">
                <a:srgbClr val="9DD9C2"/>
              </a:gs>
              <a:gs pos="50000">
                <a:srgbClr val="90CFB7"/>
              </a:gs>
              <a:gs pos="100000">
                <a:srgbClr val="7BCCAF"/>
              </a:gs>
            </a:gsLst>
            <a:lin ang="5400012" scaled="0"/>
          </a:gra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2000" tIns="45700" rIns="720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Architecture “-ilities”</a:t>
            </a:r>
            <a:endParaRPr/>
          </a:p>
        </p:txBody>
      </p:sp>
      <p:sp>
        <p:nvSpPr>
          <p:cNvPr id="588" name="Google Shape;588;p67"/>
          <p:cNvSpPr txBox="1"/>
          <p:nvPr/>
        </p:nvSpPr>
        <p:spPr>
          <a:xfrm>
            <a:off x="628650" y="929775"/>
            <a:ext cx="4000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2"/>
                </a:solidFill>
              </a:rPr>
              <a:t>https://learning.oreilly.com/library/view/fundamentals-of-software/9781492043447/ch04.html</a:t>
            </a:r>
            <a:endParaRPr sz="12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68"/>
          <p:cNvSpPr txBox="1">
            <a:spLocks noGrp="1"/>
          </p:cNvSpPr>
          <p:nvPr>
            <p:ph type="title"/>
          </p:nvPr>
        </p:nvSpPr>
        <p:spPr>
          <a:xfrm>
            <a:off x="1785256" y="365127"/>
            <a:ext cx="6730200" cy="6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rPr lang="en-US"/>
              <a:t>Os requisitos conduzem a arquitetura</a:t>
            </a:r>
            <a:endParaRPr/>
          </a:p>
        </p:txBody>
      </p:sp>
      <p:sp>
        <p:nvSpPr>
          <p:cNvPr id="594" name="Google Shape;594;p68"/>
          <p:cNvSpPr txBox="1">
            <a:spLocks noGrp="1"/>
          </p:cNvSpPr>
          <p:nvPr>
            <p:ph type="ftr" idx="11"/>
          </p:nvPr>
        </p:nvSpPr>
        <p:spPr>
          <a:xfrm>
            <a:off x="1785256" y="6356351"/>
            <a:ext cx="4329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595" name="Google Shape;595;p6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  <p:sp>
        <p:nvSpPr>
          <p:cNvPr id="596" name="Google Shape;596;p68"/>
          <p:cNvSpPr txBox="1">
            <a:spLocks noGrp="1"/>
          </p:cNvSpPr>
          <p:nvPr>
            <p:ph type="subTitle" idx="1"/>
          </p:nvPr>
        </p:nvSpPr>
        <p:spPr>
          <a:xfrm>
            <a:off x="1785256" y="1038759"/>
            <a:ext cx="6730200" cy="5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r>
              <a:rPr lang="en-US" b="1"/>
              <a:t>E.g.: desempenho como atributo de qualidade</a:t>
            </a:r>
            <a:endParaRPr/>
          </a:p>
        </p:txBody>
      </p:sp>
      <p:pic>
        <p:nvPicPr>
          <p:cNvPr id="597" name="Google Shape;597;p6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" y="1511307"/>
            <a:ext cx="6233503" cy="3170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p6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54515" y="3523166"/>
            <a:ext cx="4922810" cy="3263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68" descr="Software Architecture in Practice, 4th Edition"/>
          <p:cNvPicPr preferRelativeResize="0"/>
          <p:nvPr/>
        </p:nvPicPr>
        <p:blipFill rotWithShape="1">
          <a:blip r:embed="rId5">
            <a:alphaModFix/>
          </a:blip>
          <a:srcRect l="4321" r="4321"/>
          <a:stretch/>
        </p:blipFill>
        <p:spPr>
          <a:xfrm>
            <a:off x="7443108" y="1628605"/>
            <a:ext cx="1526466" cy="2197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69"/>
          <p:cNvSpPr txBox="1">
            <a:spLocks noGrp="1"/>
          </p:cNvSpPr>
          <p:nvPr>
            <p:ph type="title"/>
          </p:nvPr>
        </p:nvSpPr>
        <p:spPr>
          <a:xfrm>
            <a:off x="1785256" y="365127"/>
            <a:ext cx="6730200" cy="6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rPr lang="en-US"/>
              <a:t>Os requisitos conduzem a arquitetura</a:t>
            </a:r>
            <a:endParaRPr/>
          </a:p>
        </p:txBody>
      </p:sp>
      <p:sp>
        <p:nvSpPr>
          <p:cNvPr id="605" name="Google Shape;605;p69"/>
          <p:cNvSpPr txBox="1">
            <a:spLocks noGrp="1"/>
          </p:cNvSpPr>
          <p:nvPr>
            <p:ph type="ftr" idx="11"/>
          </p:nvPr>
        </p:nvSpPr>
        <p:spPr>
          <a:xfrm>
            <a:off x="1785256" y="6356351"/>
            <a:ext cx="4329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606" name="Google Shape;606;p6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  <p:sp>
        <p:nvSpPr>
          <p:cNvPr id="607" name="Google Shape;607;p69"/>
          <p:cNvSpPr txBox="1">
            <a:spLocks noGrp="1"/>
          </p:cNvSpPr>
          <p:nvPr>
            <p:ph type="subTitle" idx="1"/>
          </p:nvPr>
        </p:nvSpPr>
        <p:spPr>
          <a:xfrm>
            <a:off x="1785256" y="1038759"/>
            <a:ext cx="6730200" cy="5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r>
              <a:rPr lang="en-US" b="1"/>
              <a:t>E.g.: disponibilidade como atributo de qualidade</a:t>
            </a:r>
            <a:endParaRPr/>
          </a:p>
        </p:txBody>
      </p:sp>
      <p:pic>
        <p:nvPicPr>
          <p:cNvPr id="608" name="Google Shape;608;p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668" y="1628606"/>
            <a:ext cx="5918082" cy="228560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p6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138" y="2771408"/>
            <a:ext cx="5608631" cy="4098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Google Shape;610;p69" descr="Software Architecture in Practice, 4th Edition"/>
          <p:cNvPicPr preferRelativeResize="0"/>
          <p:nvPr/>
        </p:nvPicPr>
        <p:blipFill rotWithShape="1">
          <a:blip r:embed="rId5">
            <a:alphaModFix/>
          </a:blip>
          <a:srcRect l="4321" r="4321"/>
          <a:stretch/>
        </p:blipFill>
        <p:spPr>
          <a:xfrm>
            <a:off x="196582" y="4341575"/>
            <a:ext cx="1526466" cy="2197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70"/>
          <p:cNvSpPr txBox="1">
            <a:spLocks noGrp="1"/>
          </p:cNvSpPr>
          <p:nvPr>
            <p:ph type="title"/>
          </p:nvPr>
        </p:nvSpPr>
        <p:spPr>
          <a:xfrm>
            <a:off x="566058" y="365127"/>
            <a:ext cx="7949400" cy="6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ct val="100000"/>
              <a:buFont typeface="Noto Sans"/>
              <a:buNone/>
            </a:pPr>
            <a:r>
              <a:rPr lang="en-US"/>
              <a:t>A arquitetura de software é importante! Razões técnicas e não técnicas</a:t>
            </a:r>
            <a:endParaRPr/>
          </a:p>
        </p:txBody>
      </p:sp>
      <p:sp>
        <p:nvSpPr>
          <p:cNvPr id="616" name="Google Shape;616;p70"/>
          <p:cNvSpPr txBox="1">
            <a:spLocks noGrp="1"/>
          </p:cNvSpPr>
          <p:nvPr>
            <p:ph type="body" idx="1"/>
          </p:nvPr>
        </p:nvSpPr>
        <p:spPr>
          <a:xfrm>
            <a:off x="628650" y="1390650"/>
            <a:ext cx="4050300" cy="47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en-US"/>
              <a:t>Uma arquitetura irá limitar ou potenciar os atributos de qualidade de um sistema.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en-US"/>
              <a:t>As decisões tomadas numa arquitetura permitem pensar e gerir a mudança à medida que o sistema evolui.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en-US"/>
              <a:t>A análise de uma arquitetura permite uma visão antecipada das qualidades de um sistema.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en-US"/>
              <a:t>Uma arquitetura documentada promove a comunicação entre as pessoas envolvidas (stakeholders).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en-US"/>
              <a:t>A arquitetura é percursora das primeiras (e mais fundamentais) decisões de projeto, e  as mais difíceis de alterar.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en-US"/>
              <a:t>Uma arquitetura pode fornecer a base para o desenvolvimento incremental.</a:t>
            </a:r>
            <a:endParaRPr/>
          </a:p>
        </p:txBody>
      </p:sp>
      <p:sp>
        <p:nvSpPr>
          <p:cNvPr id="617" name="Google Shape;617;p70"/>
          <p:cNvSpPr txBox="1">
            <a:spLocks noGrp="1"/>
          </p:cNvSpPr>
          <p:nvPr>
            <p:ph type="body" idx="2"/>
          </p:nvPr>
        </p:nvSpPr>
        <p:spPr>
          <a:xfrm>
            <a:off x="4766552" y="1390650"/>
            <a:ext cx="3748800" cy="47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en-US"/>
              <a:t>Uma arquitetura é o artefacto chave que permite ao arquiteto e ao gestor do projeto argumentarem sobre custos e prazos.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en-US"/>
              <a:t>Uma arquitetura pode ser criada como um modelo transferível e reutilizável que forma o cerne de uma linha de produtos.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en-US"/>
              <a:t>O desenvolvimento baseado na arquitetura centra a atenção na conjugação de componentes, em vez de simplesmente na sua criação.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en-US"/>
              <a:t>Ao restringir alternativas de desenho, a arquitetura canaliza a criatividade dos programadores de forma produtiva.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en-US"/>
              <a:t>Uma arquitetura pode servir de base para a formação de um novo membro da equipa.</a:t>
            </a:r>
            <a:endParaRPr/>
          </a:p>
        </p:txBody>
      </p:sp>
      <p:sp>
        <p:nvSpPr>
          <p:cNvPr id="618" name="Google Shape;618;p70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619" name="Google Shape;619;p7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  <p:pic>
        <p:nvPicPr>
          <p:cNvPr id="620" name="Google Shape;620;p70" descr="Software Architecture in Practice, 4th Edition"/>
          <p:cNvPicPr preferRelativeResize="0"/>
          <p:nvPr/>
        </p:nvPicPr>
        <p:blipFill rotWithShape="1">
          <a:blip r:embed="rId3">
            <a:alphaModFix/>
          </a:blip>
          <a:srcRect l="4321" r="4321"/>
          <a:stretch/>
        </p:blipFill>
        <p:spPr>
          <a:xfrm>
            <a:off x="8233442" y="25666"/>
            <a:ext cx="910558" cy="13107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71"/>
          <p:cNvSpPr txBox="1">
            <a:spLocks noGrp="1"/>
          </p:cNvSpPr>
          <p:nvPr>
            <p:ph type="title"/>
          </p:nvPr>
        </p:nvSpPr>
        <p:spPr>
          <a:xfrm>
            <a:off x="566058" y="365127"/>
            <a:ext cx="7949400" cy="673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71"/>
          <p:cNvSpPr txBox="1">
            <a:spLocks noGrp="1"/>
          </p:cNvSpPr>
          <p:nvPr>
            <p:ph type="body" idx="1"/>
          </p:nvPr>
        </p:nvSpPr>
        <p:spPr>
          <a:xfrm>
            <a:off x="628650" y="1390650"/>
            <a:ext cx="3886200" cy="4786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800"/>
              </a:spcBef>
              <a:spcAft>
                <a:spcPts val="600"/>
              </a:spcAft>
              <a:buNone/>
            </a:pPr>
            <a:endParaRPr/>
          </a:p>
        </p:txBody>
      </p:sp>
      <p:sp>
        <p:nvSpPr>
          <p:cNvPr id="628" name="Google Shape;628;p71"/>
          <p:cNvSpPr txBox="1">
            <a:spLocks noGrp="1"/>
          </p:cNvSpPr>
          <p:nvPr>
            <p:ph type="body" idx="2"/>
          </p:nvPr>
        </p:nvSpPr>
        <p:spPr>
          <a:xfrm>
            <a:off x="4629150" y="1390650"/>
            <a:ext cx="3886200" cy="4786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800"/>
              </a:spcBef>
              <a:spcAft>
                <a:spcPts val="600"/>
              </a:spcAft>
              <a:buNone/>
            </a:pPr>
            <a:endParaRPr/>
          </a:p>
        </p:txBody>
      </p:sp>
      <p:sp>
        <p:nvSpPr>
          <p:cNvPr id="629" name="Google Shape;629;p7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  <p:pic>
        <p:nvPicPr>
          <p:cNvPr id="630" name="Google Shape;630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34613"/>
            <a:ext cx="9144000" cy="3988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1" name="Google Shape;631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5438" y="89138"/>
            <a:ext cx="3228975" cy="178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72"/>
          <p:cNvSpPr txBox="1">
            <a:spLocks noGrp="1"/>
          </p:cNvSpPr>
          <p:nvPr>
            <p:ph type="title"/>
          </p:nvPr>
        </p:nvSpPr>
        <p:spPr>
          <a:xfrm>
            <a:off x="1785254" y="1709739"/>
            <a:ext cx="6725333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Noto Sans"/>
              <a:buNone/>
            </a:pPr>
            <a:r>
              <a:rPr lang="en-US"/>
              <a:t>Estilos de arquitetura (introd.)</a:t>
            </a:r>
            <a:endParaRPr/>
          </a:p>
        </p:txBody>
      </p:sp>
      <p:sp>
        <p:nvSpPr>
          <p:cNvPr id="637" name="Google Shape;637;p72"/>
          <p:cNvSpPr txBox="1">
            <a:spLocks noGrp="1"/>
          </p:cNvSpPr>
          <p:nvPr>
            <p:ph type="body" idx="1"/>
          </p:nvPr>
        </p:nvSpPr>
        <p:spPr>
          <a:xfrm>
            <a:off x="1785256" y="4589464"/>
            <a:ext cx="6725332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endParaRPr/>
          </a:p>
        </p:txBody>
      </p:sp>
      <p:sp>
        <p:nvSpPr>
          <p:cNvPr id="638" name="Google Shape;638;p72"/>
          <p:cNvSpPr txBox="1">
            <a:spLocks noGrp="1"/>
          </p:cNvSpPr>
          <p:nvPr>
            <p:ph type="ftr" idx="11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639" name="Google Shape;639;p7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49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73"/>
          <p:cNvSpPr txBox="1">
            <a:spLocks noGrp="1"/>
          </p:cNvSpPr>
          <p:nvPr>
            <p:ph type="title"/>
          </p:nvPr>
        </p:nvSpPr>
        <p:spPr>
          <a:xfrm>
            <a:off x="566058" y="365127"/>
            <a:ext cx="7949292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rPr lang="en-US"/>
              <a:t>Estilos de arquitetura</a:t>
            </a:r>
            <a:endParaRPr/>
          </a:p>
        </p:txBody>
      </p:sp>
      <p:sp>
        <p:nvSpPr>
          <p:cNvPr id="645" name="Google Shape;645;p73"/>
          <p:cNvSpPr txBox="1">
            <a:spLocks noGrp="1"/>
          </p:cNvSpPr>
          <p:nvPr>
            <p:ph type="body" idx="1"/>
          </p:nvPr>
        </p:nvSpPr>
        <p:spPr>
          <a:xfrm>
            <a:off x="6286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600"/>
              <a:buNone/>
            </a:pPr>
            <a:r>
              <a:rPr lang="en-US" sz="1600">
                <a:latin typeface="Noto Sans"/>
                <a:ea typeface="Noto Sans"/>
                <a:cs typeface="Noto Sans"/>
                <a:sym typeface="Noto Sans"/>
              </a:rPr>
              <a:t>Apesar da enorme diversidade dos produtos de software, é possível falar-se em certos "</a:t>
            </a:r>
            <a:r>
              <a:rPr lang="en-US" sz="1600">
                <a:highlight>
                  <a:srgbClr val="008080"/>
                </a:highlight>
                <a:latin typeface="Noto Sans"/>
                <a:ea typeface="Noto Sans"/>
                <a:cs typeface="Noto Sans"/>
                <a:sym typeface="Noto Sans"/>
              </a:rPr>
              <a:t>padrões de arquitetura</a:t>
            </a:r>
            <a:r>
              <a:rPr lang="en-US" sz="1600">
                <a:latin typeface="Noto Sans"/>
                <a:ea typeface="Noto Sans"/>
                <a:cs typeface="Noto Sans"/>
                <a:sym typeface="Noto Sans"/>
              </a:rPr>
              <a:t>” nas soluções empresariais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1600"/>
              <a:buNone/>
            </a:pPr>
            <a:r>
              <a:rPr lang="en-US" sz="1600">
                <a:latin typeface="Noto Sans"/>
                <a:ea typeface="Noto Sans"/>
                <a:cs typeface="Noto Sans"/>
                <a:sym typeface="Noto Sans"/>
              </a:rPr>
              <a:t>Um “padrão de arquitetura“ reflete uma abordagem-tipo, i.e., uma maneira de organizar a solução que se provou adequada para certos tipos de projetos.</a:t>
            </a:r>
            <a:endParaRPr/>
          </a:p>
        </p:txBody>
      </p:sp>
      <p:sp>
        <p:nvSpPr>
          <p:cNvPr id="646" name="Google Shape;646;p73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647" name="Google Shape;647;p7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  <p:pic>
        <p:nvPicPr>
          <p:cNvPr id="648" name="Google Shape;648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4201" y="140323"/>
            <a:ext cx="2541250" cy="6400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74"/>
          <p:cNvSpPr txBox="1">
            <a:spLocks noGrp="1"/>
          </p:cNvSpPr>
          <p:nvPr>
            <p:ph type="title"/>
          </p:nvPr>
        </p:nvSpPr>
        <p:spPr>
          <a:xfrm>
            <a:off x="628650" y="136524"/>
            <a:ext cx="3791156" cy="1423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Noto Sans"/>
              <a:buNone/>
            </a:pPr>
            <a:r>
              <a:rPr lang="en-US"/>
              <a:t>Qual é o “padrão”?</a:t>
            </a:r>
            <a:endParaRPr/>
          </a:p>
        </p:txBody>
      </p:sp>
      <p:sp>
        <p:nvSpPr>
          <p:cNvPr id="654" name="Google Shape;654;p74"/>
          <p:cNvSpPr txBox="1">
            <a:spLocks noGrp="1"/>
          </p:cNvSpPr>
          <p:nvPr>
            <p:ph type="body" idx="1"/>
          </p:nvPr>
        </p:nvSpPr>
        <p:spPr>
          <a:xfrm>
            <a:off x="629840" y="1812022"/>
            <a:ext cx="3791157" cy="438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rPr lang="en-US"/>
              <a:t>Uma arquitetura por camadas</a:t>
            </a:r>
            <a:endParaRPr/>
          </a:p>
          <a:p>
            <a:pPr marL="342900" lvl="1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600"/>
              <a:buFont typeface="Arial"/>
              <a:buChar char="•"/>
            </a:pPr>
            <a:r>
              <a:rPr lang="en-US"/>
              <a:t>Camadas “debaixo” fornecem serviços às camadas “de cima”</a:t>
            </a:r>
            <a:endParaRPr/>
          </a:p>
          <a:p>
            <a:pPr marL="342900" lvl="1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600"/>
              <a:buFont typeface="Arial"/>
              <a:buChar char="•"/>
            </a:pPr>
            <a:r>
              <a:rPr lang="en-US"/>
              <a:t>Cada camada comunica </a:t>
            </a:r>
            <a:r>
              <a:rPr lang="en-US" u="sng"/>
              <a:t>apenas</a:t>
            </a:r>
            <a:r>
              <a:rPr lang="en-US"/>
              <a:t> com as camadas adjacentes (consome serviços da de baixo, oferece serviços à de cima)</a:t>
            </a:r>
            <a:endParaRPr/>
          </a:p>
          <a:p>
            <a:pPr marL="342900" lvl="1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600"/>
              <a:buFont typeface="Arial"/>
              <a:buChar char="•"/>
            </a:pPr>
            <a:r>
              <a:rPr lang="en-US"/>
              <a:t>Há geralmente um crescendo no nível de abstração: camadas abaixo mais próximas do hardware/armazenamento; camada superior voltada para o utilizador.</a:t>
            </a:r>
            <a:endParaRPr/>
          </a:p>
          <a:p>
            <a:pPr marL="342900" lvl="1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600"/>
              <a:buFont typeface="Arial"/>
              <a:buChar char="•"/>
            </a:pPr>
            <a:r>
              <a:rPr lang="en-US"/>
              <a:t>Cada camada pode ser organizada em módulos, mostrando componentes no mesmo nível de abstração</a:t>
            </a:r>
            <a:endParaRPr/>
          </a:p>
          <a:p>
            <a:pPr marL="342900" lvl="1" indent="-2413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600"/>
              <a:buFont typeface="Arial"/>
              <a:buNone/>
            </a:pPr>
            <a:endParaRPr/>
          </a:p>
        </p:txBody>
      </p:sp>
      <p:sp>
        <p:nvSpPr>
          <p:cNvPr id="655" name="Google Shape;655;p7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  <p:pic>
        <p:nvPicPr>
          <p:cNvPr id="656" name="Google Shape;656;p74" descr="A close up of a green screen&#10;&#10;Description automatically generated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1126" b="1125"/>
          <a:stretch/>
        </p:blipFill>
        <p:spPr>
          <a:xfrm>
            <a:off x="4571999" y="382947"/>
            <a:ext cx="4149657" cy="5973404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74">
            <a:hlinkClick r:id="rId4"/>
          </p:cNvPr>
          <p:cNvSpPr/>
          <p:nvPr/>
        </p:nvSpPr>
        <p:spPr>
          <a:xfrm>
            <a:off x="4571998" y="6356351"/>
            <a:ext cx="414965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https://developer.android.com/guide/platform</a:t>
            </a:r>
            <a:endParaRPr/>
          </a:p>
        </p:txBody>
      </p:sp>
      <p:sp>
        <p:nvSpPr>
          <p:cNvPr id="658" name="Google Shape;658;p74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76"/>
          <p:cNvSpPr txBox="1">
            <a:spLocks noGrp="1"/>
          </p:cNvSpPr>
          <p:nvPr>
            <p:ph type="title"/>
          </p:nvPr>
        </p:nvSpPr>
        <p:spPr>
          <a:xfrm>
            <a:off x="628650" y="136524"/>
            <a:ext cx="3791156" cy="1423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Noto Sans"/>
              <a:buNone/>
            </a:pPr>
            <a:r>
              <a:rPr lang="en-US"/>
              <a:t>Processamento de eventos (e</a:t>
            </a:r>
            <a:r>
              <a:rPr lang="en-US" i="1"/>
              <a:t>vent-driven)</a:t>
            </a:r>
            <a:endParaRPr/>
          </a:p>
        </p:txBody>
      </p:sp>
      <p:sp>
        <p:nvSpPr>
          <p:cNvPr id="674" name="Google Shape;674;p76"/>
          <p:cNvSpPr>
            <a:spLocks noGrp="1"/>
          </p:cNvSpPr>
          <p:nvPr>
            <p:ph type="pic" idx="2"/>
          </p:nvPr>
        </p:nvSpPr>
        <p:spPr>
          <a:xfrm>
            <a:off x="4572000" y="583474"/>
            <a:ext cx="3942160" cy="567471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PT"/>
          </a:p>
        </p:txBody>
      </p:sp>
      <p:sp>
        <p:nvSpPr>
          <p:cNvPr id="675" name="Google Shape;675;p76"/>
          <p:cNvSpPr txBox="1">
            <a:spLocks noGrp="1"/>
          </p:cNvSpPr>
          <p:nvPr>
            <p:ph type="body" idx="1"/>
          </p:nvPr>
        </p:nvSpPr>
        <p:spPr>
          <a:xfrm>
            <a:off x="629840" y="1812022"/>
            <a:ext cx="2580085" cy="438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None/>
            </a:pPr>
            <a:r>
              <a:rPr lang="en-US" sz="1400">
                <a:latin typeface="Noto Sans"/>
                <a:ea typeface="Noto Sans"/>
                <a:cs typeface="Noto Sans"/>
                <a:sym typeface="Noto Sans"/>
              </a:rPr>
              <a:t>O padrão de “arquitetura por eventos” é um estilo de arquitetura assíncrono e distribuído, usado em aplicações que precisam de ser muito escaláveis </a:t>
            </a:r>
            <a:r>
              <a:rPr lang="en-US" sz="1400">
                <a:latin typeface="Noto Sans Light"/>
                <a:ea typeface="Noto Sans Light"/>
                <a:cs typeface="Noto Sans Light"/>
                <a:sym typeface="Noto Sans Light"/>
              </a:rPr>
              <a:t>(e.g.: processar milhares de leituras de sensores por segundo)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1400"/>
              <a:buNone/>
            </a:pPr>
            <a:br>
              <a:rPr lang="en-US" sz="1400">
                <a:latin typeface="Noto Sans"/>
                <a:ea typeface="Noto Sans"/>
                <a:cs typeface="Noto Sans"/>
                <a:sym typeface="Noto Sans"/>
              </a:rPr>
            </a:br>
            <a:r>
              <a:rPr lang="en-US" sz="1400">
                <a:latin typeface="Noto Sans"/>
                <a:ea typeface="Noto Sans"/>
                <a:cs typeface="Noto Sans"/>
                <a:sym typeface="Noto Sans"/>
              </a:rPr>
              <a:t>A arquitetura por eventos é composta por componentes de processamento de eventos altamente dissociados (</a:t>
            </a:r>
            <a:r>
              <a:rPr lang="en-US" sz="1400" i="1">
                <a:latin typeface="Noto Sans"/>
                <a:ea typeface="Noto Sans"/>
                <a:cs typeface="Noto Sans"/>
                <a:sym typeface="Noto Sans"/>
              </a:rPr>
              <a:t>decoupled</a:t>
            </a:r>
            <a:r>
              <a:rPr lang="en-US" sz="1400">
                <a:latin typeface="Noto Sans"/>
                <a:ea typeface="Noto Sans"/>
                <a:cs typeface="Noto Sans"/>
                <a:sym typeface="Noto Sans"/>
              </a:rPr>
              <a:t>) e especializados (dedicados a um tipo de processamento) que recebem e processam os eventos. </a:t>
            </a:r>
            <a:endParaRPr/>
          </a:p>
        </p:txBody>
      </p:sp>
      <p:sp>
        <p:nvSpPr>
          <p:cNvPr id="676" name="Google Shape;676;p76"/>
          <p:cNvSpPr txBox="1">
            <a:spLocks noGrp="1"/>
          </p:cNvSpPr>
          <p:nvPr>
            <p:ph type="ftr" idx="11"/>
          </p:nvPr>
        </p:nvSpPr>
        <p:spPr>
          <a:xfrm>
            <a:off x="3323930" y="6293397"/>
            <a:ext cx="4640975" cy="345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I Oliveira</a:t>
            </a:r>
            <a:endParaRPr/>
          </a:p>
        </p:txBody>
      </p:sp>
      <p:sp>
        <p:nvSpPr>
          <p:cNvPr id="677" name="Google Shape;677;p7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52</a:t>
            </a:fld>
            <a:endParaRPr/>
          </a:p>
        </p:txBody>
      </p:sp>
      <p:pic>
        <p:nvPicPr>
          <p:cNvPr id="678" name="Google Shape;678;p7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71850" y="2062839"/>
            <a:ext cx="5665432" cy="4136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77"/>
          <p:cNvSpPr txBox="1">
            <a:spLocks noGrp="1"/>
          </p:cNvSpPr>
          <p:nvPr>
            <p:ph type="title"/>
          </p:nvPr>
        </p:nvSpPr>
        <p:spPr>
          <a:xfrm>
            <a:off x="1785256" y="365127"/>
            <a:ext cx="6730093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ct val="100000"/>
              <a:buFont typeface="Noto Sans"/>
              <a:buNone/>
            </a:pPr>
            <a:r>
              <a:rPr lang="en-US"/>
              <a:t>Um exemplo da indústria: uma solução de M2M (</a:t>
            </a:r>
            <a:r>
              <a:rPr lang="en-US" i="1"/>
              <a:t>machine-to-machine</a:t>
            </a:r>
            <a:r>
              <a:rPr lang="en-US"/>
              <a:t>)</a:t>
            </a:r>
            <a:endParaRPr/>
          </a:p>
        </p:txBody>
      </p:sp>
      <p:sp>
        <p:nvSpPr>
          <p:cNvPr id="684" name="Google Shape;684;p77"/>
          <p:cNvSpPr txBox="1">
            <a:spLocks noGrp="1"/>
          </p:cNvSpPr>
          <p:nvPr>
            <p:ph type="ftr" idx="11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685" name="Google Shape;685;p7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53</a:t>
            </a:fld>
            <a:endParaRPr/>
          </a:p>
        </p:txBody>
      </p:sp>
      <p:pic>
        <p:nvPicPr>
          <p:cNvPr id="686" name="Google Shape;686;p7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344471"/>
            <a:ext cx="9144000" cy="3989529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p77"/>
          <p:cNvSpPr/>
          <p:nvPr/>
        </p:nvSpPr>
        <p:spPr>
          <a:xfrm>
            <a:off x="85724" y="5401360"/>
            <a:ext cx="637222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Mais info: https://repositorio-aberto.up.pt/handle/10216/109650</a:t>
            </a:r>
            <a:endParaRPr/>
          </a:p>
        </p:txBody>
      </p:sp>
      <p:sp>
        <p:nvSpPr>
          <p:cNvPr id="688" name="Google Shape;688;p77"/>
          <p:cNvSpPr/>
          <p:nvPr/>
        </p:nvSpPr>
        <p:spPr>
          <a:xfrm>
            <a:off x="1155077" y="1232672"/>
            <a:ext cx="2333558" cy="1064371"/>
          </a:xfrm>
          <a:prstGeom prst="wedgeRoundRectCallout">
            <a:avLst>
              <a:gd name="adj1" fmla="val -6380"/>
              <a:gd name="adj2" fmla="val 78357"/>
              <a:gd name="adj3" fmla="val 16667"/>
            </a:avLst>
          </a:prstGeom>
          <a:solidFill>
            <a:srgbClr val="29AF8C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Light"/>
                <a:ea typeface="Noto Sans Light"/>
                <a:cs typeface="Noto Sans Light"/>
                <a:sym typeface="Noto Sans Light"/>
              </a:rPr>
              <a:t>As filas de mensagens desassociam o “fornecedor” do “consumidor” de eventos, que podem trabalhar a diferentes velocidades.</a:t>
            </a:r>
            <a:endParaRPr/>
          </a:p>
        </p:txBody>
      </p:sp>
      <p:sp>
        <p:nvSpPr>
          <p:cNvPr id="689" name="Google Shape;689;p77"/>
          <p:cNvSpPr/>
          <p:nvPr/>
        </p:nvSpPr>
        <p:spPr>
          <a:xfrm>
            <a:off x="93350" y="4560956"/>
            <a:ext cx="1691906" cy="773044"/>
          </a:xfrm>
          <a:prstGeom prst="wedgeRoundRectCallout">
            <a:avLst>
              <a:gd name="adj1" fmla="val -33257"/>
              <a:gd name="adj2" fmla="val -140050"/>
              <a:gd name="adj3" fmla="val 16667"/>
            </a:avLst>
          </a:prstGeom>
          <a:solidFill>
            <a:srgbClr val="29AF8C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Light"/>
                <a:ea typeface="Noto Sans Light"/>
                <a:cs typeface="Noto Sans Light"/>
                <a:sym typeface="Noto Sans Light"/>
              </a:rPr>
              <a:t>Entrada de eventos (leituras de sensores, em grande escala)</a:t>
            </a:r>
            <a:endParaRPr/>
          </a:p>
        </p:txBody>
      </p:sp>
      <p:sp>
        <p:nvSpPr>
          <p:cNvPr id="690" name="Google Shape;690;p77"/>
          <p:cNvSpPr/>
          <p:nvPr/>
        </p:nvSpPr>
        <p:spPr>
          <a:xfrm>
            <a:off x="3371227" y="4560956"/>
            <a:ext cx="1886573" cy="1064371"/>
          </a:xfrm>
          <a:prstGeom prst="wedgeRoundRectCallout">
            <a:avLst>
              <a:gd name="adj1" fmla="val -17335"/>
              <a:gd name="adj2" fmla="val -124129"/>
              <a:gd name="adj3" fmla="val 16667"/>
            </a:avLst>
          </a:prstGeom>
          <a:solidFill>
            <a:srgbClr val="29AF8C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Noto Sans Light"/>
                <a:ea typeface="Noto Sans Light"/>
                <a:cs typeface="Noto Sans Light"/>
                <a:sym typeface="Noto Sans Light"/>
              </a:rPr>
              <a:t>O “event processor” </a:t>
            </a:r>
            <a:r>
              <a:rPr lang="en-US" sz="1200" dirty="0" err="1">
                <a:solidFill>
                  <a:schemeClr val="dk1"/>
                </a:solidFill>
                <a:latin typeface="Noto Sans Light"/>
                <a:ea typeface="Noto Sans Light"/>
                <a:cs typeface="Noto Sans Light"/>
                <a:sym typeface="Noto Sans Light"/>
              </a:rPr>
              <a:t>aplica</a:t>
            </a:r>
            <a:r>
              <a:rPr lang="en-US" sz="1200" dirty="0">
                <a:solidFill>
                  <a:schemeClr val="dk1"/>
                </a:solidFill>
                <a:latin typeface="Noto Sans Light"/>
                <a:ea typeface="Noto Sans Light"/>
                <a:cs typeface="Noto Sans Light"/>
                <a:sym typeface="Noto Sans Light"/>
              </a:rPr>
              <a:t> a </a:t>
            </a:r>
            <a:r>
              <a:rPr lang="en-US" sz="1200" dirty="0" err="1">
                <a:solidFill>
                  <a:schemeClr val="dk1"/>
                </a:solidFill>
                <a:latin typeface="Noto Sans Light"/>
                <a:ea typeface="Noto Sans Light"/>
                <a:cs typeface="Noto Sans Light"/>
                <a:sym typeface="Noto Sans Light"/>
              </a:rPr>
              <a:t>lógica</a:t>
            </a:r>
            <a:r>
              <a:rPr lang="en-US" sz="1200" dirty="0">
                <a:solidFill>
                  <a:schemeClr val="dk1"/>
                </a:solidFill>
                <a:latin typeface="Noto Sans Light"/>
                <a:ea typeface="Noto Sans Light"/>
                <a:cs typeface="Noto Sans Light"/>
                <a:sym typeface="Noto Sans Light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Noto Sans Light"/>
                <a:ea typeface="Noto Sans Light"/>
                <a:cs typeface="Noto Sans Light"/>
                <a:sym typeface="Noto Sans Light"/>
              </a:rPr>
              <a:t>adequada</a:t>
            </a:r>
            <a:r>
              <a:rPr lang="en-US" sz="1200" dirty="0">
                <a:solidFill>
                  <a:schemeClr val="dk1"/>
                </a:solidFill>
                <a:latin typeface="Noto Sans Light"/>
                <a:ea typeface="Noto Sans Light"/>
                <a:cs typeface="Noto Sans Light"/>
                <a:sym typeface="Noto Sans Light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Noto Sans Light"/>
                <a:ea typeface="Noto Sans Light"/>
                <a:cs typeface="Noto Sans Light"/>
                <a:sym typeface="Noto Sans Light"/>
              </a:rPr>
              <a:t>ao</a:t>
            </a:r>
            <a:r>
              <a:rPr lang="en-US" sz="1200" dirty="0">
                <a:solidFill>
                  <a:schemeClr val="dk1"/>
                </a:solidFill>
                <a:latin typeface="Noto Sans Light"/>
                <a:ea typeface="Noto Sans Light"/>
                <a:cs typeface="Noto Sans Light"/>
                <a:sym typeface="Noto Sans Light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Noto Sans Light"/>
                <a:ea typeface="Noto Sans Light"/>
                <a:cs typeface="Noto Sans Light"/>
                <a:sym typeface="Noto Sans Light"/>
              </a:rPr>
              <a:t>tipo</a:t>
            </a:r>
            <a:r>
              <a:rPr lang="en-US" sz="1200" dirty="0">
                <a:solidFill>
                  <a:schemeClr val="dk1"/>
                </a:solidFill>
                <a:latin typeface="Noto Sans Light"/>
                <a:ea typeface="Noto Sans Light"/>
                <a:cs typeface="Noto Sans Light"/>
                <a:sym typeface="Noto Sans Light"/>
              </a:rPr>
              <a:t> de </a:t>
            </a:r>
            <a:r>
              <a:rPr lang="en-US" sz="1200" dirty="0" err="1">
                <a:solidFill>
                  <a:schemeClr val="dk1"/>
                </a:solidFill>
                <a:latin typeface="Noto Sans Light"/>
                <a:ea typeface="Noto Sans Light"/>
                <a:cs typeface="Noto Sans Light"/>
                <a:sym typeface="Noto Sans Light"/>
              </a:rPr>
              <a:t>evento</a:t>
            </a:r>
            <a:r>
              <a:rPr lang="en-US" sz="1200" dirty="0">
                <a:solidFill>
                  <a:schemeClr val="dk1"/>
                </a:solidFill>
                <a:latin typeface="Noto Sans Light"/>
                <a:ea typeface="Noto Sans Light"/>
                <a:cs typeface="Noto Sans Light"/>
                <a:sym typeface="Noto Sans Light"/>
              </a:rPr>
              <a:t> (e.g.: </a:t>
            </a:r>
            <a:r>
              <a:rPr lang="en-US" sz="1200" dirty="0" err="1">
                <a:solidFill>
                  <a:schemeClr val="dk1"/>
                </a:solidFill>
                <a:latin typeface="Noto Sans Light"/>
                <a:ea typeface="Noto Sans Light"/>
                <a:cs typeface="Noto Sans Light"/>
                <a:sym typeface="Noto Sans Light"/>
              </a:rPr>
              <a:t>detetar</a:t>
            </a:r>
            <a:r>
              <a:rPr lang="en-US" sz="1200" dirty="0">
                <a:solidFill>
                  <a:schemeClr val="dk1"/>
                </a:solidFill>
                <a:latin typeface="Noto Sans Light"/>
                <a:ea typeface="Noto Sans Light"/>
                <a:cs typeface="Noto Sans Light"/>
                <a:sym typeface="Noto Sans Light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Noto Sans Light"/>
                <a:ea typeface="Noto Sans Light"/>
                <a:cs typeface="Noto Sans Light"/>
                <a:sym typeface="Noto Sans Light"/>
              </a:rPr>
              <a:t>alarmes</a:t>
            </a:r>
            <a:r>
              <a:rPr lang="en-US" sz="1200" dirty="0">
                <a:solidFill>
                  <a:schemeClr val="dk1"/>
                </a:solidFill>
                <a:latin typeface="Noto Sans Light"/>
                <a:ea typeface="Noto Sans Light"/>
                <a:cs typeface="Noto Sans Light"/>
                <a:sym typeface="Noto Sans Light"/>
              </a:rPr>
              <a:t>)</a:t>
            </a:r>
            <a:endParaRPr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78"/>
          <p:cNvSpPr txBox="1">
            <a:spLocks noGrp="1"/>
          </p:cNvSpPr>
          <p:nvPr>
            <p:ph type="title"/>
          </p:nvPr>
        </p:nvSpPr>
        <p:spPr>
          <a:xfrm>
            <a:off x="628650" y="136524"/>
            <a:ext cx="3791156" cy="1423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Noto Sans"/>
              <a:buNone/>
            </a:pPr>
            <a:r>
              <a:rPr lang="en-US"/>
              <a:t>Arquitetura por camadas</a:t>
            </a:r>
            <a:endParaRPr/>
          </a:p>
        </p:txBody>
      </p:sp>
      <p:sp>
        <p:nvSpPr>
          <p:cNvPr id="696" name="Google Shape;696;p78"/>
          <p:cNvSpPr txBox="1">
            <a:spLocks noGrp="1"/>
          </p:cNvSpPr>
          <p:nvPr>
            <p:ph type="body" idx="1"/>
          </p:nvPr>
        </p:nvSpPr>
        <p:spPr>
          <a:xfrm>
            <a:off x="629840" y="1812022"/>
            <a:ext cx="3791157" cy="438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rPr lang="en-US"/>
              <a:t>Divisão modular da solução de software em camadas/níveis de abstração.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rPr lang="en-US"/>
              <a:t>As camadas são sobrepostas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</a:pPr>
            <a:r>
              <a:rPr lang="en-US"/>
              <a:t>Cada camada tem uma especialização 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</a:pPr>
            <a:r>
              <a:rPr lang="en-US"/>
              <a:t>Camadas “em cima” pedem serviços às camadas “de baixo”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</a:pPr>
            <a:r>
              <a:rPr lang="en-US"/>
              <a:t>Não se pode saltar camadas: os componentes, em cada camada, “falam” com as camadas adjacentes.</a:t>
            </a:r>
            <a:endParaRPr/>
          </a:p>
        </p:txBody>
      </p:sp>
      <p:sp>
        <p:nvSpPr>
          <p:cNvPr id="697" name="Google Shape;697;p78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pic>
        <p:nvPicPr>
          <p:cNvPr id="698" name="Google Shape;698;p78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5298" r="36605"/>
          <a:stretch/>
        </p:blipFill>
        <p:spPr>
          <a:xfrm>
            <a:off x="5744389" y="1056698"/>
            <a:ext cx="2609350" cy="4870860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78">
            <a:hlinkClick r:id="rId4"/>
          </p:cNvPr>
          <p:cNvSpPr/>
          <p:nvPr/>
        </p:nvSpPr>
        <p:spPr>
          <a:xfrm>
            <a:off x="4355431" y="5954799"/>
            <a:ext cx="399830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https://martinfowler.com/bliki/PresentationDomainDataLayering.html</a:t>
            </a:r>
            <a:endParaRPr/>
          </a:p>
        </p:txBody>
      </p:sp>
      <p:sp>
        <p:nvSpPr>
          <p:cNvPr id="700" name="Google Shape;700;p7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54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79"/>
          <p:cNvSpPr txBox="1">
            <a:spLocks noGrp="1"/>
          </p:cNvSpPr>
          <p:nvPr>
            <p:ph type="title"/>
          </p:nvPr>
        </p:nvSpPr>
        <p:spPr>
          <a:xfrm>
            <a:off x="628650" y="136524"/>
            <a:ext cx="3791156" cy="1423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Noto Sans"/>
              <a:buNone/>
            </a:pPr>
            <a:r>
              <a:rPr lang="en-US"/>
              <a:t>A arquitetura de 3 camadas</a:t>
            </a:r>
            <a:endParaRPr/>
          </a:p>
        </p:txBody>
      </p:sp>
      <p:sp>
        <p:nvSpPr>
          <p:cNvPr id="706" name="Google Shape;706;p79"/>
          <p:cNvSpPr txBox="1">
            <a:spLocks noGrp="1"/>
          </p:cNvSpPr>
          <p:nvPr>
            <p:ph type="body" idx="1"/>
          </p:nvPr>
        </p:nvSpPr>
        <p:spPr>
          <a:xfrm>
            <a:off x="629840" y="1812022"/>
            <a:ext cx="3791157" cy="438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en-US"/>
              <a:t>Uma das formas mais comuns de modularizar um programa orientado para a gestão de informação é separá-lo em três camadas principais: </a:t>
            </a:r>
            <a:endParaRPr/>
          </a:p>
          <a:p>
            <a:pPr marL="342900" lvl="1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Font typeface="Noto Sans"/>
              <a:buAutoNum type="arabicParenR"/>
            </a:pPr>
            <a:r>
              <a:rPr lang="en-US"/>
              <a:t>apresentação (</a:t>
            </a:r>
            <a:r>
              <a:rPr lang="en-US" i="1"/>
              <a:t>user interface</a:t>
            </a:r>
            <a:r>
              <a:rPr lang="en-US"/>
              <a:t>, UI), </a:t>
            </a:r>
            <a:endParaRPr/>
          </a:p>
          <a:p>
            <a:pPr marL="342900" lvl="1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Font typeface="Noto Sans"/>
              <a:buAutoNum type="arabicParenR"/>
            </a:pPr>
            <a:r>
              <a:rPr lang="en-US"/>
              <a:t>lógica de domínio (a.k.a. </a:t>
            </a:r>
            <a:r>
              <a:rPr lang="en-US" i="1"/>
              <a:t>business logic</a:t>
            </a:r>
            <a:r>
              <a:rPr lang="en-US"/>
              <a:t>) </a:t>
            </a:r>
            <a:endParaRPr/>
          </a:p>
          <a:p>
            <a:pPr marL="342900" lvl="1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Font typeface="Noto Sans"/>
              <a:buAutoNum type="arabicParenR"/>
            </a:pPr>
            <a:r>
              <a:rPr lang="en-US"/>
              <a:t>acesso a dados.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en-US"/>
              <a:t>Desta forma, é normal organizar uma aplicação web em três camadas: </a:t>
            </a:r>
            <a:endParaRPr/>
          </a:p>
          <a:p>
            <a:pPr marL="285750" lvl="1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Font typeface="Arial"/>
              <a:buChar char="•"/>
            </a:pPr>
            <a:r>
              <a:rPr lang="en-US"/>
              <a:t>Uma camada web que sabe lidar com pedidos HTTP e preparar as páginas HTML, </a:t>
            </a:r>
            <a:endParaRPr/>
          </a:p>
          <a:p>
            <a:pPr marL="285750" lvl="1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Font typeface="Arial"/>
              <a:buChar char="•"/>
            </a:pPr>
            <a:r>
              <a:rPr lang="en-US"/>
              <a:t>uma camada com a lógica de negócio, que contém regras (algoritmos), validações e cálculos, </a:t>
            </a:r>
            <a:endParaRPr/>
          </a:p>
          <a:p>
            <a:pPr marL="285750" lvl="1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Font typeface="Arial"/>
              <a:buChar char="•"/>
            </a:pPr>
            <a:r>
              <a:rPr lang="en-US"/>
              <a:t>e uma camada de acesso de dados que assegura como gerir os dados de forma persistente, numa base de dados ou com integração de serviços remotos.</a:t>
            </a:r>
            <a:endParaRPr/>
          </a:p>
        </p:txBody>
      </p:sp>
      <p:sp>
        <p:nvSpPr>
          <p:cNvPr id="707" name="Google Shape;707;p79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708" name="Google Shape;708;p7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55</a:t>
            </a:fld>
            <a:endParaRPr/>
          </a:p>
        </p:txBody>
      </p:sp>
      <p:pic>
        <p:nvPicPr>
          <p:cNvPr id="709" name="Google Shape;709;p79"/>
          <p:cNvPicPr preferRelativeResize="0"/>
          <p:nvPr/>
        </p:nvPicPr>
        <p:blipFill rotWithShape="1">
          <a:blip r:embed="rId3">
            <a:alphaModFix/>
          </a:blip>
          <a:srcRect l="25298" r="36605"/>
          <a:stretch/>
        </p:blipFill>
        <p:spPr>
          <a:xfrm>
            <a:off x="5744389" y="1056698"/>
            <a:ext cx="2609350" cy="487086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79">
            <a:hlinkClick r:id="rId4"/>
          </p:cNvPr>
          <p:cNvSpPr/>
          <p:nvPr/>
        </p:nvSpPr>
        <p:spPr>
          <a:xfrm>
            <a:off x="4355431" y="5954799"/>
            <a:ext cx="399830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https://martinfowler.com/bliki/PresentationDomainDataLayering.html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80"/>
          <p:cNvSpPr txBox="1">
            <a:spLocks noGrp="1"/>
          </p:cNvSpPr>
          <p:nvPr>
            <p:ph type="title"/>
          </p:nvPr>
        </p:nvSpPr>
        <p:spPr>
          <a:xfrm>
            <a:off x="628650" y="136524"/>
            <a:ext cx="3791156" cy="1423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Noto Sans"/>
              <a:buNone/>
            </a:pPr>
            <a:r>
              <a:rPr lang="en-US"/>
              <a:t>Camadas e partições (modularização)</a:t>
            </a:r>
            <a:endParaRPr/>
          </a:p>
        </p:txBody>
      </p:sp>
      <p:sp>
        <p:nvSpPr>
          <p:cNvPr id="716" name="Google Shape;716;p80"/>
          <p:cNvSpPr>
            <a:spLocks noGrp="1"/>
          </p:cNvSpPr>
          <p:nvPr>
            <p:ph type="pic" idx="2"/>
          </p:nvPr>
        </p:nvSpPr>
        <p:spPr>
          <a:xfrm>
            <a:off x="4572000" y="583474"/>
            <a:ext cx="3942160" cy="567471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PT"/>
          </a:p>
        </p:txBody>
      </p:sp>
      <p:sp>
        <p:nvSpPr>
          <p:cNvPr id="717" name="Google Shape;717;p80"/>
          <p:cNvSpPr txBox="1">
            <a:spLocks noGrp="1"/>
          </p:cNvSpPr>
          <p:nvPr>
            <p:ph type="body" idx="1"/>
          </p:nvPr>
        </p:nvSpPr>
        <p:spPr>
          <a:xfrm>
            <a:off x="629840" y="1812022"/>
            <a:ext cx="3791157" cy="438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rPr lang="en-US"/>
              <a:t>Camadas verticais:</a:t>
            </a:r>
            <a:endParaRPr/>
          </a:p>
          <a:p>
            <a:pPr marL="285750" lvl="1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600"/>
              <a:buFont typeface="Noto Sans Light"/>
              <a:buChar char="-"/>
            </a:pPr>
            <a:r>
              <a:rPr lang="en-US"/>
              <a:t>divisão por níveis de abstração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rPr lang="en-US"/>
              <a:t>Partições horizontais:</a:t>
            </a:r>
            <a:endParaRPr/>
          </a:p>
          <a:p>
            <a:pPr marL="285750" lvl="1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600"/>
              <a:buFont typeface="Noto Sans Light"/>
              <a:buChar char="-"/>
            </a:pPr>
            <a:r>
              <a:rPr lang="en-US"/>
              <a:t>Módulos dentro de uma camada</a:t>
            </a:r>
            <a:endParaRPr/>
          </a:p>
          <a:p>
            <a:pPr marL="285750" lvl="1" indent="-1841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600"/>
              <a:buFont typeface="Noto Sans Light"/>
              <a:buNone/>
            </a:pP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</a:pPr>
            <a:r>
              <a:rPr lang="en-US"/>
              <a:t>E.g.: a lógica do domínio está dividida em grandes módulos funcionais especializados, agrupando as programação relativa às Vendas, aos Pagamentos e à Fiscalidade. </a:t>
            </a:r>
            <a:endParaRPr/>
          </a:p>
        </p:txBody>
      </p:sp>
      <p:sp>
        <p:nvSpPr>
          <p:cNvPr id="718" name="Google Shape;718;p80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pic>
        <p:nvPicPr>
          <p:cNvPr id="719" name="Google Shape;719;p8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57026" y="2257425"/>
            <a:ext cx="4414333" cy="4012327"/>
          </a:xfrm>
          <a:prstGeom prst="rect">
            <a:avLst/>
          </a:prstGeom>
          <a:noFill/>
          <a:ln>
            <a:noFill/>
          </a:ln>
        </p:spPr>
      </p:pic>
      <p:sp>
        <p:nvSpPr>
          <p:cNvPr id="720" name="Google Shape;720;p8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56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81"/>
          <p:cNvSpPr txBox="1">
            <a:spLocks noGrp="1"/>
          </p:cNvSpPr>
          <p:nvPr>
            <p:ph type="title"/>
          </p:nvPr>
        </p:nvSpPr>
        <p:spPr>
          <a:xfrm>
            <a:off x="1785256" y="365127"/>
            <a:ext cx="6730093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endParaRPr/>
          </a:p>
        </p:txBody>
      </p:sp>
      <p:sp>
        <p:nvSpPr>
          <p:cNvPr id="726" name="Google Shape;726;p81"/>
          <p:cNvSpPr txBox="1">
            <a:spLocks noGrp="1"/>
          </p:cNvSpPr>
          <p:nvPr>
            <p:ph type="ftr" idx="11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pic>
        <p:nvPicPr>
          <p:cNvPr id="727" name="Google Shape;727;p8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8575"/>
            <a:ext cx="7534275" cy="6800850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81"/>
          <p:cNvSpPr/>
          <p:nvPr/>
        </p:nvSpPr>
        <p:spPr>
          <a:xfrm>
            <a:off x="7534275" y="6460093"/>
            <a:ext cx="153118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[Larman’04] </a:t>
            </a:r>
            <a:endParaRPr sz="180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729" name="Google Shape;729;p81"/>
          <p:cNvPicPr preferRelativeResize="0"/>
          <p:nvPr/>
        </p:nvPicPr>
        <p:blipFill rotWithShape="1">
          <a:blip r:embed="rId4">
            <a:alphaModFix/>
          </a:blip>
          <a:srcRect l="25298" r="36605"/>
          <a:stretch/>
        </p:blipFill>
        <p:spPr>
          <a:xfrm rot="694952">
            <a:off x="7197097" y="1640159"/>
            <a:ext cx="1655432" cy="3090186"/>
          </a:xfrm>
          <a:prstGeom prst="rect">
            <a:avLst/>
          </a:prstGeom>
          <a:solidFill>
            <a:srgbClr val="ECECEC"/>
          </a:solidFill>
          <a:ln w="88900" cap="sq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30" name="Google Shape;730;p81"/>
          <p:cNvSpPr/>
          <p:nvPr/>
        </p:nvSpPr>
        <p:spPr>
          <a:xfrm>
            <a:off x="6700835" y="5245205"/>
            <a:ext cx="2364628" cy="834753"/>
          </a:xfrm>
          <a:prstGeom prst="wedgeRoundRectCallout">
            <a:avLst>
              <a:gd name="adj1" fmla="val -36670"/>
              <a:gd name="adj2" fmla="val -101068"/>
              <a:gd name="adj3" fmla="val 16667"/>
            </a:avLst>
          </a:prstGeom>
          <a:solidFill>
            <a:srgbClr val="29AF8C">
              <a:alpha val="8470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F2F2"/>
                </a:solidFill>
                <a:latin typeface="Noto Sans Light"/>
                <a:ea typeface="Noto Sans Light"/>
                <a:cs typeface="Noto Sans Light"/>
                <a:sym typeface="Noto Sans Light"/>
              </a:rPr>
              <a:t>Algumas arquiteturas baseiam-se no modelo  três camadas que ampliam para mostrar uma maior especialização de responsabilidades</a:t>
            </a:r>
            <a:endParaRPr/>
          </a:p>
        </p:txBody>
      </p:sp>
      <p:sp>
        <p:nvSpPr>
          <p:cNvPr id="731" name="Google Shape;731;p8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57</a:t>
            </a:fld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82"/>
          <p:cNvSpPr txBox="1">
            <a:spLocks noGrp="1"/>
          </p:cNvSpPr>
          <p:nvPr>
            <p:ph type="title"/>
          </p:nvPr>
        </p:nvSpPr>
        <p:spPr>
          <a:xfrm>
            <a:off x="1785254" y="1709739"/>
            <a:ext cx="6725333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Noto Sans"/>
              <a:buNone/>
            </a:pPr>
            <a:r>
              <a:rPr lang="en-US"/>
              <a:t>Voltando ao início: arquitetura no openUP</a:t>
            </a:r>
            <a:endParaRPr/>
          </a:p>
        </p:txBody>
      </p:sp>
      <p:sp>
        <p:nvSpPr>
          <p:cNvPr id="737" name="Google Shape;737;p82"/>
          <p:cNvSpPr txBox="1">
            <a:spLocks noGrp="1"/>
          </p:cNvSpPr>
          <p:nvPr>
            <p:ph type="body" idx="1"/>
          </p:nvPr>
        </p:nvSpPr>
        <p:spPr>
          <a:xfrm>
            <a:off x="1785256" y="4589464"/>
            <a:ext cx="6725332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endParaRPr/>
          </a:p>
        </p:txBody>
      </p:sp>
      <p:sp>
        <p:nvSpPr>
          <p:cNvPr id="738" name="Google Shape;738;p82"/>
          <p:cNvSpPr txBox="1">
            <a:spLocks noGrp="1"/>
          </p:cNvSpPr>
          <p:nvPr>
            <p:ph type="ftr" idx="11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739" name="Google Shape;739;p8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58</a:t>
            </a:fld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83"/>
          <p:cNvSpPr txBox="1">
            <a:spLocks noGrp="1"/>
          </p:cNvSpPr>
          <p:nvPr>
            <p:ph type="title"/>
          </p:nvPr>
        </p:nvSpPr>
        <p:spPr>
          <a:xfrm>
            <a:off x="566058" y="365127"/>
            <a:ext cx="7949292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rPr lang="en-US" i="1"/>
              <a:t>Elaboration</a:t>
            </a:r>
            <a:r>
              <a:rPr lang="en-US"/>
              <a:t>: saber como construir, construindo uma parte</a:t>
            </a:r>
            <a:endParaRPr/>
          </a:p>
        </p:txBody>
      </p:sp>
      <p:sp>
        <p:nvSpPr>
          <p:cNvPr id="746" name="Google Shape;746;p83"/>
          <p:cNvSpPr txBox="1">
            <a:spLocks noGrp="1"/>
          </p:cNvSpPr>
          <p:nvPr>
            <p:ph type="body" idx="1"/>
          </p:nvPr>
        </p:nvSpPr>
        <p:spPr>
          <a:xfrm>
            <a:off x="6286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en-US"/>
              <a:t>Importante mitigar riscos técnicos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None/>
            </a:pPr>
            <a:r>
              <a:rPr lang="en-US"/>
              <a:t>Definir a arquitetura do Sistema, implementar uma parte (🡪 arquitetura executável)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en-US"/>
              <a:t>Validar a arquitetura</a:t>
            </a:r>
            <a:endParaRPr b="1"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None/>
            </a:pPr>
            <a:r>
              <a:rPr lang="en-US"/>
              <a:t>Construir “esqueletos” para os componentes principais e começar a sua integração.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None/>
            </a:pPr>
            <a:r>
              <a:rPr lang="en-US"/>
              <a:t>Identificar dependências de sistemas e componentes externos e especificar como serão integrados.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None/>
            </a:pPr>
            <a:r>
              <a:rPr lang="en-US"/>
              <a:t>~10% do código será implementado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en-US"/>
              <a:t>Basear a arquitetura nos casos de utilização nucleares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None/>
            </a:pPr>
            <a:r>
              <a:rPr lang="en-US" b="1"/>
              <a:t>20% dos casos de uso determinam 80% da arquitetura</a:t>
            </a:r>
            <a:br>
              <a:rPr lang="en-US" b="1"/>
            </a:br>
            <a:endParaRPr/>
          </a:p>
        </p:txBody>
      </p:sp>
      <p:sp>
        <p:nvSpPr>
          <p:cNvPr id="747" name="Google Shape;747;p83"/>
          <p:cNvSpPr txBox="1">
            <a:spLocks noGrp="1"/>
          </p:cNvSpPr>
          <p:nvPr>
            <p:ph type="body" idx="2"/>
          </p:nvPr>
        </p:nvSpPr>
        <p:spPr>
          <a:xfrm>
            <a:off x="46291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endParaRPr/>
          </a:p>
        </p:txBody>
      </p:sp>
      <p:sp>
        <p:nvSpPr>
          <p:cNvPr id="748" name="Google Shape;748;p83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749" name="Google Shape;749;p8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59</a:t>
            </a:fld>
            <a:endParaRPr/>
          </a:p>
        </p:txBody>
      </p:sp>
      <p:sp>
        <p:nvSpPr>
          <p:cNvPr id="750" name="Google Shape;750;p83"/>
          <p:cNvSpPr/>
          <p:nvPr/>
        </p:nvSpPr>
        <p:spPr>
          <a:xfrm>
            <a:off x="1359877" y="5934120"/>
            <a:ext cx="32923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Credit: Per Kroll (IBM)</a:t>
            </a:r>
            <a:endParaRPr/>
          </a:p>
        </p:txBody>
      </p:sp>
      <p:pic>
        <p:nvPicPr>
          <p:cNvPr id="751" name="Google Shape;751;p8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10638" y="3411474"/>
            <a:ext cx="4357957" cy="2128701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83"/>
          <p:cNvSpPr/>
          <p:nvPr/>
        </p:nvSpPr>
        <p:spPr>
          <a:xfrm>
            <a:off x="5002903" y="1413876"/>
            <a:ext cx="3965692" cy="1271936"/>
          </a:xfrm>
          <a:prstGeom prst="wedgeRectCallout">
            <a:avLst>
              <a:gd name="adj1" fmla="val -45512"/>
              <a:gd name="adj2" fmla="val 122565"/>
            </a:avLst>
          </a:prstGeom>
          <a:gradFill>
            <a:gsLst>
              <a:gs pos="0">
                <a:srgbClr val="9DD9C2"/>
              </a:gs>
              <a:gs pos="50000">
                <a:srgbClr val="90CFB7"/>
              </a:gs>
              <a:gs pos="100000">
                <a:srgbClr val="7BCCAF"/>
              </a:gs>
            </a:gsLst>
            <a:lin ang="5400000" scaled="0"/>
          </a:gra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2000" tIns="45700" rIns="720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Controlar os riscos técnicos, aprofundando os requisitos e desenvolvendo a arquitetura / plano técnico. Comprovar a arquitetura implementando uma parte.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84"/>
          <p:cNvSpPr txBox="1">
            <a:spLocks noGrp="1"/>
          </p:cNvSpPr>
          <p:nvPr>
            <p:ph type="title"/>
          </p:nvPr>
        </p:nvSpPr>
        <p:spPr>
          <a:xfrm>
            <a:off x="1785256" y="365126"/>
            <a:ext cx="6730094" cy="760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800"/>
              <a:buFont typeface="Noto Sans"/>
              <a:buNone/>
            </a:pPr>
            <a:r>
              <a:rPr lang="en-US"/>
              <a:t>OpenUP practice: evolutionary architecture</a:t>
            </a:r>
            <a:endParaRPr/>
          </a:p>
        </p:txBody>
      </p:sp>
      <p:sp>
        <p:nvSpPr>
          <p:cNvPr id="758" name="Google Shape;758;p84"/>
          <p:cNvSpPr txBox="1">
            <a:spLocks noGrp="1"/>
          </p:cNvSpPr>
          <p:nvPr>
            <p:ph type="ftr" idx="11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759" name="Google Shape;759;p8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60</a:t>
            </a:fld>
            <a:endParaRPr/>
          </a:p>
        </p:txBody>
      </p:sp>
      <p:pic>
        <p:nvPicPr>
          <p:cNvPr id="760" name="Google Shape;760;p8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0841" y="1214845"/>
            <a:ext cx="8903158" cy="5607338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84"/>
          <p:cNvSpPr/>
          <p:nvPr/>
        </p:nvSpPr>
        <p:spPr>
          <a:xfrm>
            <a:off x="5438512" y="2096878"/>
            <a:ext cx="3826869" cy="2292852"/>
          </a:xfrm>
          <a:prstGeom prst="wedgeEllipseCallout">
            <a:avLst>
              <a:gd name="adj1" fmla="val -78751"/>
              <a:gd name="adj2" fmla="val -65747"/>
            </a:avLst>
          </a:prstGeom>
          <a:gradFill>
            <a:gsLst>
              <a:gs pos="0">
                <a:srgbClr val="4EBA98"/>
              </a:gs>
              <a:gs pos="50000">
                <a:srgbClr val="21B58E"/>
              </a:gs>
              <a:gs pos="100000">
                <a:srgbClr val="17A680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Analisar as principais preocupações técnicas; recolher decisões de arquitetura; avaliar, documentar e comunicar decisões.</a:t>
            </a:r>
            <a:br>
              <a:rPr lang="en-US" sz="18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</a:b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85"/>
          <p:cNvSpPr txBox="1">
            <a:spLocks noGrp="1"/>
          </p:cNvSpPr>
          <p:nvPr>
            <p:ph type="title"/>
          </p:nvPr>
        </p:nvSpPr>
        <p:spPr>
          <a:xfrm>
            <a:off x="1785256" y="365126"/>
            <a:ext cx="6730094" cy="760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800"/>
              <a:buFont typeface="Noto Sans"/>
              <a:buNone/>
            </a:pPr>
            <a:r>
              <a:rPr lang="en-US"/>
              <a:t>Porque é que é “evolutiva”?</a:t>
            </a:r>
            <a:endParaRPr/>
          </a:p>
        </p:txBody>
      </p:sp>
      <p:sp>
        <p:nvSpPr>
          <p:cNvPr id="767" name="Google Shape;767;p85"/>
          <p:cNvSpPr txBox="1">
            <a:spLocks noGrp="1"/>
          </p:cNvSpPr>
          <p:nvPr>
            <p:ph type="body" idx="1"/>
          </p:nvPr>
        </p:nvSpPr>
        <p:spPr>
          <a:xfrm>
            <a:off x="1756680" y="1338202"/>
            <a:ext cx="6730095" cy="4805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r>
              <a:rPr lang="en-US"/>
              <a:t>No OpenUP:</a:t>
            </a:r>
            <a:endParaRPr/>
          </a:p>
          <a:p>
            <a:pPr marL="285750" lvl="1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Font typeface="Arial"/>
              <a:buChar char="•"/>
            </a:pPr>
            <a:r>
              <a:rPr lang="en-US"/>
              <a:t>Analisar as principais questões técnicas que afetam a solução  </a:t>
            </a:r>
            <a:br>
              <a:rPr lang="en-US"/>
            </a:br>
            <a:r>
              <a:rPr lang="en-US"/>
              <a:t>Documentar decisões de arquitetura para garantir que foram avaliadas e comunicadas </a:t>
            </a:r>
            <a:endParaRPr/>
          </a:p>
          <a:p>
            <a:pPr marL="285750" lvl="1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Font typeface="Arial"/>
              <a:buChar char="•"/>
            </a:pPr>
            <a:r>
              <a:rPr lang="en-US"/>
              <a:t>Implementar e testar capacidades-chave como forma de lidar com os desafios de arquitetura</a:t>
            </a:r>
            <a:br>
              <a:rPr lang="en-US"/>
            </a:br>
            <a:r>
              <a:rPr lang="en-US"/>
              <a:t>Evoluir ao longo do tempo, a par com o trabalho de implementação “normal”</a:t>
            </a:r>
            <a:endParaRPr/>
          </a:p>
          <a:p>
            <a:pPr marL="285750" lvl="1" indent="-171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Font typeface="Arial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r>
              <a:rPr lang="en-US"/>
              <a:t>Ideia de fundo: 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</a:pPr>
            <a:r>
              <a:rPr lang="en-US"/>
              <a:t>a escolha da arquitetura comporta riscos que devem ser controlados cedo, experimentando as capacidades-chave.</a:t>
            </a:r>
            <a:endParaRPr/>
          </a:p>
        </p:txBody>
      </p:sp>
      <p:sp>
        <p:nvSpPr>
          <p:cNvPr id="768" name="Google Shape;768;p85"/>
          <p:cNvSpPr txBox="1">
            <a:spLocks noGrp="1"/>
          </p:cNvSpPr>
          <p:nvPr>
            <p:ph type="ftr" idx="11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769" name="Google Shape;769;p8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61</a:t>
            </a:fld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86"/>
          <p:cNvSpPr txBox="1">
            <a:spLocks noGrp="1"/>
          </p:cNvSpPr>
          <p:nvPr>
            <p:ph type="title"/>
          </p:nvPr>
        </p:nvSpPr>
        <p:spPr>
          <a:xfrm>
            <a:off x="1785256" y="365127"/>
            <a:ext cx="6730093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ct val="100000"/>
              <a:buFont typeface="Noto Sans"/>
              <a:buNone/>
            </a:pPr>
            <a:r>
              <a:rPr lang="en-US"/>
              <a:t>Considerar o uso de arquiteturas lógicas nos projetos de grupo.</a:t>
            </a:r>
            <a:endParaRPr/>
          </a:p>
        </p:txBody>
      </p:sp>
      <p:sp>
        <p:nvSpPr>
          <p:cNvPr id="775" name="Google Shape;775;p86"/>
          <p:cNvSpPr txBox="1">
            <a:spLocks noGrp="1"/>
          </p:cNvSpPr>
          <p:nvPr>
            <p:ph type="ftr" idx="11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776" name="Google Shape;776;p8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62</a:t>
            </a:fld>
            <a:endParaRPr/>
          </a:p>
        </p:txBody>
      </p:sp>
      <p:pic>
        <p:nvPicPr>
          <p:cNvPr id="777" name="Google Shape;777;p8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52392" y="1217795"/>
            <a:ext cx="4023560" cy="4575362"/>
          </a:xfrm>
          <a:prstGeom prst="rect">
            <a:avLst/>
          </a:prstGeom>
          <a:noFill/>
          <a:ln>
            <a:noFill/>
          </a:ln>
        </p:spPr>
      </p:pic>
      <p:sp>
        <p:nvSpPr>
          <p:cNvPr id="778" name="Google Shape;778;p86"/>
          <p:cNvSpPr/>
          <p:nvPr/>
        </p:nvSpPr>
        <p:spPr>
          <a:xfrm>
            <a:off x="3511355" y="5793156"/>
            <a:ext cx="3234350" cy="928320"/>
          </a:xfrm>
          <a:prstGeom prst="wedgeRoundRectCallout">
            <a:avLst>
              <a:gd name="adj1" fmla="val 2339"/>
              <a:gd name="adj2" fmla="val -91459"/>
              <a:gd name="adj3" fmla="val 16667"/>
            </a:avLst>
          </a:prstGeom>
          <a:solidFill>
            <a:srgbClr val="29AF8C">
              <a:alpha val="8470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F2F2"/>
                </a:solidFill>
                <a:latin typeface="Noto Sans Light"/>
                <a:ea typeface="Noto Sans Light"/>
                <a:cs typeface="Noto Sans Light"/>
                <a:sym typeface="Noto Sans Light"/>
              </a:rPr>
              <a:t>Opção II: </a:t>
            </a:r>
            <a:r>
              <a:rPr lang="en-US" sz="1200" i="1">
                <a:solidFill>
                  <a:srgbClr val="F2F2F2"/>
                </a:solidFill>
                <a:latin typeface="Noto Sans Light"/>
                <a:ea typeface="Noto Sans Light"/>
                <a:cs typeface="Noto Sans Light"/>
                <a:sym typeface="Noto Sans Light"/>
              </a:rPr>
              <a:t>stack</a:t>
            </a:r>
            <a:r>
              <a:rPr lang="en-US" sz="1200">
                <a:solidFill>
                  <a:srgbClr val="F2F2F2"/>
                </a:solidFill>
                <a:latin typeface="Noto Sans Light"/>
                <a:ea typeface="Noto Sans Light"/>
                <a:cs typeface="Noto Sans Light"/>
                <a:sym typeface="Noto Sans Light"/>
              </a:rPr>
              <a:t> de módulos, mostra os componentes da aplicação tendo em conta os elementos da implementação. Explica a forma como as tecnologias/ambientes/bibliotecas  serão usadas na construção da “full stack”. </a:t>
            </a:r>
            <a:endParaRPr/>
          </a:p>
        </p:txBody>
      </p:sp>
      <p:pic>
        <p:nvPicPr>
          <p:cNvPr id="779" name="Google Shape;779;p8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2741" y="1243980"/>
            <a:ext cx="4193431" cy="4306588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86"/>
          <p:cNvSpPr/>
          <p:nvPr/>
        </p:nvSpPr>
        <p:spPr>
          <a:xfrm>
            <a:off x="113080" y="5793157"/>
            <a:ext cx="2932449" cy="834753"/>
          </a:xfrm>
          <a:prstGeom prst="wedgeRoundRectCallout">
            <a:avLst>
              <a:gd name="adj1" fmla="val 2339"/>
              <a:gd name="adj2" fmla="val -91459"/>
              <a:gd name="adj3" fmla="val 16667"/>
            </a:avLst>
          </a:prstGeom>
          <a:solidFill>
            <a:srgbClr val="29AF8C">
              <a:alpha val="8470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F2F2"/>
                </a:solidFill>
                <a:latin typeface="Noto Sans Light"/>
                <a:ea typeface="Noto Sans Light"/>
                <a:cs typeface="Noto Sans Light"/>
                <a:sym typeface="Noto Sans Light"/>
              </a:rPr>
              <a:t>Opção I: vista puramente lógica, sem elementos de implementação. Destaca a modularização esperada do sistema.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87"/>
          <p:cNvSpPr txBox="1">
            <a:spLocks noGrp="1"/>
          </p:cNvSpPr>
          <p:nvPr>
            <p:ph type="title"/>
          </p:nvPr>
        </p:nvSpPr>
        <p:spPr>
          <a:xfrm>
            <a:off x="1785256" y="365126"/>
            <a:ext cx="6730094" cy="760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800"/>
              <a:buFont typeface="Noto Sans"/>
              <a:buNone/>
            </a:pPr>
            <a:r>
              <a:rPr lang="en-US"/>
              <a:t>Referências</a:t>
            </a:r>
            <a:endParaRPr/>
          </a:p>
        </p:txBody>
      </p:sp>
      <p:sp>
        <p:nvSpPr>
          <p:cNvPr id="786" name="Google Shape;786;p8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63</a:t>
            </a:fld>
            <a:endParaRPr/>
          </a:p>
        </p:txBody>
      </p:sp>
      <p:graphicFrame>
        <p:nvGraphicFramePr>
          <p:cNvPr id="787" name="Google Shape;787;p87"/>
          <p:cNvGraphicFramePr/>
          <p:nvPr/>
        </p:nvGraphicFramePr>
        <p:xfrm>
          <a:off x="628650" y="1489075"/>
          <a:ext cx="7886700" cy="2316500"/>
        </p:xfrm>
        <a:graphic>
          <a:graphicData uri="http://schemas.openxmlformats.org/drawingml/2006/table">
            <a:tbl>
              <a:tblPr firstRow="1" bandRow="1">
                <a:noFill/>
                <a:tableStyleId>{E6C250D5-D42B-4F63-AAA0-4A4736E1D819}</a:tableStyleId>
              </a:tblPr>
              <a:tblGrid>
                <a:gridCol w="3849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Core readings</a:t>
                      </a:r>
                      <a:endParaRPr sz="2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Suggested readings</a:t>
                      </a:r>
                      <a:endParaRPr sz="20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Char char="•"/>
                      </a:pPr>
                      <a:r>
                        <a:rPr lang="en-US" sz="2000"/>
                        <a:t>[Larman04] – Chap. 13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3429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Char char="•"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Bass, Clements, Kazman, “</a:t>
                      </a:r>
                      <a:r>
                        <a:rPr lang="en-US" sz="2000" u="sng">
                          <a:solidFill>
                            <a:schemeClr val="hlink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  <a:hlinkClick r:id="rId3"/>
                        </a:rPr>
                        <a:t>Software Architecture in Practice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”, 4th ed.</a:t>
                      </a:r>
                      <a:endParaRPr/>
                    </a:p>
                    <a:p>
                      <a:pPr marL="3429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Char char="•"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Fowler, “</a:t>
                      </a:r>
                      <a:r>
                        <a:rPr lang="en-US" sz="2000" u="sng">
                          <a:solidFill>
                            <a:schemeClr val="hlink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  <a:hlinkClick r:id="rId4"/>
                        </a:rPr>
                        <a:t>Software Architecture Guide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”</a:t>
                      </a:r>
                      <a:endParaRPr/>
                    </a:p>
                    <a:p>
                      <a:pPr marL="342900" marR="0" lvl="0" indent="-215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endParaRPr sz="2000">
                        <a:solidFill>
                          <a:schemeClr val="dk1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88" name="Google Shape;788;p87"/>
          <p:cNvSpPr txBox="1">
            <a:spLocks noGrp="1"/>
          </p:cNvSpPr>
          <p:nvPr>
            <p:ph type="ftr" idx="11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3261</Words>
  <Application>Microsoft Office PowerPoint</Application>
  <PresentationFormat>On-screen Show (4:3)</PresentationFormat>
  <Paragraphs>418</Paragraphs>
  <Slides>63</Slides>
  <Notes>63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1" baseType="lpstr">
      <vt:lpstr>Barlow Condensed SemiBold</vt:lpstr>
      <vt:lpstr>Arial</vt:lpstr>
      <vt:lpstr>Noto Sans</vt:lpstr>
      <vt:lpstr>Open Sans Light</vt:lpstr>
      <vt:lpstr>Noto Sans Light</vt:lpstr>
      <vt:lpstr>Noto Sans Symbols</vt:lpstr>
      <vt:lpstr>Calibri</vt:lpstr>
      <vt:lpstr>Office Theme</vt:lpstr>
      <vt:lpstr>Arquitetura: qualidades e trade-offs</vt:lpstr>
      <vt:lpstr>Objetivos de aprendizagem</vt:lpstr>
      <vt:lpstr>PowerPoint Presentation</vt:lpstr>
      <vt:lpstr>PowerPoint Presentation</vt:lpstr>
      <vt:lpstr>PowerPoint Presentation</vt:lpstr>
      <vt:lpstr>Pensamento orientado para a arquitetura</vt:lpstr>
      <vt:lpstr>Android stack (visão geral)</vt:lpstr>
      <vt:lpstr>PowerPoint Presentation</vt:lpstr>
      <vt:lpstr>Elementos comuns</vt:lpstr>
      <vt:lpstr>O que é a arquitetura de software?</vt:lpstr>
      <vt:lpstr>Vistas de arquitetura na UML</vt:lpstr>
      <vt:lpstr>PowerPoint Presentation</vt:lpstr>
      <vt:lpstr>A arquitetura do sistema aborda diferentes perspetivas de análise</vt:lpstr>
      <vt:lpstr>Arquitetura lógica</vt:lpstr>
      <vt:lpstr>Elementos do diagrama de pacotes</vt:lpstr>
      <vt:lpstr>Comunicar a arquitetura lógica com pacotes (packages)</vt:lpstr>
      <vt:lpstr>Associações entre pacotes</vt:lpstr>
      <vt:lpstr>PowerPoint Presentation</vt:lpstr>
      <vt:lpstr>A arquitetura do sistema aborda diferentes perspetivas de análise</vt:lpstr>
      <vt:lpstr>Componente</vt:lpstr>
      <vt:lpstr>PowerPoint Presentation</vt:lpstr>
      <vt:lpstr>Arquitetura de componentes do software</vt:lpstr>
      <vt:lpstr>Solução modular com componentes</vt:lpstr>
      <vt:lpstr>O mesmo modelo, notação ligeiramente diferente 1</vt:lpstr>
      <vt:lpstr>O mesmo modelo, notação ligeiramente diferente 2</vt:lpstr>
      <vt:lpstr>Notação “caixa fechada” / “caixa aberta”</vt:lpstr>
      <vt:lpstr>Caso de exemplo: componentes-conetores (C&amp;C)</vt:lpstr>
      <vt:lpstr>A arquitetura do sistema aborda diferentes perspetivas de análise</vt:lpstr>
      <vt:lpstr>Diagramas de instalação da UML</vt:lpstr>
      <vt:lpstr>PowerPoint Presentation</vt:lpstr>
      <vt:lpstr>Os artefactos são executados em nós</vt:lpstr>
      <vt:lpstr>Rastreabilidade até aos componentes</vt:lpstr>
      <vt:lpstr>PowerPoint Presentation</vt:lpstr>
      <vt:lpstr>Exemplos (diagrama de instalação)</vt:lpstr>
      <vt:lpstr>Vista de módulos 🡪 na UML: d. de pacotes</vt:lpstr>
      <vt:lpstr>Vista C&amp;C 🡪 na UML: d. componentes</vt:lpstr>
      <vt:lpstr>Vista de alocação 🡪 na UML:  d. instalação/deployment</vt:lpstr>
      <vt:lpstr>PowerPoint Presentation</vt:lpstr>
      <vt:lpstr>Vista dinâmica (interação). Notar o nível de abstração (subsistema, não objetos)</vt:lpstr>
      <vt:lpstr>Requisitos com impacto nas decisões de arquitetura</vt:lpstr>
      <vt:lpstr>As decisões de arquitetura são conduzidas pelos requisitos</vt:lpstr>
      <vt:lpstr>Requisitos significativos para a arquitetura</vt:lpstr>
      <vt:lpstr>Exemplo de um sistema complexo: Feedzai</vt:lpstr>
      <vt:lpstr>Caraterísticas de uma arquitetura: operacionais </vt:lpstr>
      <vt:lpstr>Os requisitos conduzem a arquitetura</vt:lpstr>
      <vt:lpstr>Os requisitos conduzem a arquitetura</vt:lpstr>
      <vt:lpstr>A arquitetura de software é importante! Razões técnicas e não técnicas</vt:lpstr>
      <vt:lpstr>PowerPoint Presentation</vt:lpstr>
      <vt:lpstr>Estilos de arquitetura (introd.)</vt:lpstr>
      <vt:lpstr>Estilos de arquitetura</vt:lpstr>
      <vt:lpstr>Qual é o “padrão”?</vt:lpstr>
      <vt:lpstr>Processamento de eventos (event-driven)</vt:lpstr>
      <vt:lpstr>Um exemplo da indústria: uma solução de M2M (machine-to-machine)</vt:lpstr>
      <vt:lpstr>Arquitetura por camadas</vt:lpstr>
      <vt:lpstr>A arquitetura de 3 camadas</vt:lpstr>
      <vt:lpstr>Camadas e partições (modularização)</vt:lpstr>
      <vt:lpstr>PowerPoint Presentation</vt:lpstr>
      <vt:lpstr>Voltando ao início: arquitetura no openUP</vt:lpstr>
      <vt:lpstr>Elaboration: saber como construir, construindo uma parte</vt:lpstr>
      <vt:lpstr>OpenUP practice: evolutionary architecture</vt:lpstr>
      <vt:lpstr>Porque é que é “evolutiva”?</vt:lpstr>
      <vt:lpstr>Considerar o uso de arquiteturas lógicas nos projetos de grupo.</vt:lpstr>
      <vt:lpstr>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Ilídio Oliveira</cp:lastModifiedBy>
  <cp:revision>1</cp:revision>
  <dcterms:modified xsi:type="dcterms:W3CDTF">2025-12-09T23:15:10Z</dcterms:modified>
</cp:coreProperties>
</file>