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embeddedFontLst>
    <p:embeddedFont>
      <p:font typeface="Barlow" panose="00000500000000000000" pitchFamily="2" charset="0"/>
      <p:regular r:id="rId41"/>
      <p:bold r:id="rId42"/>
      <p:italic r:id="rId43"/>
      <p:boldItalic r:id="rId44"/>
    </p:embeddedFont>
    <p:embeddedFont>
      <p:font typeface="Barlow Light" panose="00000400000000000000" pitchFamily="2" charset="0"/>
      <p:regular r:id="rId45"/>
      <p:bold r:id="rId46"/>
      <p:italic r:id="rId47"/>
      <p:boldItalic r:id="rId48"/>
    </p:embeddedFont>
    <p:embeddedFont>
      <p:font typeface="Barlow Medium" panose="00000600000000000000" pitchFamily="2" charset="0"/>
      <p:regular r:id="rId49"/>
      <p:bold r:id="rId50"/>
      <p:italic r:id="rId51"/>
      <p:boldItalic r:id="rId52"/>
    </p:embeddedFont>
    <p:embeddedFont>
      <p:font typeface="Noto Sans" panose="020B0502040504020204" pitchFamily="34" charset="0"/>
      <p:regular r:id="rId53"/>
      <p:bold r:id="rId54"/>
      <p:italic r:id="rId55"/>
      <p:boldItalic r:id="rId56"/>
    </p:embeddedFont>
    <p:embeddedFont>
      <p:font typeface="Noto Sans Light" panose="020B0604020202020204" charset="0"/>
      <p:regular r:id="rId57"/>
      <p:bold r:id="rId58"/>
      <p:italic r:id="rId59"/>
      <p:boldItalic r:id="rId60"/>
    </p:embeddedFont>
    <p:embeddedFont>
      <p:font typeface="Nunito" pitchFamily="2" charset="0"/>
      <p:regular r:id="rId61"/>
      <p:bold r:id="rId62"/>
      <p:italic r:id="rId63"/>
      <p:boldItalic r:id="rId64"/>
    </p:embeddedFont>
    <p:embeddedFont>
      <p:font typeface="Open Sans" panose="020B0606030504020204" pitchFamily="34" charset="0"/>
      <p:regular r:id="rId65"/>
      <p:bold r:id="rId66"/>
      <p:italic r:id="rId67"/>
      <p:boldItalic r:id="rId68"/>
    </p:embeddedFont>
    <p:embeddedFont>
      <p:font typeface="Open Sans Light" panose="020B0306030504020204" pitchFamily="34" charset="0"/>
      <p:regular r:id="rId69"/>
      <p:bold r:id="rId70"/>
      <p:italic r:id="rId71"/>
      <p:boldItalic r:id="rId72"/>
    </p:embeddedFont>
    <p:embeddedFont>
      <p:font typeface="Raleway" pitchFamily="2" charset="0"/>
      <p:regular r:id="rId73"/>
      <p:bold r:id="rId74"/>
      <p:italic r:id="rId75"/>
      <p:boldItalic r:id="rId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19773E-3B80-4D37-AFBE-8CBFCBB58467}" v="1" dt="2025-10-08T08:32:13.010"/>
  </p1510:revLst>
</p1510:revInfo>
</file>

<file path=ppt/tableStyles.xml><?xml version="1.0" encoding="utf-8"?>
<a:tblStyleLst xmlns:a="http://schemas.openxmlformats.org/drawingml/2006/main" def="{86FEA0F7-93D0-4048-B020-843793760936}">
  <a:tblStyle styleId="{86FEA0F7-93D0-4048-B020-843793760936}" styleName="Table_0">
    <a:wholeTbl>
      <a:tcTxStyle b="off" i="off">
        <a:font>
          <a:latin typeface="Noto Sans"/>
          <a:ea typeface="Noto Sans"/>
          <a:cs typeface="Noto Sa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2ED"/>
          </a:solidFill>
        </a:fill>
      </a:tcStyle>
    </a:wholeTbl>
    <a:band1H>
      <a:tcTxStyle/>
      <a:tcStyle>
        <a:tcBdr/>
        <a:fill>
          <a:solidFill>
            <a:srgbClr val="CBE3D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E3D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67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63" Type="http://schemas.openxmlformats.org/officeDocument/2006/relationships/font" Target="fonts/font23.fntdata"/><Relationship Id="rId68" Type="http://schemas.openxmlformats.org/officeDocument/2006/relationships/font" Target="fonts/font28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font" Target="fonts/font13.fntdata"/><Relationship Id="rId58" Type="http://schemas.openxmlformats.org/officeDocument/2006/relationships/font" Target="fonts/font18.fntdata"/><Relationship Id="rId74" Type="http://schemas.openxmlformats.org/officeDocument/2006/relationships/font" Target="fonts/font34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21.fntdata"/><Relationship Id="rId82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font" Target="fonts/font16.fntdata"/><Relationship Id="rId64" Type="http://schemas.openxmlformats.org/officeDocument/2006/relationships/font" Target="fonts/font24.fntdata"/><Relationship Id="rId69" Type="http://schemas.openxmlformats.org/officeDocument/2006/relationships/font" Target="fonts/font29.fntdata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72" Type="http://schemas.openxmlformats.org/officeDocument/2006/relationships/font" Target="fonts/font32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59" Type="http://schemas.openxmlformats.org/officeDocument/2006/relationships/font" Target="fonts/font19.fntdata"/><Relationship Id="rId67" Type="http://schemas.openxmlformats.org/officeDocument/2006/relationships/font" Target="fonts/font27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62" Type="http://schemas.openxmlformats.org/officeDocument/2006/relationships/font" Target="fonts/font22.fntdata"/><Relationship Id="rId70" Type="http://schemas.openxmlformats.org/officeDocument/2006/relationships/font" Target="fonts/font30.fntdata"/><Relationship Id="rId75" Type="http://schemas.openxmlformats.org/officeDocument/2006/relationships/font" Target="fonts/font3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57" Type="http://schemas.openxmlformats.org/officeDocument/2006/relationships/font" Target="fonts/font1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openxmlformats.org/officeDocument/2006/relationships/font" Target="fonts/font20.fntdata"/><Relationship Id="rId65" Type="http://schemas.openxmlformats.org/officeDocument/2006/relationships/font" Target="fonts/font25.fntdata"/><Relationship Id="rId73" Type="http://schemas.openxmlformats.org/officeDocument/2006/relationships/font" Target="fonts/font33.fntdata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76" Type="http://schemas.openxmlformats.org/officeDocument/2006/relationships/font" Target="fonts/font36.fntdata"/><Relationship Id="rId7" Type="http://schemas.openxmlformats.org/officeDocument/2006/relationships/slide" Target="slides/slide6.xml"/><Relationship Id="rId71" Type="http://schemas.openxmlformats.org/officeDocument/2006/relationships/font" Target="fonts/font3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66" Type="http://schemas.openxmlformats.org/officeDocument/2006/relationships/font" Target="fonts/font2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lídio Oliveira" userId="2e6e6f6d-fff9-46ef-9091-884c6980c73a" providerId="ADAL" clId="{FBA8DEFD-EBC3-490D-8111-605AF93F32A3}"/>
    <pc:docChg chg="undo custSel modSld">
      <pc:chgData name="Ilídio Oliveira" userId="2e6e6f6d-fff9-46ef-9091-884c6980c73a" providerId="ADAL" clId="{FBA8DEFD-EBC3-490D-8111-605AF93F32A3}" dt="2025-10-08T09:47:43.980" v="17" actId="1038"/>
      <pc:docMkLst>
        <pc:docMk/>
      </pc:docMkLst>
      <pc:sldChg chg="modSp mod">
        <pc:chgData name="Ilídio Oliveira" userId="2e6e6f6d-fff9-46ef-9091-884c6980c73a" providerId="ADAL" clId="{FBA8DEFD-EBC3-490D-8111-605AF93F32A3}" dt="2025-10-08T08:32:13.180" v="9" actId="27636"/>
        <pc:sldMkLst>
          <pc:docMk/>
          <pc:sldMk cId="0" sldId="256"/>
        </pc:sldMkLst>
        <pc:spChg chg="mod">
          <ac:chgData name="Ilídio Oliveira" userId="2e6e6f6d-fff9-46ef-9091-884c6980c73a" providerId="ADAL" clId="{FBA8DEFD-EBC3-490D-8111-605AF93F32A3}" dt="2025-10-08T08:32:13.180" v="9" actId="27636"/>
          <ac:spMkLst>
            <pc:docMk/>
            <pc:sldMk cId="0" sldId="256"/>
            <ac:spMk id="82" creationId="{00000000-0000-0000-0000-000000000000}"/>
          </ac:spMkLst>
        </pc:spChg>
      </pc:sldChg>
      <pc:sldChg chg="addSp modSp mod modNotes">
        <pc:chgData name="Ilídio Oliveira" userId="2e6e6f6d-fff9-46ef-9091-884c6980c73a" providerId="ADAL" clId="{FBA8DEFD-EBC3-490D-8111-605AF93F32A3}" dt="2025-10-08T09:47:43.980" v="17" actId="1038"/>
        <pc:sldMkLst>
          <pc:docMk/>
          <pc:sldMk cId="0" sldId="260"/>
        </pc:sldMkLst>
        <pc:spChg chg="mod">
          <ac:chgData name="Ilídio Oliveira" userId="2e6e6f6d-fff9-46ef-9091-884c6980c73a" providerId="ADAL" clId="{FBA8DEFD-EBC3-490D-8111-605AF93F32A3}" dt="2025-10-08T09:47:43.980" v="17" actId="1038"/>
          <ac:spMkLst>
            <pc:docMk/>
            <pc:sldMk cId="0" sldId="260"/>
            <ac:spMk id="114" creationId="{00000000-0000-0000-0000-000000000000}"/>
          </ac:spMkLst>
        </pc:spChg>
        <pc:picChg chg="add mod">
          <ac:chgData name="Ilídio Oliveira" userId="2e6e6f6d-fff9-46ef-9091-884c6980c73a" providerId="ADAL" clId="{FBA8DEFD-EBC3-490D-8111-605AF93F32A3}" dt="2025-10-08T08:32:30.120" v="16" actId="1076"/>
          <ac:picMkLst>
            <pc:docMk/>
            <pc:sldMk cId="0" sldId="260"/>
            <ac:picMk id="2" creationId="{DD93A1BD-10F5-8BDD-8977-AB2F54C424F6}"/>
          </ac:picMkLst>
        </pc:picChg>
        <pc:picChg chg="mod">
          <ac:chgData name="Ilídio Oliveira" userId="2e6e6f6d-fff9-46ef-9091-884c6980c73a" providerId="ADAL" clId="{FBA8DEFD-EBC3-490D-8111-605AF93F32A3}" dt="2025-10-08T08:32:24.126" v="13" actId="14100"/>
          <ac:picMkLst>
            <pc:docMk/>
            <pc:sldMk cId="0" sldId="260"/>
            <ac:picMk id="115" creationId="{00000000-0000-0000-0000-000000000000}"/>
          </ac:picMkLst>
        </pc:picChg>
      </pc:sldChg>
      <pc:sldChg chg="modSp mod">
        <pc:chgData name="Ilídio Oliveira" userId="2e6e6f6d-fff9-46ef-9091-884c6980c73a" providerId="ADAL" clId="{FBA8DEFD-EBC3-490D-8111-605AF93F32A3}" dt="2025-10-08T08:32:13.090" v="1" actId="27636"/>
        <pc:sldMkLst>
          <pc:docMk/>
          <pc:sldMk cId="0" sldId="263"/>
        </pc:sldMkLst>
        <pc:spChg chg="mod">
          <ac:chgData name="Ilídio Oliveira" userId="2e6e6f6d-fff9-46ef-9091-884c6980c73a" providerId="ADAL" clId="{FBA8DEFD-EBC3-490D-8111-605AF93F32A3}" dt="2025-10-08T08:32:13.090" v="1" actId="27636"/>
          <ac:spMkLst>
            <pc:docMk/>
            <pc:sldMk cId="0" sldId="263"/>
            <ac:spMk id="136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10-08T08:32:13.111" v="2" actId="27636"/>
        <pc:sldMkLst>
          <pc:docMk/>
          <pc:sldMk cId="0" sldId="270"/>
        </pc:sldMkLst>
        <pc:spChg chg="mod">
          <ac:chgData name="Ilídio Oliveira" userId="2e6e6f6d-fff9-46ef-9091-884c6980c73a" providerId="ADAL" clId="{FBA8DEFD-EBC3-490D-8111-605AF93F32A3}" dt="2025-10-08T08:32:13.111" v="2" actId="27636"/>
          <ac:spMkLst>
            <pc:docMk/>
            <pc:sldMk cId="0" sldId="270"/>
            <ac:spMk id="219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10-08T08:32:13.120" v="3" actId="27636"/>
        <pc:sldMkLst>
          <pc:docMk/>
          <pc:sldMk cId="0" sldId="271"/>
        </pc:sldMkLst>
        <pc:spChg chg="mod">
          <ac:chgData name="Ilídio Oliveira" userId="2e6e6f6d-fff9-46ef-9091-884c6980c73a" providerId="ADAL" clId="{FBA8DEFD-EBC3-490D-8111-605AF93F32A3}" dt="2025-10-08T08:32:13.120" v="3" actId="27636"/>
          <ac:spMkLst>
            <pc:docMk/>
            <pc:sldMk cId="0" sldId="271"/>
            <ac:spMk id="226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10-08T08:32:13.123" v="4" actId="27636"/>
        <pc:sldMkLst>
          <pc:docMk/>
          <pc:sldMk cId="0" sldId="275"/>
        </pc:sldMkLst>
        <pc:spChg chg="mod">
          <ac:chgData name="Ilídio Oliveira" userId="2e6e6f6d-fff9-46ef-9091-884c6980c73a" providerId="ADAL" clId="{FBA8DEFD-EBC3-490D-8111-605AF93F32A3}" dt="2025-10-08T08:32:13.123" v="4" actId="27636"/>
          <ac:spMkLst>
            <pc:docMk/>
            <pc:sldMk cId="0" sldId="275"/>
            <ac:spMk id="262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10-08T08:32:13.138" v="5" actId="27636"/>
        <pc:sldMkLst>
          <pc:docMk/>
          <pc:sldMk cId="0" sldId="282"/>
        </pc:sldMkLst>
        <pc:spChg chg="mod">
          <ac:chgData name="Ilídio Oliveira" userId="2e6e6f6d-fff9-46ef-9091-884c6980c73a" providerId="ADAL" clId="{FBA8DEFD-EBC3-490D-8111-605AF93F32A3}" dt="2025-10-08T08:32:13.138" v="5" actId="27636"/>
          <ac:spMkLst>
            <pc:docMk/>
            <pc:sldMk cId="0" sldId="282"/>
            <ac:spMk id="325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10-08T08:32:13.150" v="6" actId="27636"/>
        <pc:sldMkLst>
          <pc:docMk/>
          <pc:sldMk cId="0" sldId="284"/>
        </pc:sldMkLst>
        <pc:spChg chg="mod">
          <ac:chgData name="Ilídio Oliveira" userId="2e6e6f6d-fff9-46ef-9091-884c6980c73a" providerId="ADAL" clId="{FBA8DEFD-EBC3-490D-8111-605AF93F32A3}" dt="2025-10-08T08:32:13.150" v="6" actId="27636"/>
          <ac:spMkLst>
            <pc:docMk/>
            <pc:sldMk cId="0" sldId="284"/>
            <ac:spMk id="343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10-08T08:32:13.154" v="7" actId="27636"/>
        <pc:sldMkLst>
          <pc:docMk/>
          <pc:sldMk cId="0" sldId="285"/>
        </pc:sldMkLst>
        <pc:spChg chg="mod">
          <ac:chgData name="Ilídio Oliveira" userId="2e6e6f6d-fff9-46ef-9091-884c6980c73a" providerId="ADAL" clId="{FBA8DEFD-EBC3-490D-8111-605AF93F32A3}" dt="2025-10-08T08:32:13.154" v="7" actId="27636"/>
          <ac:spMkLst>
            <pc:docMk/>
            <pc:sldMk cId="0" sldId="285"/>
            <ac:spMk id="349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10-08T08:32:13.159" v="8" actId="27636"/>
        <pc:sldMkLst>
          <pc:docMk/>
          <pc:sldMk cId="0" sldId="286"/>
        </pc:sldMkLst>
        <pc:spChg chg="mod">
          <ac:chgData name="Ilídio Oliveira" userId="2e6e6f6d-fff9-46ef-9091-884c6980c73a" providerId="ADAL" clId="{FBA8DEFD-EBC3-490D-8111-605AF93F32A3}" dt="2025-10-08T08:32:13.159" v="8" actId="27636"/>
          <ac:spMkLst>
            <pc:docMk/>
            <pc:sldMk cId="0" sldId="286"/>
            <ac:spMk id="35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70458ae40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370458ae40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70458ae40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70458ae40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70458ae40_1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engineering is the process of studying the problem and the stakeholder needs to build a requirements specification that will guide the product development.</a:t>
            </a:r>
            <a:endParaRPr/>
          </a:p>
        </p:txBody>
      </p:sp>
      <p:sp>
        <p:nvSpPr>
          <p:cNvPr id="100" name="Google Shape;100;g3370458ae40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70458ae40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370458ae40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Good requirements prevent miscommunication and costly design changes late in development.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also help keep the project focused on the customer’s needs and ensure that testing aligns with those needs.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70458ae40_3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370458ae40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70458ae40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70458ae40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requirements capture the “what.” Non-functional requirements describe the “how well,”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70458ae40_3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370458ae40_3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70458ae40_3_1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370458ae40_3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70458ae40_3_3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370458ae40_3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70458ae40_3_4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370458ae40_3_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70458ae40_3_5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370458ae40_3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370458ae40_3_5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370458ae40_3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370458ae40_3_5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370458ae40_3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370458ae40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370458ae40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Requirements engineering is iterative. You might move back and forth between these steps as you discover new information or refine existing requirements.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370458ae40_3_9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370458ae40_3_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70458ae40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370458ae40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370458ae40_3_6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3370458ae40_3_6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70458ae40_3_7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370458ae40_3_7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370458ae40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370458ae40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refines raw requirements into a structured form.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370458ae40_3_8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3370458ae40_3_8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370458ae40_3_10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3370458ae40_3_1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370458ae40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370458ae40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370458ae40_3_9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3370458ae40_3_9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370458ae40_3_10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370458ae40_3_10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370458ae40_3_10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g3370458ae40_3_1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370458ae40_3_10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370458ae40_3_10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370458ae40_3_10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370458ae40_3_10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370458ae40_3_10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g3370458ae40_3_10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370458ae40_3_10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370458ae40_3_10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370458ae40_3_10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3370458ae40_3_1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370458ae40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370458ae40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371cc086a2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371cc086a2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370458ae40_3_10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g3370458ae40_3_10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370458ae40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370458ae40_1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370458ae40_3_1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370458ae40_3_1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370458ae40_3_1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g3370458ae40_3_1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371cc086a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371cc086a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Barlow"/>
              <a:buNone/>
              <a:defRPr sz="40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Font typeface="Barlow Light"/>
              <a:buNone/>
              <a:defRPr sz="2800"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942975" y="406925"/>
            <a:ext cx="7889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942975" y="1246825"/>
            <a:ext cx="7889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>
              <a:spcBef>
                <a:spcPts val="1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81050" y="445025"/>
            <a:ext cx="805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80975" y="1355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7500">
              <a:spcBef>
                <a:spcPts val="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325" y="1355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7500">
              <a:spcBef>
                <a:spcPts val="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42925" y="445025"/>
            <a:ext cx="828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597450" y="422250"/>
            <a:ext cx="41937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597450" y="1483825"/>
            <a:ext cx="4089000" cy="32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300"/>
              </a:spcBef>
              <a:spcAft>
                <a:spcPts val="0"/>
              </a:spcAft>
              <a:buSzPts val="1600"/>
              <a:buChar char="一"/>
              <a:defRPr sz="1600"/>
            </a:lvl1pPr>
            <a:lvl2pPr marL="914400" lvl="1" indent="-317500">
              <a:spcBef>
                <a:spcPts val="100"/>
              </a:spcBef>
              <a:spcAft>
                <a:spcPts val="0"/>
              </a:spcAft>
              <a:buClr>
                <a:srgbClr val="CBE3DA"/>
              </a:buClr>
              <a:buSzPts val="1400"/>
              <a:buChar char="○"/>
              <a:defRPr sz="14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◆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◆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3020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 algn="ctr">
              <a:spcBef>
                <a:spcPts val="1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785256" y="273844"/>
            <a:ext cx="6730200" cy="5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  <a:defRPr sz="2800"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1785254" y="1028701"/>
            <a:ext cx="6730200" cy="3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Char char="●"/>
              <a:defRPr sz="2000"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Char char="○"/>
              <a:defRPr>
                <a:latin typeface="Noto Sans Light"/>
                <a:ea typeface="Noto Sans Light"/>
                <a:cs typeface="Noto Sans Light"/>
                <a:sym typeface="Noto Sans Light"/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latin typeface="Noto Sans Light"/>
                <a:ea typeface="Noto Sans Light"/>
                <a:cs typeface="Noto Sans Light"/>
                <a:sym typeface="Noto Sans Light"/>
              </a:defRPr>
            </a:lvl3pPr>
            <a:lvl4pPr marL="1828800" lvl="3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latin typeface="Noto Sans"/>
                <a:ea typeface="Noto Sans"/>
                <a:cs typeface="Noto Sans"/>
                <a:sym typeface="Noto Sans"/>
              </a:defRPr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latin typeface="Noto Sans"/>
                <a:ea typeface="Noto Sans"/>
                <a:cs typeface="Noto Sans"/>
                <a:sym typeface="Noto Sans"/>
              </a:defRPr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1785256" y="4767263"/>
            <a:ext cx="4329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628650" y="102393"/>
            <a:ext cx="3791100" cy="10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4572000" y="437606"/>
            <a:ext cx="3942300" cy="42561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9840" y="1359017"/>
            <a:ext cx="3791100" cy="3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628650" y="4767263"/>
            <a:ext cx="548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566058" y="273845"/>
            <a:ext cx="79494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628650" y="1042988"/>
            <a:ext cx="3886200" cy="3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2"/>
          </p:nvPr>
        </p:nvSpPr>
        <p:spPr>
          <a:xfrm>
            <a:off x="4629150" y="1042988"/>
            <a:ext cx="3886200" cy="3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628650" y="4767263"/>
            <a:ext cx="548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628650" y="488290"/>
            <a:ext cx="3886200" cy="41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2"/>
          </p:nvPr>
        </p:nvSpPr>
        <p:spPr>
          <a:xfrm>
            <a:off x="4629150" y="488290"/>
            <a:ext cx="3886200" cy="41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628650" y="4767263"/>
            <a:ext cx="548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1785254" y="1282304"/>
            <a:ext cx="67254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1785256" y="3442098"/>
            <a:ext cx="67254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ftr" idx="11"/>
          </p:nvPr>
        </p:nvSpPr>
        <p:spPr>
          <a:xfrm>
            <a:off x="1785256" y="4767263"/>
            <a:ext cx="4329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2925" y="445025"/>
            <a:ext cx="82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Barlow Medium"/>
              <a:buNone/>
              <a:defRPr sz="2800">
                <a:solidFill>
                  <a:srgbClr val="6EDEBF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19125" y="1152475"/>
            <a:ext cx="82131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6EDEBF"/>
              </a:buClr>
              <a:buSzPts val="1800"/>
              <a:buFont typeface="Nunito"/>
              <a:buChar char="●"/>
              <a:defRPr sz="1800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3020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"/>
              <a:buChar char="○"/>
              <a:defRPr sz="16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■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●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○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■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●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○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■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sweet.ua.pt/ico/OpenUp/OpenUP_v1514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o.org/standard/72089.ht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sweet.ua.pt/ico/OpenUp/OpenUP_v1514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docs.google.com/document/d/1NXo4ZjZCzx3igJvZxWW37pchQEkZ9nL12IaivOO_Q54/edit?usp=sharing" TargetMode="Externa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.oreilly.com/library/view/software-requirements-3rd/9780735679658/apd.html#use_cases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hyperlink" Target="https://learning.oreilly.com/library/view/software-requirements-3rd/9780735679658/apd.html#software_requirements_specification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 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Determinação de requisitos (parte 1)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0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Requisitos: levantamento e análise com casos de utilização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v2025/02/18, ico@ua.pt</a:t>
            </a:r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942975" y="406925"/>
            <a:ext cx="7889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de aprendizagem</a:t>
            </a:r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>
            <a:off x="942975" y="1246825"/>
            <a:ext cx="7889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Distinguir requisitos funcionais e não funcionais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Enumerar técnicas de recolha de requisitos e argumentar quando usar cada uma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Descrever técnicas de documentação de requisitos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Explicar a relação entre requisitos e casos de utilização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Identificar as atividades e disciplinas relacionadas com  os requisitos no OpenUP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>
            <a:spLocks noGrp="1"/>
          </p:cNvSpPr>
          <p:nvPr>
            <p:ph type="title"/>
          </p:nvPr>
        </p:nvSpPr>
        <p:spPr>
          <a:xfrm>
            <a:off x="597450" y="574650"/>
            <a:ext cx="19878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Stakeholder conflicts…</a:t>
            </a:r>
            <a:endParaRPr i="1"/>
          </a:p>
        </p:txBody>
      </p:sp>
      <p:pic>
        <p:nvPicPr>
          <p:cNvPr id="95" name="Google Shape;95;p20" descr="UX is importan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0175" y="76200"/>
            <a:ext cx="5442726" cy="49608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597450" y="1483825"/>
            <a:ext cx="4089000" cy="32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100"/>
              </a:spcAft>
              <a:buNone/>
            </a:pPr>
            <a:endParaRPr/>
          </a:p>
        </p:txBody>
      </p:sp>
      <p:sp>
        <p:nvSpPr>
          <p:cNvPr id="97" name="Google Shape;97;p20"/>
          <p:cNvSpPr/>
          <p:nvPr/>
        </p:nvSpPr>
        <p:spPr>
          <a:xfrm>
            <a:off x="597450" y="4381703"/>
            <a:ext cx="26073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https://www.designershumor.com/2019/05/21/ux-is-important/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542925" y="445025"/>
            <a:ext cx="82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"/>
              <a:t>Atividades e resultados no ciclo de vida do software</a:t>
            </a:r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04" name="Google Shape;104;p21" descr="Diagram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414" y="1247662"/>
            <a:ext cx="2504837" cy="2616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542925" y="4094110"/>
            <a:ext cx="3386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rPr>
              <a:t>Representação do SDLC, com explicitação de </a:t>
            </a:r>
            <a:r>
              <a:rPr lang="en" sz="1200" i="1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rPr>
              <a:t>QA</a:t>
            </a:r>
            <a:r>
              <a:rPr lang="en" sz="1200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rPr>
              <a:t> (#5) e Manutenção (#6). (Também é comum representar Implementação + QA, #4 e #5 fundidos)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106" name="Google Shape;106;p21" descr="Diagram  Description automatically generated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6018900" y="1192500"/>
            <a:ext cx="1712400" cy="373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/>
          <p:nvPr/>
        </p:nvSpPr>
        <p:spPr>
          <a:xfrm>
            <a:off x="5738689" y="1513375"/>
            <a:ext cx="174525" cy="913800"/>
          </a:xfrm>
          <a:custGeom>
            <a:avLst/>
            <a:gdLst/>
            <a:ahLst/>
            <a:cxnLst/>
            <a:rect l="l" t="t" r="r" b="b"/>
            <a:pathLst>
              <a:path w="6981" h="36552" extrusionOk="0">
                <a:moveTo>
                  <a:pt x="6981" y="0"/>
                </a:moveTo>
                <a:cubicBezTo>
                  <a:pt x="2086" y="0"/>
                  <a:pt x="4236" y="9447"/>
                  <a:pt x="3694" y="14311"/>
                </a:cubicBezTo>
                <a:cubicBezTo>
                  <a:pt x="3545" y="15644"/>
                  <a:pt x="1354" y="15683"/>
                  <a:pt x="406" y="16632"/>
                </a:cubicBezTo>
                <a:cubicBezTo>
                  <a:pt x="-1151" y="18191"/>
                  <a:pt x="2483" y="20631"/>
                  <a:pt x="2727" y="22821"/>
                </a:cubicBezTo>
                <a:cubicBezTo>
                  <a:pt x="3244" y="27457"/>
                  <a:pt x="1703" y="33752"/>
                  <a:pt x="5434" y="36552"/>
                </a:cubicBezTo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108" name="Google Shape;108;p21"/>
          <p:cNvSpPr/>
          <p:nvPr/>
        </p:nvSpPr>
        <p:spPr>
          <a:xfrm>
            <a:off x="1625135" y="2050050"/>
            <a:ext cx="3915800" cy="1991700"/>
          </a:xfrm>
          <a:custGeom>
            <a:avLst/>
            <a:gdLst/>
            <a:ahLst/>
            <a:cxnLst/>
            <a:rect l="l" t="t" r="r" b="b"/>
            <a:pathLst>
              <a:path w="156632" h="79668" extrusionOk="0">
                <a:moveTo>
                  <a:pt x="558" y="61695"/>
                </a:moveTo>
                <a:cubicBezTo>
                  <a:pt x="-5664" y="80344"/>
                  <a:pt x="42531" y="84926"/>
                  <a:pt x="58385" y="73299"/>
                </a:cubicBezTo>
                <a:cubicBezTo>
                  <a:pt x="69408" y="65215"/>
                  <a:pt x="77290" y="52726"/>
                  <a:pt x="82367" y="40034"/>
                </a:cubicBezTo>
                <a:cubicBezTo>
                  <a:pt x="86344" y="30093"/>
                  <a:pt x="90003" y="19075"/>
                  <a:pt x="98032" y="11991"/>
                </a:cubicBezTo>
                <a:cubicBezTo>
                  <a:pt x="112983" y="-1200"/>
                  <a:pt x="137287" y="4824"/>
                  <a:pt x="156633" y="0"/>
                </a:cubicBezTo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597450" y="422250"/>
            <a:ext cx="41937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Importância da definição de requisitos</a:t>
            </a:r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603800" y="1483825"/>
            <a:ext cx="4089000" cy="32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➔"/>
            </a:pPr>
            <a:r>
              <a:rPr lang="en"/>
              <a:t>Definir o âmbito e os limites (da solução/produto)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/>
              <a:t>Minimizar a necessidade de refazer o trabalho (</a:t>
            </a:r>
            <a:r>
              <a:rPr lang="en" i="1"/>
              <a:t>“andar para trás…”</a:t>
            </a:r>
            <a:r>
              <a:rPr lang="en"/>
              <a:t>) e aumentar a satisfação do cliente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/>
              <a:t>Servir de base para a conceção (</a:t>
            </a:r>
            <a:r>
              <a:rPr lang="en" i="1"/>
              <a:t>desenho técnico</a:t>
            </a:r>
            <a:r>
              <a:rPr lang="en"/>
              <a:t>), o desenvolvimento e os testes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/>
              <a:t>Reduzir o risco de insucesso do projeto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100"/>
              </a:spcAft>
              <a:buNone/>
            </a:pPr>
            <a:endParaRPr/>
          </a:p>
        </p:txBody>
      </p:sp>
      <p:pic>
        <p:nvPicPr>
          <p:cNvPr id="115" name="Google Shape;115;p22" descr="Graphical user interface, application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2850" y="2355849"/>
            <a:ext cx="2520410" cy="290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20;p32">
            <a:extLst>
              <a:ext uri="{FF2B5EF4-FFF2-40B4-BE49-F238E27FC236}">
                <a16:creationId xmlns:a16="http://schemas.microsoft.com/office/drawing/2014/main" id="{DD93A1BD-10F5-8BDD-8977-AB2F54C424F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3660" y="247735"/>
            <a:ext cx="3219600" cy="1860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title"/>
          </p:nvPr>
        </p:nvSpPr>
        <p:spPr>
          <a:xfrm>
            <a:off x="597450" y="422250"/>
            <a:ext cx="41937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"/>
              <a:t>O custo do “erro”</a:t>
            </a:r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ftr" idx="11"/>
          </p:nvPr>
        </p:nvSpPr>
        <p:spPr>
          <a:xfrm>
            <a:off x="628650" y="4767263"/>
            <a:ext cx="548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Oliveira</a:t>
            </a:r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5000" y="1115825"/>
            <a:ext cx="5449059" cy="392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597450" y="1483825"/>
            <a:ext cx="4089000" cy="32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100"/>
              </a:spcAft>
              <a:buNone/>
            </a:pPr>
            <a:r>
              <a:rPr lang="en"/>
              <a:t>Tendências empíricas…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>
            <a:spLocks noGrp="1"/>
          </p:cNvSpPr>
          <p:nvPr>
            <p:ph type="title"/>
          </p:nvPr>
        </p:nvSpPr>
        <p:spPr>
          <a:xfrm>
            <a:off x="942975" y="406925"/>
            <a:ext cx="7889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Tipos de requisitos</a:t>
            </a:r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body" idx="1"/>
          </p:nvPr>
        </p:nvSpPr>
        <p:spPr>
          <a:xfrm>
            <a:off x="942975" y="1246825"/>
            <a:ext cx="7889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Requisitos do utilizador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Declarações dos serviços e restrições do sistema na perspetiva do utilizador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Requisitos funcionais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Comportamentos ou funcionalidades específicas do sistema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Requisitos não funcionais (atributos de qualidade)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Desempenho, segurança, facilidade de utilização, fiabilidade, etc.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Restrições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Limitações regulamentares, ambientais ou tecnológicas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>
            <a:off x="566058" y="273845"/>
            <a:ext cx="79494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"/>
              <a:t>Tipos de requisitos</a:t>
            </a:r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body" idx="1"/>
          </p:nvPr>
        </p:nvSpPr>
        <p:spPr>
          <a:xfrm>
            <a:off x="628650" y="1042988"/>
            <a:ext cx="3886200" cy="3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"/>
              <a:t>Requisitos funcionais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">
                <a:solidFill>
                  <a:schemeClr val="lt1"/>
                </a:solidFill>
                <a:highlight>
                  <a:schemeClr val="accent4"/>
                </a:highlight>
              </a:rPr>
              <a:t>Funcional</a:t>
            </a:r>
            <a:r>
              <a:rPr lang="en"/>
              <a:t>: refere-se a comportamento 🡪 um processo computacional ou tratamento de dados (</a:t>
            </a:r>
            <a:r>
              <a:rPr lang="en" i="1"/>
              <a:t>as coisas/tarefas que o sistema é capaz de realizar</a:t>
            </a:r>
            <a:r>
              <a:rPr lang="en"/>
              <a:t>)</a:t>
            </a:r>
            <a:endParaRPr i="1"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"/>
              <a:t>E.g.:</a:t>
            </a:r>
            <a:endParaRPr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</a:pPr>
            <a:r>
              <a:rPr lang="en"/>
              <a:t>O sistema deve permitir pesquisar os pacientes pelo nome, usando pelo menos duas palavras (que devem ocorrer em sequência, em qualquer parte do nome).</a:t>
            </a: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endParaRPr/>
          </a:p>
        </p:txBody>
      </p:sp>
      <p:sp>
        <p:nvSpPr>
          <p:cNvPr id="137" name="Google Shape;137;p25"/>
          <p:cNvSpPr txBox="1">
            <a:spLocks noGrp="1"/>
          </p:cNvSpPr>
          <p:nvPr>
            <p:ph type="body" idx="2"/>
          </p:nvPr>
        </p:nvSpPr>
        <p:spPr>
          <a:xfrm>
            <a:off x="4629150" y="1042988"/>
            <a:ext cx="3886200" cy="3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"/>
              <a:t>Requisitos não funcionais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">
                <a:solidFill>
                  <a:schemeClr val="lt1"/>
                </a:solidFill>
                <a:highlight>
                  <a:schemeClr val="accent4"/>
                </a:highlight>
              </a:rPr>
              <a:t>Não-funcional:</a:t>
            </a:r>
            <a:r>
              <a:rPr lang="en">
                <a:solidFill>
                  <a:schemeClr val="lt1"/>
                </a:solidFill>
              </a:rPr>
              <a:t> </a:t>
            </a:r>
            <a:r>
              <a:rPr lang="en"/>
              <a:t>diz respeito a uma qualidade ou propriedade do sistema (</a:t>
            </a:r>
            <a:r>
              <a:rPr lang="en" i="1"/>
              <a:t>quão bem deve o sistema fazer a operação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endParaRPr i="1"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"/>
              <a:t>E.g.:</a:t>
            </a:r>
            <a:endParaRPr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</a:pPr>
            <a:r>
              <a:rPr lang="en"/>
              <a:t>As pesquisas de utentes, por nome, retornam os resultados em &lt;1 seg.</a:t>
            </a:r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6" descr="http://regrasdoesporte.com.br/wp-content/uploads/2012/12/regras-ciclismo-mountain-bik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11250"/>
            <a:ext cx="6178376" cy="34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6"/>
          <p:cNvSpPr txBox="1">
            <a:spLocks noGrp="1"/>
          </p:cNvSpPr>
          <p:nvPr>
            <p:ph type="title"/>
          </p:nvPr>
        </p:nvSpPr>
        <p:spPr>
          <a:xfrm>
            <a:off x="542925" y="333769"/>
            <a:ext cx="82893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85714"/>
              <a:buFont typeface="Noto Sans"/>
              <a:buNone/>
            </a:pPr>
            <a:r>
              <a:rPr lang="en"/>
              <a:t>Os atributos de qualidade são necessários na definição do produto</a:t>
            </a:r>
            <a:endParaRPr/>
          </a:p>
        </p:txBody>
      </p:sp>
      <p:sp>
        <p:nvSpPr>
          <p:cNvPr id="145" name="Google Shape;145;p26"/>
          <p:cNvSpPr txBox="1">
            <a:spLocks noGrp="1"/>
          </p:cNvSpPr>
          <p:nvPr>
            <p:ph type="sldNum" idx="12"/>
          </p:nvPr>
        </p:nvSpPr>
        <p:spPr>
          <a:xfrm>
            <a:off x="8472458" y="3497413"/>
            <a:ext cx="5487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pSp>
        <p:nvGrpSpPr>
          <p:cNvPr id="146" name="Google Shape;146;p26"/>
          <p:cNvGrpSpPr/>
          <p:nvPr/>
        </p:nvGrpSpPr>
        <p:grpSpPr>
          <a:xfrm>
            <a:off x="173626" y="3178450"/>
            <a:ext cx="8658592" cy="1735211"/>
            <a:chOff x="-736966" y="4386594"/>
            <a:chExt cx="9564334" cy="2313615"/>
          </a:xfrm>
        </p:grpSpPr>
        <p:grpSp>
          <p:nvGrpSpPr>
            <p:cNvPr id="147" name="Google Shape;147;p26"/>
            <p:cNvGrpSpPr/>
            <p:nvPr/>
          </p:nvGrpSpPr>
          <p:grpSpPr>
            <a:xfrm>
              <a:off x="2606126" y="4581127"/>
              <a:ext cx="6221242" cy="2119082"/>
              <a:chOff x="2606126" y="4581127"/>
              <a:chExt cx="6221242" cy="2119082"/>
            </a:xfrm>
          </p:grpSpPr>
          <p:pic>
            <p:nvPicPr>
              <p:cNvPr id="148" name="Google Shape;148;p26" descr="CyclingTrackPIC"/>
              <p:cNvPicPr preferRelativeResize="0"/>
              <p:nvPr/>
            </p:nvPicPr>
            <p:blipFill rotWithShape="1">
              <a:blip r:embed="rId4">
                <a:alphaModFix/>
              </a:blip>
              <a:srcRect l="7473" t="8037" r="14431"/>
              <a:stretch/>
            </p:blipFill>
            <p:spPr>
              <a:xfrm>
                <a:off x="6084168" y="4581128"/>
                <a:ext cx="2743200" cy="21190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4709"/>
                  </a:srgbClr>
                </a:outerShdw>
              </a:effectLst>
            </p:spPr>
          </p:pic>
          <p:pic>
            <p:nvPicPr>
              <p:cNvPr id="149" name="Google Shape;149;p26" descr="http://visao.sapo.pt/users/126/12640/bttt-foto-manchete-a3e1.jp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606126" y="4581127"/>
                <a:ext cx="3209482" cy="21190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4709"/>
                  </a:srgbClr>
                </a:outerShdw>
              </a:effectLst>
            </p:spPr>
          </p:pic>
        </p:grpSp>
        <p:sp>
          <p:nvSpPr>
            <p:cNvPr id="150" name="Google Shape;150;p26"/>
            <p:cNvSpPr/>
            <p:nvPr/>
          </p:nvSpPr>
          <p:spPr>
            <a:xfrm>
              <a:off x="-736966" y="4386594"/>
              <a:ext cx="4234800" cy="1865400"/>
            </a:xfrm>
            <a:prstGeom prst="cloudCallout">
              <a:avLst>
                <a:gd name="adj1" fmla="val -38500"/>
                <a:gd name="adj2" fmla="val 67402"/>
              </a:avLst>
            </a:prstGeom>
            <a:solidFill>
              <a:schemeClr val="accent4"/>
            </a:solidFill>
            <a:ln w="12700" cap="flat" cmpd="sng">
              <a:solidFill>
                <a:srgbClr val="1D7F6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As mesmas capacidades funcionais, mas atributos de qualidade diferentes</a:t>
              </a:r>
              <a:endParaRPr sz="16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/>
        </p:nvSpPr>
        <p:spPr>
          <a:xfrm>
            <a:off x="200315" y="4054418"/>
            <a:ext cx="2650800" cy="9543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Adapted from: Dennis et al, “</a:t>
            </a:r>
            <a:r>
              <a:rPr lang="en" sz="1400" i="1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Systems Analysis and Design: An Object Oriented Approach with UML</a:t>
            </a:r>
            <a:r>
              <a:rPr lang="en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”, 5th ed.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56" name="Google Shape;15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1087" y="0"/>
            <a:ext cx="4982893" cy="54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58" name="Google Shape;158;p27"/>
          <p:cNvSpPr/>
          <p:nvPr/>
        </p:nvSpPr>
        <p:spPr>
          <a:xfrm>
            <a:off x="7036375" y="3089452"/>
            <a:ext cx="1922400" cy="694800"/>
          </a:xfrm>
          <a:prstGeom prst="wedgeRoundRectCallout">
            <a:avLst>
              <a:gd name="adj1" fmla="val -89082"/>
              <a:gd name="adj2" fmla="val -18049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Agrupamento do RF depende do problema específico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767325" y="1708854"/>
            <a:ext cx="2247300" cy="1440300"/>
          </a:xfrm>
          <a:prstGeom prst="wedgeRoundRectCallout">
            <a:avLst>
              <a:gd name="adj1" fmla="val 70882"/>
              <a:gd name="adj2" fmla="val -110259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Categorias comuns:</a:t>
            </a:r>
            <a:endParaRPr>
              <a:solidFill>
                <a:schemeClr val="dk1"/>
              </a:solidFill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-"/>
            </a:pPr>
            <a:r>
              <a:rPr lang="en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Usabilidade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-"/>
            </a:pPr>
            <a:r>
              <a:rPr lang="en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Desempenho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-"/>
            </a:pPr>
            <a:r>
              <a:rPr lang="en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Segurança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-"/>
            </a:pPr>
            <a:r>
              <a:rPr lang="en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Compatibilidade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-"/>
            </a:pPr>
            <a:r>
              <a:rPr lang="en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…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" name="Google Shape;160;p27"/>
          <p:cNvSpPr txBox="1">
            <a:spLocks noGrp="1"/>
          </p:cNvSpPr>
          <p:nvPr>
            <p:ph type="title"/>
          </p:nvPr>
        </p:nvSpPr>
        <p:spPr>
          <a:xfrm>
            <a:off x="597450" y="422250"/>
            <a:ext cx="41937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 parcial</a:t>
            </a:r>
            <a:endParaRPr/>
          </a:p>
        </p:txBody>
      </p:sp>
      <p:sp>
        <p:nvSpPr>
          <p:cNvPr id="161" name="Google Shape;161;p27"/>
          <p:cNvSpPr txBox="1">
            <a:spLocks noGrp="1"/>
          </p:cNvSpPr>
          <p:nvPr>
            <p:ph type="body" idx="1"/>
          </p:nvPr>
        </p:nvSpPr>
        <p:spPr>
          <a:xfrm>
            <a:off x="597450" y="1483825"/>
            <a:ext cx="4089000" cy="32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1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>
            <a:spLocks noGrp="1"/>
          </p:cNvSpPr>
          <p:nvPr>
            <p:ph type="title"/>
          </p:nvPr>
        </p:nvSpPr>
        <p:spPr>
          <a:xfrm>
            <a:off x="542925" y="445025"/>
            <a:ext cx="82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85714"/>
              <a:buFont typeface="Noto Sans"/>
              <a:buNone/>
            </a:pPr>
            <a:r>
              <a:rPr lang="en"/>
              <a:t>O que pode estar envolvido no "desempenho" (atributo de qualidade)?</a:t>
            </a:r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168" name="Google Shape;16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" y="1333380"/>
            <a:ext cx="6105324" cy="251395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 txBox="1"/>
          <p:nvPr/>
        </p:nvSpPr>
        <p:spPr>
          <a:xfrm>
            <a:off x="628650" y="4087994"/>
            <a:ext cx="2008200" cy="307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Credit: Wiegers ‘13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>
            <a:spLocks noGrp="1"/>
          </p:cNvSpPr>
          <p:nvPr>
            <p:ph type="title"/>
          </p:nvPr>
        </p:nvSpPr>
        <p:spPr>
          <a:xfrm>
            <a:off x="942975" y="406925"/>
            <a:ext cx="788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87500"/>
              <a:buFont typeface="Noto Sans"/>
              <a:buNone/>
            </a:pPr>
            <a:r>
              <a:rPr lang="en"/>
              <a:t>FURPS: categorias "clássicas“ para os requisitos</a:t>
            </a:r>
            <a:endParaRPr/>
          </a:p>
        </p:txBody>
      </p:sp>
      <p:grpSp>
        <p:nvGrpSpPr>
          <p:cNvPr id="175" name="Google Shape;175;p29"/>
          <p:cNvGrpSpPr/>
          <p:nvPr/>
        </p:nvGrpSpPr>
        <p:grpSpPr>
          <a:xfrm>
            <a:off x="403287" y="1031750"/>
            <a:ext cx="8332172" cy="3885375"/>
            <a:chOff x="295392" y="2305"/>
            <a:chExt cx="8141657" cy="5242713"/>
          </a:xfrm>
        </p:grpSpPr>
        <p:sp>
          <p:nvSpPr>
            <p:cNvPr id="176" name="Google Shape;176;p29"/>
            <p:cNvSpPr/>
            <p:nvPr/>
          </p:nvSpPr>
          <p:spPr>
            <a:xfrm rot="5400000">
              <a:off x="5224042" y="-2280824"/>
              <a:ext cx="806700" cy="5574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BE2DA">
                <a:alpha val="89800"/>
              </a:srgbClr>
            </a:solidFill>
            <a:ln w="12700" cap="flat" cmpd="sng">
              <a:solidFill>
                <a:srgbClr val="CBE2DA">
                  <a:alpha val="898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9"/>
            <p:cNvSpPr txBox="1"/>
            <p:nvPr/>
          </p:nvSpPr>
          <p:spPr>
            <a:xfrm>
              <a:off x="2840239" y="142498"/>
              <a:ext cx="5535000" cy="72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123825" rIns="247650" bIns="123825" anchor="ctr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Noto Sans"/>
                <a:buChar char="•"/>
              </a:pPr>
              <a:r>
                <a:rPr lang="en" sz="1400" b="0" i="0" u="none" strike="noStrike" cap="none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 avaliado através da apreciação do conjunto de capacidades funcionais do programa. </a:t>
              </a:r>
              <a:endParaRPr sz="14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78" name="Google Shape;178;p29"/>
            <p:cNvSpPr/>
            <p:nvPr/>
          </p:nvSpPr>
          <p:spPr>
            <a:xfrm>
              <a:off x="295392" y="2305"/>
              <a:ext cx="2544900" cy="1008300"/>
            </a:xfrm>
            <a:prstGeom prst="roundRect">
              <a:avLst>
                <a:gd name="adj" fmla="val 16667"/>
              </a:avLst>
            </a:prstGeom>
            <a:solidFill>
              <a:srgbClr val="26AF8A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9"/>
            <p:cNvSpPr txBox="1"/>
            <p:nvPr/>
          </p:nvSpPr>
          <p:spPr>
            <a:xfrm>
              <a:off x="344608" y="51521"/>
              <a:ext cx="2446500" cy="9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Noto Sans"/>
                <a:buNone/>
              </a:pPr>
              <a:r>
                <a:rPr lang="en" sz="2400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Functionality</a:t>
              </a:r>
              <a:endParaRPr/>
            </a:p>
          </p:txBody>
        </p:sp>
        <p:sp>
          <p:nvSpPr>
            <p:cNvPr id="180" name="Google Shape;180;p29"/>
            <p:cNvSpPr/>
            <p:nvPr/>
          </p:nvSpPr>
          <p:spPr>
            <a:xfrm rot="5400000">
              <a:off x="5246399" y="-1222221"/>
              <a:ext cx="806700" cy="5574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BE2DA">
                <a:alpha val="89800"/>
              </a:srgbClr>
            </a:solidFill>
            <a:ln w="12700" cap="flat" cmpd="sng">
              <a:solidFill>
                <a:srgbClr val="CBE2DA">
                  <a:alpha val="898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9"/>
            <p:cNvSpPr txBox="1"/>
            <p:nvPr/>
          </p:nvSpPr>
          <p:spPr>
            <a:xfrm>
              <a:off x="2862596" y="1201101"/>
              <a:ext cx="5535000" cy="72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123825" rIns="247650" bIns="123825" anchor="ctr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Noto Sans"/>
                <a:buChar char="•"/>
              </a:pPr>
              <a:r>
                <a:rPr lang="en" sz="1400" b="0" i="0" u="none" strike="noStrike" cap="none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avaliados considerando factores humanos, estética geral, consistência, e documentação.</a:t>
              </a:r>
              <a:endParaRPr sz="14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82" name="Google Shape;182;p29"/>
            <p:cNvSpPr/>
            <p:nvPr/>
          </p:nvSpPr>
          <p:spPr>
            <a:xfrm>
              <a:off x="295392" y="1060909"/>
              <a:ext cx="2544900" cy="1008300"/>
            </a:xfrm>
            <a:prstGeom prst="roundRect">
              <a:avLst>
                <a:gd name="adj" fmla="val 16667"/>
              </a:avLst>
            </a:prstGeom>
            <a:solidFill>
              <a:srgbClr val="26AF8A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9"/>
            <p:cNvSpPr txBox="1"/>
            <p:nvPr/>
          </p:nvSpPr>
          <p:spPr>
            <a:xfrm>
              <a:off x="344608" y="1110125"/>
              <a:ext cx="2446500" cy="9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Noto Sans"/>
                <a:buNone/>
              </a:pPr>
              <a:r>
                <a:rPr lang="en" sz="2400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Usability</a:t>
              </a:r>
              <a:endParaRPr/>
            </a:p>
          </p:txBody>
        </p:sp>
        <p:sp>
          <p:nvSpPr>
            <p:cNvPr id="184" name="Google Shape;184;p29"/>
            <p:cNvSpPr/>
            <p:nvPr/>
          </p:nvSpPr>
          <p:spPr>
            <a:xfrm rot="5400000">
              <a:off x="5246399" y="-163618"/>
              <a:ext cx="806700" cy="5574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BE2DA">
                <a:alpha val="89800"/>
              </a:srgbClr>
            </a:solidFill>
            <a:ln w="12700" cap="flat" cmpd="sng">
              <a:solidFill>
                <a:srgbClr val="CBE2DA">
                  <a:alpha val="898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9"/>
            <p:cNvSpPr txBox="1"/>
            <p:nvPr/>
          </p:nvSpPr>
          <p:spPr>
            <a:xfrm>
              <a:off x="2862596" y="2259704"/>
              <a:ext cx="5535000" cy="72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123825" rIns="247650" bIns="123825" anchor="ctr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Noto Sans"/>
                <a:buChar char="•"/>
              </a:pPr>
              <a:r>
                <a:rPr lang="en" sz="1400" b="0" i="0" u="none" strike="noStrike" cap="none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frequência e gravidade das falhas, da exactidão dos resultados de saída, do tempo médio até à falha (MTTF), da capacidade de recuperação das falhas</a:t>
              </a:r>
              <a:endParaRPr sz="14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86" name="Google Shape;186;p29"/>
            <p:cNvSpPr/>
            <p:nvPr/>
          </p:nvSpPr>
          <p:spPr>
            <a:xfrm>
              <a:off x="295392" y="2119512"/>
              <a:ext cx="2544900" cy="1008300"/>
            </a:xfrm>
            <a:prstGeom prst="roundRect">
              <a:avLst>
                <a:gd name="adj" fmla="val 16667"/>
              </a:avLst>
            </a:prstGeom>
            <a:solidFill>
              <a:srgbClr val="26AF8A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9"/>
            <p:cNvSpPr txBox="1"/>
            <p:nvPr/>
          </p:nvSpPr>
          <p:spPr>
            <a:xfrm>
              <a:off x="344608" y="2168728"/>
              <a:ext cx="2446500" cy="9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Noto Sans"/>
                <a:buNone/>
              </a:pPr>
              <a:r>
                <a:rPr lang="en" sz="2400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Reliability</a:t>
              </a:r>
              <a:endParaRPr/>
            </a:p>
          </p:txBody>
        </p:sp>
        <p:sp>
          <p:nvSpPr>
            <p:cNvPr id="188" name="Google Shape;188;p29"/>
            <p:cNvSpPr/>
            <p:nvPr/>
          </p:nvSpPr>
          <p:spPr>
            <a:xfrm rot="5400000">
              <a:off x="5246399" y="894984"/>
              <a:ext cx="806700" cy="5574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BE2DA">
                <a:alpha val="89800"/>
              </a:srgbClr>
            </a:solidFill>
            <a:ln w="12700" cap="flat" cmpd="sng">
              <a:solidFill>
                <a:srgbClr val="CBE2DA">
                  <a:alpha val="898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9"/>
            <p:cNvSpPr txBox="1"/>
            <p:nvPr/>
          </p:nvSpPr>
          <p:spPr>
            <a:xfrm>
              <a:off x="2862596" y="3318307"/>
              <a:ext cx="5535000" cy="72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123825" rIns="247650" bIns="123825" anchor="ctr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Noto Sans"/>
                <a:buChar char="•"/>
              </a:pPr>
              <a:r>
                <a:rPr lang="en" sz="1400" b="0" i="0" u="none" strike="noStrike" cap="none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medida utilizando velocidade de processamento, tempo de resposta, consumo de recursos, rendimento e eficiência.</a:t>
              </a:r>
              <a:endParaRPr sz="14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90" name="Google Shape;190;p29"/>
            <p:cNvSpPr/>
            <p:nvPr/>
          </p:nvSpPr>
          <p:spPr>
            <a:xfrm>
              <a:off x="295392" y="3212152"/>
              <a:ext cx="2544900" cy="1008300"/>
            </a:xfrm>
            <a:prstGeom prst="roundRect">
              <a:avLst>
                <a:gd name="adj" fmla="val 16667"/>
              </a:avLst>
            </a:prstGeom>
            <a:solidFill>
              <a:srgbClr val="26AF8A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9"/>
            <p:cNvSpPr txBox="1"/>
            <p:nvPr/>
          </p:nvSpPr>
          <p:spPr>
            <a:xfrm>
              <a:off x="344608" y="3261368"/>
              <a:ext cx="2446500" cy="9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Noto Sans"/>
                <a:buNone/>
              </a:pPr>
              <a:r>
                <a:rPr lang="en" sz="2400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Performance</a:t>
              </a:r>
              <a:endParaRPr/>
            </a:p>
          </p:txBody>
        </p:sp>
        <p:sp>
          <p:nvSpPr>
            <p:cNvPr id="192" name="Google Shape;192;p29"/>
            <p:cNvSpPr/>
            <p:nvPr/>
          </p:nvSpPr>
          <p:spPr>
            <a:xfrm rot="5400000">
              <a:off x="5246399" y="1953588"/>
              <a:ext cx="806700" cy="5574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BE2DA">
                <a:alpha val="89800"/>
              </a:srgbClr>
            </a:solidFill>
            <a:ln w="12700" cap="flat" cmpd="sng">
              <a:solidFill>
                <a:srgbClr val="CBE2DA">
                  <a:alpha val="898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9"/>
            <p:cNvSpPr txBox="1"/>
            <p:nvPr/>
          </p:nvSpPr>
          <p:spPr>
            <a:xfrm>
              <a:off x="2862596" y="4376911"/>
              <a:ext cx="5535000" cy="72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123825" rIns="247650" bIns="123825" anchor="ctr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Noto Sans"/>
                <a:buChar char="•"/>
              </a:pPr>
              <a:r>
                <a:rPr lang="en" sz="1200" b="0" i="0" u="none" strike="noStrike" cap="none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combina capacidade de extensão, capacidade de </a:t>
              </a:r>
              <a:r>
                <a:rPr lang="en" sz="1200" b="1" i="0" u="none" strike="noStrike" cap="none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adaptação e de manutenção</a:t>
              </a:r>
              <a:r>
                <a:rPr lang="en" sz="1200" b="0" i="0" u="none" strike="noStrike" cap="none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 e, além disso, compatibilidade, facilidade de configuração, facilidade de instalação e facilidade de </a:t>
              </a:r>
              <a:r>
                <a:rPr lang="en" sz="1200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teste</a:t>
              </a:r>
              <a:r>
                <a:rPr lang="en" sz="1200" b="0" i="0" u="none" strike="noStrike" cap="none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.</a:t>
              </a:r>
              <a:endPara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94" name="Google Shape;194;p29"/>
            <p:cNvSpPr/>
            <p:nvPr/>
          </p:nvSpPr>
          <p:spPr>
            <a:xfrm>
              <a:off x="295392" y="4236718"/>
              <a:ext cx="2544900" cy="1008300"/>
            </a:xfrm>
            <a:prstGeom prst="roundRect">
              <a:avLst>
                <a:gd name="adj" fmla="val 16667"/>
              </a:avLst>
            </a:prstGeom>
            <a:solidFill>
              <a:srgbClr val="26AF8A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9"/>
            <p:cNvSpPr txBox="1"/>
            <p:nvPr/>
          </p:nvSpPr>
          <p:spPr>
            <a:xfrm>
              <a:off x="344608" y="4285934"/>
              <a:ext cx="2446500" cy="9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Noto Sans"/>
                <a:buNone/>
              </a:pPr>
              <a:r>
                <a:rPr lang="en" sz="2400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Supportability</a:t>
              </a:r>
              <a:endParaRPr/>
            </a:p>
          </p:txBody>
        </p:sp>
      </p:grpSp>
      <p:sp>
        <p:nvSpPr>
          <p:cNvPr id="196" name="Google Shape;19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>
            <a:spLocks noGrp="1"/>
          </p:cNvSpPr>
          <p:nvPr>
            <p:ph type="title"/>
          </p:nvPr>
        </p:nvSpPr>
        <p:spPr>
          <a:xfrm>
            <a:off x="542925" y="445025"/>
            <a:ext cx="82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endParaRPr/>
          </a:p>
        </p:txBody>
      </p:sp>
      <p:sp>
        <p:nvSpPr>
          <p:cNvPr id="202" name="Google Shape;202;p30"/>
          <p:cNvSpPr txBox="1">
            <a:spLocks noGrp="1"/>
          </p:cNvSpPr>
          <p:nvPr>
            <p:ph type="ftr" idx="11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I Oliveira</a:t>
            </a:r>
            <a:endParaRPr/>
          </a:p>
        </p:txBody>
      </p:sp>
      <p:pic>
        <p:nvPicPr>
          <p:cNvPr id="203" name="Google Shape;203;p30" descr="https://lh4.googleusercontent.com/PLBW521Rz87omz97fd_I0XI7bzqpZvktWzLdPEGSqkaUXbW7pa6WY0x9euyEHU84nwSxcUMiOanaeF6_4J-GuVKQZdZgr3oWWclstkp--Op7On-jLVMS7YAvLx-jtHcI3dyRvYI"/>
          <p:cNvPicPr preferRelativeResize="0"/>
          <p:nvPr/>
        </p:nvPicPr>
        <p:blipFill rotWithShape="1">
          <a:blip r:embed="rId3">
            <a:alphaModFix/>
          </a:blip>
          <a:srcRect r="19852"/>
          <a:stretch/>
        </p:blipFill>
        <p:spPr>
          <a:xfrm>
            <a:off x="1613250" y="0"/>
            <a:ext cx="6741299" cy="671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>
            <a:spLocks noGrp="1"/>
          </p:cNvSpPr>
          <p:nvPr>
            <p:ph type="body" idx="1"/>
          </p:nvPr>
        </p:nvSpPr>
        <p:spPr>
          <a:xfrm>
            <a:off x="628650" y="366217"/>
            <a:ext cx="3886200" cy="31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endParaRPr/>
          </a:p>
        </p:txBody>
      </p:sp>
      <p:sp>
        <p:nvSpPr>
          <p:cNvPr id="210" name="Google Shape;210;p31"/>
          <p:cNvSpPr txBox="1">
            <a:spLocks noGrp="1"/>
          </p:cNvSpPr>
          <p:nvPr>
            <p:ph type="body" idx="2"/>
          </p:nvPr>
        </p:nvSpPr>
        <p:spPr>
          <a:xfrm>
            <a:off x="4629150" y="366217"/>
            <a:ext cx="3886200" cy="31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11111"/>
              <a:buNone/>
            </a:pPr>
            <a:r>
              <a:rPr lang="en"/>
              <a:t>A importância relativa dos diferentes atributos de qualidade depende do projeto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12500"/>
              <a:buNone/>
            </a:pPr>
            <a:r>
              <a:rPr lang="en"/>
              <a:t>Loja on-line 🡪 muitas sessões em simultâneo, transações seguras,…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12500"/>
              <a:buNone/>
            </a:pP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12500"/>
              <a:buNone/>
            </a:pPr>
            <a:r>
              <a:rPr lang="en"/>
              <a:t>App Dialer (telefonar) 🡪 uso intuitivo, comunicação clara do estado da chamada 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12500"/>
              <a:buNone/>
            </a:pP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12500"/>
              <a:buNone/>
            </a:pPr>
            <a:r>
              <a:rPr lang="en"/>
              <a:t>Homebanking 🡪 segurança, disponibilidade,…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12500"/>
              <a:buNone/>
            </a:pP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12500"/>
              <a:buNone/>
            </a:pPr>
            <a:r>
              <a:rPr lang="en"/>
              <a:t>Explorar: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12500"/>
              <a:buNone/>
            </a:pPr>
            <a:r>
              <a:rPr lang="en"/>
              <a:t>- Wiegers, chap. 14</a:t>
            </a:r>
            <a:endParaRPr/>
          </a:p>
        </p:txBody>
      </p:sp>
      <p:sp>
        <p:nvSpPr>
          <p:cNvPr id="211" name="Google Shape;211;p31"/>
          <p:cNvSpPr txBox="1">
            <a:spLocks noGrp="1"/>
          </p:cNvSpPr>
          <p:nvPr>
            <p:ph type="sldNum" idx="12"/>
          </p:nvPr>
        </p:nvSpPr>
        <p:spPr>
          <a:xfrm>
            <a:off x="6457950" y="3575447"/>
            <a:ext cx="20574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212" name="Google Shape;21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5162" y="1707581"/>
            <a:ext cx="1766311" cy="26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1" descr="Icon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6284" y="1054001"/>
            <a:ext cx="1036095" cy="1160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>
            <a:spLocks noGrp="1"/>
          </p:cNvSpPr>
          <p:nvPr>
            <p:ph type="title"/>
          </p:nvPr>
        </p:nvSpPr>
        <p:spPr>
          <a:xfrm>
            <a:off x="597450" y="422250"/>
            <a:ext cx="41937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Eng.a de requisitos como um processo</a:t>
            </a:r>
            <a:endParaRPr/>
          </a:p>
        </p:txBody>
      </p:sp>
      <p:sp>
        <p:nvSpPr>
          <p:cNvPr id="219" name="Google Shape;219;p32"/>
          <p:cNvSpPr txBox="1">
            <a:spLocks noGrp="1"/>
          </p:cNvSpPr>
          <p:nvPr>
            <p:ph type="body" idx="1"/>
          </p:nvPr>
        </p:nvSpPr>
        <p:spPr>
          <a:xfrm>
            <a:off x="597450" y="1483825"/>
            <a:ext cx="4089000" cy="32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lvl="0" indent="-322580" algn="l" rtl="0">
              <a:spcBef>
                <a:spcPts val="300"/>
              </a:spcBef>
              <a:spcAft>
                <a:spcPts val="0"/>
              </a:spcAft>
              <a:buSzPct val="100000"/>
              <a:buChar char="一"/>
            </a:pPr>
            <a:r>
              <a:rPr lang="en"/>
              <a:t>Levantamento (</a:t>
            </a:r>
            <a:r>
              <a:rPr lang="en" i="1"/>
              <a:t>Elicitation</a:t>
            </a:r>
            <a:r>
              <a:rPr lang="en"/>
              <a:t>)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Recolha de requisitos junto dos intervenientes.</a:t>
            </a:r>
            <a:endParaRPr/>
          </a:p>
          <a:p>
            <a:pPr marL="457200" lvl="0" indent="-322580" algn="l" rtl="0">
              <a:spcBef>
                <a:spcPts val="0"/>
              </a:spcBef>
              <a:spcAft>
                <a:spcPts val="0"/>
              </a:spcAft>
              <a:buSzPct val="100000"/>
              <a:buChar char="一"/>
            </a:pPr>
            <a:r>
              <a:rPr lang="en"/>
              <a:t>Análise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Refinar, priorizar e esclarecer os requisitos.</a:t>
            </a:r>
            <a:endParaRPr/>
          </a:p>
          <a:p>
            <a:pPr marL="457200" lvl="0" indent="-322580" algn="l" rtl="0">
              <a:spcBef>
                <a:spcPts val="0"/>
              </a:spcBef>
              <a:spcAft>
                <a:spcPts val="0"/>
              </a:spcAft>
              <a:buSzPct val="100000"/>
              <a:buChar char="一"/>
            </a:pPr>
            <a:r>
              <a:rPr lang="en"/>
              <a:t>Especificação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Documentar e organizar os requisitos de forma estruturada.</a:t>
            </a:r>
            <a:endParaRPr/>
          </a:p>
          <a:p>
            <a:pPr marL="457200" lvl="0" indent="-322580" algn="l" rtl="0">
              <a:spcBef>
                <a:spcPts val="0"/>
              </a:spcBef>
              <a:spcAft>
                <a:spcPts val="0"/>
              </a:spcAft>
              <a:buSzPct val="100000"/>
              <a:buChar char="一"/>
            </a:pPr>
            <a:r>
              <a:rPr lang="en"/>
              <a:t>Validação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Assegurar que os requisitos estão completos e alinhados com as necessidades dos </a:t>
            </a:r>
            <a:r>
              <a:rPr lang="en" i="1"/>
              <a:t>stakeholders</a:t>
            </a:r>
            <a:r>
              <a:rPr lang="en"/>
              <a:t>.</a:t>
            </a:r>
            <a:endParaRPr/>
          </a:p>
          <a:p>
            <a:pPr marL="457200" lvl="0" indent="-322580" algn="l" rtl="0">
              <a:spcBef>
                <a:spcPts val="0"/>
              </a:spcBef>
              <a:spcAft>
                <a:spcPts val="0"/>
              </a:spcAft>
              <a:buSzPct val="100000"/>
              <a:buChar char="一"/>
            </a:pPr>
            <a:r>
              <a:rPr lang="en"/>
              <a:t>Gestão dos requisitos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Gerir as alterações e manter a integridade dos requisitos.</a:t>
            </a:r>
            <a:endParaRPr/>
          </a:p>
        </p:txBody>
      </p:sp>
      <p:pic>
        <p:nvPicPr>
          <p:cNvPr id="220" name="Google Shape;22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6450" y="1530675"/>
            <a:ext cx="4419600" cy="208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>
            <a:spLocks noGrp="1"/>
          </p:cNvSpPr>
          <p:nvPr>
            <p:ph type="title"/>
          </p:nvPr>
        </p:nvSpPr>
        <p:spPr>
          <a:xfrm>
            <a:off x="566058" y="205384"/>
            <a:ext cx="79494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85714"/>
              <a:buFont typeface="Noto Sans"/>
              <a:buNone/>
            </a:pPr>
            <a:r>
              <a:rPr lang="en"/>
              <a:t>Quais são as actividades de levantamento dos requisitos?</a:t>
            </a:r>
            <a:endParaRPr/>
          </a:p>
        </p:txBody>
      </p:sp>
      <p:sp>
        <p:nvSpPr>
          <p:cNvPr id="226" name="Google Shape;226;p33"/>
          <p:cNvSpPr txBox="1">
            <a:spLocks noGrp="1"/>
          </p:cNvSpPr>
          <p:nvPr>
            <p:ph type="body" idx="1"/>
          </p:nvPr>
        </p:nvSpPr>
        <p:spPr>
          <a:xfrm>
            <a:off x="628650" y="1042988"/>
            <a:ext cx="3886200" cy="23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"/>
              <a:t>O núcleo do desenvolvimento de requisitos é a sua identificação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"/>
              <a:t>o processo de levantamento das necessidades e restrições dos vários intervenientes para um sistema de software. 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"/>
              <a:t>Não é apenas uma questão de transcrever exatamente o que os utilizadores dizem… </a:t>
            </a:r>
            <a:endParaRPr/>
          </a:p>
        </p:txBody>
      </p:sp>
      <p:sp>
        <p:nvSpPr>
          <p:cNvPr id="227" name="Google Shape;227;p33"/>
          <p:cNvSpPr txBox="1">
            <a:spLocks noGrp="1"/>
          </p:cNvSpPr>
          <p:nvPr>
            <p:ph type="body" idx="2"/>
          </p:nvPr>
        </p:nvSpPr>
        <p:spPr>
          <a:xfrm>
            <a:off x="4629150" y="1042988"/>
            <a:ext cx="3886200" cy="23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"/>
              <a:t>Elicitação é um </a:t>
            </a:r>
            <a:r>
              <a:rPr lang="en">
                <a:highlight>
                  <a:srgbClr val="008080"/>
                </a:highlight>
              </a:rPr>
              <a:t>processo colaborativo e analítico que inclui actividades para recolher, descobrir, extrair e definir requisitos</a:t>
            </a:r>
            <a:r>
              <a:rPr lang="en"/>
              <a:t>. 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"/>
              <a:t>A elicitação é utilizada para descobrir requisitos focados no negócio + focados no utilizador + funcionais + não-funcionais. 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8" name="Google Shape;228;p33"/>
          <p:cNvSpPr txBox="1">
            <a:spLocks noGrp="1"/>
          </p:cNvSpPr>
          <p:nvPr>
            <p:ph type="ftr" idx="11"/>
          </p:nvPr>
        </p:nvSpPr>
        <p:spPr>
          <a:xfrm>
            <a:off x="628650" y="3575447"/>
            <a:ext cx="54864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Oliveira</a:t>
            </a:r>
            <a:endParaRPr/>
          </a:p>
        </p:txBody>
      </p:sp>
      <p:sp>
        <p:nvSpPr>
          <p:cNvPr id="229" name="Google Shape;229;p33"/>
          <p:cNvSpPr txBox="1">
            <a:spLocks noGrp="1"/>
          </p:cNvSpPr>
          <p:nvPr>
            <p:ph type="sldNum" idx="12"/>
          </p:nvPr>
        </p:nvSpPr>
        <p:spPr>
          <a:xfrm>
            <a:off x="6457950" y="3575447"/>
            <a:ext cx="20574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230" name="Google Shape;23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781" y="3453020"/>
            <a:ext cx="5092318" cy="1588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>
            <a:spLocks noGrp="1"/>
          </p:cNvSpPr>
          <p:nvPr>
            <p:ph type="body" idx="1"/>
          </p:nvPr>
        </p:nvSpPr>
        <p:spPr>
          <a:xfrm>
            <a:off x="597450" y="1483825"/>
            <a:ext cx="4089000" cy="32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Entrevistas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Inquéritos e questionários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Workshops de desenho colaborativo  (JAD) / sessões de brainstorming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Observação e estudos etnográficos (imersão no ambiente de trabalho)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Análise de documentos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i="1"/>
              <a:t>Focus groups</a:t>
            </a:r>
            <a:endParaRPr i="1"/>
          </a:p>
        </p:txBody>
      </p:sp>
      <p:sp>
        <p:nvSpPr>
          <p:cNvPr id="236" name="Google Shape;236;p34"/>
          <p:cNvSpPr txBox="1">
            <a:spLocks noGrp="1"/>
          </p:cNvSpPr>
          <p:nvPr>
            <p:ph type="title"/>
          </p:nvPr>
        </p:nvSpPr>
        <p:spPr>
          <a:xfrm>
            <a:off x="597450" y="422250"/>
            <a:ext cx="41937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Ténicas comuns de levantamento de requisitos </a:t>
            </a:r>
            <a:endParaRPr/>
          </a:p>
        </p:txBody>
      </p:sp>
      <p:pic>
        <p:nvPicPr>
          <p:cNvPr id="237" name="Google Shape;2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3775" y="304800"/>
            <a:ext cx="2549345" cy="483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34"/>
          <p:cNvCxnSpPr/>
          <p:nvPr/>
        </p:nvCxnSpPr>
        <p:spPr>
          <a:xfrm>
            <a:off x="5978875" y="3906525"/>
            <a:ext cx="791400" cy="141600"/>
          </a:xfrm>
          <a:prstGeom prst="straightConnector1">
            <a:avLst/>
          </a:prstGeom>
          <a:noFill/>
          <a:ln w="38100" cap="flat" cmpd="sng">
            <a:solidFill>
              <a:srgbClr val="FFC629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>
            <a:spLocks noGrp="1"/>
          </p:cNvSpPr>
          <p:nvPr>
            <p:ph type="title"/>
          </p:nvPr>
        </p:nvSpPr>
        <p:spPr>
          <a:xfrm>
            <a:off x="566058" y="205384"/>
            <a:ext cx="79494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85714"/>
              <a:buFont typeface="Noto Sans"/>
              <a:buNone/>
            </a:pPr>
            <a:r>
              <a:rPr lang="en"/>
              <a:t>OpenUP as práticas de requisitos</a:t>
            </a:r>
            <a:endParaRPr/>
          </a:p>
        </p:txBody>
      </p:sp>
      <p:sp>
        <p:nvSpPr>
          <p:cNvPr id="244" name="Google Shape;244;p35"/>
          <p:cNvSpPr txBox="1">
            <a:spLocks noGrp="1"/>
          </p:cNvSpPr>
          <p:nvPr>
            <p:ph type="body" idx="1"/>
          </p:nvPr>
        </p:nvSpPr>
        <p:spPr>
          <a:xfrm>
            <a:off x="628650" y="1042988"/>
            <a:ext cx="2982600" cy="3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"/>
              <a:t>OpenUP practices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OpenUP</a:t>
            </a:r>
            <a:r>
              <a:rPr lang="en"/>
              <a:t> &gt; Practices &gt; Technical Practices &gt; Shared Vision &gt; Requirements Gathering Techniques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"/>
              <a:t>Detalhes disponíveis na documentação do OpenUp</a:t>
            </a:r>
            <a:endParaRPr/>
          </a:p>
        </p:txBody>
      </p:sp>
      <p:sp>
        <p:nvSpPr>
          <p:cNvPr id="245" name="Google Shape;245;p35"/>
          <p:cNvSpPr txBox="1">
            <a:spLocks noGrp="1"/>
          </p:cNvSpPr>
          <p:nvPr>
            <p:ph type="body" idx="2"/>
          </p:nvPr>
        </p:nvSpPr>
        <p:spPr>
          <a:xfrm>
            <a:off x="4629150" y="782241"/>
            <a:ext cx="3886200" cy="26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endParaRPr/>
          </a:p>
        </p:txBody>
      </p:sp>
      <p:sp>
        <p:nvSpPr>
          <p:cNvPr id="246" name="Google Shape;246;p35"/>
          <p:cNvSpPr txBox="1">
            <a:spLocks noGrp="1"/>
          </p:cNvSpPr>
          <p:nvPr>
            <p:ph type="sldNum" idx="12"/>
          </p:nvPr>
        </p:nvSpPr>
        <p:spPr>
          <a:xfrm>
            <a:off x="6457950" y="3575447"/>
            <a:ext cx="20574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247" name="Google Shape;247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09475" y="1042988"/>
            <a:ext cx="6610979" cy="421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 txBox="1">
            <a:spLocks noGrp="1"/>
          </p:cNvSpPr>
          <p:nvPr>
            <p:ph type="title"/>
          </p:nvPr>
        </p:nvSpPr>
        <p:spPr>
          <a:xfrm>
            <a:off x="566058" y="205384"/>
            <a:ext cx="79494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85714"/>
              <a:buFont typeface="Noto Sans"/>
              <a:buNone/>
            </a:pPr>
            <a:endParaRPr/>
          </a:p>
        </p:txBody>
      </p:sp>
      <p:sp>
        <p:nvSpPr>
          <p:cNvPr id="253" name="Google Shape;253;p36"/>
          <p:cNvSpPr txBox="1">
            <a:spLocks noGrp="1"/>
          </p:cNvSpPr>
          <p:nvPr>
            <p:ph type="body" idx="1"/>
          </p:nvPr>
        </p:nvSpPr>
        <p:spPr>
          <a:xfrm>
            <a:off x="628650" y="782241"/>
            <a:ext cx="3886200" cy="26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endParaRPr/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2"/>
          </p:nvPr>
        </p:nvSpPr>
        <p:spPr>
          <a:xfrm>
            <a:off x="4629150" y="782241"/>
            <a:ext cx="3886200" cy="26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endParaRPr/>
          </a:p>
        </p:txBody>
      </p:sp>
      <p:sp>
        <p:nvSpPr>
          <p:cNvPr id="255" name="Google Shape;255;p36"/>
          <p:cNvSpPr txBox="1">
            <a:spLocks noGrp="1"/>
          </p:cNvSpPr>
          <p:nvPr>
            <p:ph type="sldNum" idx="12"/>
          </p:nvPr>
        </p:nvSpPr>
        <p:spPr>
          <a:xfrm>
            <a:off x="6457950" y="3575447"/>
            <a:ext cx="20574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256" name="Google Shape;25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14" y="0"/>
            <a:ext cx="668272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597450" y="422250"/>
            <a:ext cx="41937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Análise de requisitos</a:t>
            </a:r>
            <a:endParaRPr/>
          </a:p>
        </p:txBody>
      </p:sp>
      <p:sp>
        <p:nvSpPr>
          <p:cNvPr id="262" name="Google Shape;262;p37"/>
          <p:cNvSpPr txBox="1">
            <a:spLocks noGrp="1"/>
          </p:cNvSpPr>
          <p:nvPr>
            <p:ph type="body" idx="1"/>
          </p:nvPr>
        </p:nvSpPr>
        <p:spPr>
          <a:xfrm>
            <a:off x="597450" y="1483825"/>
            <a:ext cx="4089000" cy="32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Definição de prioridades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Determinar as caraterísticas de valor elevado versus as caraterísticas facultativas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Negociação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Resolver conflitos entre </a:t>
            </a:r>
            <a:r>
              <a:rPr lang="en" i="1"/>
              <a:t>stakeholders</a:t>
            </a:r>
            <a:endParaRPr i="1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Modelação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Utilizar diagramas e ferramentas (por exemplo, diagramas da UML)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Ponderação da viabilidade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Avaliar as restrições técnicas, económicas e organizacionais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00"/>
              </a:spcAft>
              <a:buNone/>
            </a:pPr>
            <a:endParaRPr/>
          </a:p>
        </p:txBody>
      </p:sp>
      <p:pic>
        <p:nvPicPr>
          <p:cNvPr id="263" name="Google Shape;26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1250" y="1304625"/>
            <a:ext cx="4152750" cy="1956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p37"/>
          <p:cNvCxnSpPr/>
          <p:nvPr/>
        </p:nvCxnSpPr>
        <p:spPr>
          <a:xfrm rot="10800000" flipH="1">
            <a:off x="5509050" y="3217775"/>
            <a:ext cx="437700" cy="463500"/>
          </a:xfrm>
          <a:prstGeom prst="straightConnector1">
            <a:avLst/>
          </a:prstGeom>
          <a:noFill/>
          <a:ln w="28575" cap="flat" cmpd="sng">
            <a:solidFill>
              <a:srgbClr val="FFC629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 txBox="1">
            <a:spLocks noGrp="1"/>
          </p:cNvSpPr>
          <p:nvPr>
            <p:ph type="title"/>
          </p:nvPr>
        </p:nvSpPr>
        <p:spPr>
          <a:xfrm>
            <a:off x="542925" y="333769"/>
            <a:ext cx="82893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" sz="2400" i="1"/>
              <a:t>Seleção</a:t>
            </a:r>
            <a:r>
              <a:rPr lang="en" sz="2400" b="0" i="1"/>
              <a:t> </a:t>
            </a:r>
            <a:r>
              <a:rPr lang="en" sz="2400" b="0"/>
              <a:t>dos requisitos</a:t>
            </a:r>
            <a:endParaRPr sz="2400"/>
          </a:p>
        </p:txBody>
      </p:sp>
      <p:sp>
        <p:nvSpPr>
          <p:cNvPr id="270" name="Google Shape;270;p38"/>
          <p:cNvSpPr/>
          <p:nvPr/>
        </p:nvSpPr>
        <p:spPr>
          <a:xfrm>
            <a:off x="231774" y="789553"/>
            <a:ext cx="8660700" cy="27003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/>
              <a:buNone/>
            </a:pPr>
            <a:r>
              <a:rPr lang="en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Sistema a construir</a:t>
            </a:r>
            <a:endParaRPr sz="2000" u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p38"/>
          <p:cNvSpPr/>
          <p:nvPr/>
        </p:nvSpPr>
        <p:spPr>
          <a:xfrm>
            <a:off x="419100" y="1113587"/>
            <a:ext cx="6415200" cy="3888600"/>
          </a:xfrm>
          <a:prstGeom prst="rect">
            <a:avLst/>
          </a:prstGeom>
          <a:solidFill>
            <a:srgbClr val="CCECFF">
              <a:alpha val="60000"/>
            </a:srgbClr>
          </a:solidFill>
          <a:ln w="19050" cap="flat" cmpd="sng">
            <a:solidFill>
              <a:srgbClr val="C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/>
              <a:buNone/>
            </a:pPr>
            <a:r>
              <a:rPr lang="en" sz="2000" u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Âmbito inicial</a:t>
            </a:r>
            <a:endParaRPr/>
          </a:p>
        </p:txBody>
      </p:sp>
      <p:sp>
        <p:nvSpPr>
          <p:cNvPr id="272" name="Google Shape;272;p38"/>
          <p:cNvSpPr/>
          <p:nvPr/>
        </p:nvSpPr>
        <p:spPr>
          <a:xfrm>
            <a:off x="649374" y="4029912"/>
            <a:ext cx="5922900" cy="648000"/>
          </a:xfrm>
          <a:prstGeom prst="rect">
            <a:avLst/>
          </a:prstGeom>
          <a:solidFill>
            <a:srgbClr val="70C8D4">
              <a:alpha val="69800"/>
            </a:srgbClr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/>
              <a:buNone/>
            </a:pPr>
            <a:r>
              <a:rPr lang="en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supérfluo (desnecessário) </a:t>
            </a:r>
            <a:endParaRPr sz="2000" u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38"/>
          <p:cNvSpPr/>
          <p:nvPr/>
        </p:nvSpPr>
        <p:spPr>
          <a:xfrm>
            <a:off x="7020272" y="1113587"/>
            <a:ext cx="1800300" cy="2281200"/>
          </a:xfrm>
          <a:prstGeom prst="rect">
            <a:avLst/>
          </a:prstGeom>
          <a:solidFill>
            <a:srgbClr val="C0D890">
              <a:alpha val="69800"/>
            </a:srgbClr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/>
              <a:buNone/>
            </a:pPr>
            <a:r>
              <a:rPr lang="en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Requisitos </a:t>
            </a:r>
            <a:br>
              <a:rPr lang="en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em falta</a:t>
            </a:r>
            <a:endParaRPr sz="2000" u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" name="Google Shape;274;p38"/>
          <p:cNvSpPr/>
          <p:nvPr/>
        </p:nvSpPr>
        <p:spPr>
          <a:xfrm>
            <a:off x="696913" y="1221600"/>
            <a:ext cx="5827800" cy="2579100"/>
          </a:xfrm>
          <a:prstGeom prst="rect">
            <a:avLst/>
          </a:prstGeom>
          <a:solidFill>
            <a:srgbClr val="1E8369">
              <a:alpha val="69800"/>
            </a:srgbClr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/>
              <a:buNone/>
            </a:pPr>
            <a:r>
              <a:rPr lang="en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Requisitos documentados na análise</a:t>
            </a:r>
            <a:endParaRPr sz="2000" u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38"/>
          <p:cNvSpPr/>
          <p:nvPr/>
        </p:nvSpPr>
        <p:spPr>
          <a:xfrm>
            <a:off x="961990" y="3336881"/>
            <a:ext cx="2625000" cy="421800"/>
          </a:xfrm>
          <a:prstGeom prst="ellipse">
            <a:avLst/>
          </a:prstGeom>
          <a:solidFill>
            <a:srgbClr val="F2F2F2">
              <a:alpha val="69800"/>
            </a:srgbClr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Open Sans Light"/>
              <a:buNone/>
            </a:pPr>
            <a:r>
              <a:rPr lang="en" sz="2000">
                <a:solidFill>
                  <a:srgbClr val="C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Inconsistente</a:t>
            </a:r>
            <a:endParaRPr sz="2000" u="none">
              <a:solidFill>
                <a:srgbClr val="C00000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76" name="Google Shape;276;p38"/>
          <p:cNvSpPr/>
          <p:nvPr/>
        </p:nvSpPr>
        <p:spPr>
          <a:xfrm>
            <a:off x="4267200" y="2950190"/>
            <a:ext cx="2257500" cy="746700"/>
          </a:xfrm>
          <a:prstGeom prst="ellipse">
            <a:avLst/>
          </a:prstGeom>
          <a:solidFill>
            <a:srgbClr val="D5DBE5">
              <a:alpha val="69800"/>
            </a:srgbClr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Open Sans Light"/>
              <a:buNone/>
            </a:pPr>
            <a:r>
              <a:rPr lang="en" sz="2000">
                <a:solidFill>
                  <a:srgbClr val="0070C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Inexequível (tecnologia)</a:t>
            </a:r>
            <a:endParaRPr sz="2000" u="none">
              <a:solidFill>
                <a:srgbClr val="0070C0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77" name="Google Shape;277;p38"/>
          <p:cNvSpPr txBox="1">
            <a:spLocks noGrp="1"/>
          </p:cNvSpPr>
          <p:nvPr>
            <p:ph type="sldNum" idx="12"/>
          </p:nvPr>
        </p:nvSpPr>
        <p:spPr>
          <a:xfrm>
            <a:off x="8472458" y="3497413"/>
            <a:ext cx="5487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>
            <a:spLocks noGrp="1"/>
          </p:cNvSpPr>
          <p:nvPr>
            <p:ph type="ftr" idx="11"/>
          </p:nvPr>
        </p:nvSpPr>
        <p:spPr>
          <a:xfrm>
            <a:off x="1785256" y="4767263"/>
            <a:ext cx="4329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Oliveira</a:t>
            </a:r>
            <a:endParaRPr/>
          </a:p>
        </p:txBody>
      </p:sp>
      <p:sp>
        <p:nvSpPr>
          <p:cNvPr id="283" name="Google Shape;283;p39"/>
          <p:cNvSpPr txBox="1">
            <a:spLocks noGrp="1"/>
          </p:cNvSpPr>
          <p:nvPr>
            <p:ph type="sldNum" idx="12"/>
          </p:nvPr>
        </p:nvSpPr>
        <p:spPr>
          <a:xfrm>
            <a:off x="8472458" y="3497413"/>
            <a:ext cx="5487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284" name="Google Shape;28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968" y="6785"/>
            <a:ext cx="5851548" cy="5129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>
            <a:spLocks noGrp="1"/>
          </p:cNvSpPr>
          <p:nvPr>
            <p:ph type="body" idx="1"/>
          </p:nvPr>
        </p:nvSpPr>
        <p:spPr>
          <a:xfrm>
            <a:off x="780975" y="1355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Documentação estruturada e ativamente mantida 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Aplicar uma estratégia coerente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Abordagens clássicas “product centric”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Listas de funções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Abordagens “user centric”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casos de utilização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i="1"/>
              <a:t>user stories</a:t>
            </a:r>
            <a:r>
              <a:rPr lang="en"/>
              <a:t> </a:t>
            </a:r>
            <a:endParaRPr/>
          </a:p>
        </p:txBody>
      </p:sp>
      <p:sp>
        <p:nvSpPr>
          <p:cNvPr id="290" name="Google Shape;290;p40"/>
          <p:cNvSpPr txBox="1">
            <a:spLocks noGrp="1"/>
          </p:cNvSpPr>
          <p:nvPr>
            <p:ph type="title"/>
          </p:nvPr>
        </p:nvSpPr>
        <p:spPr>
          <a:xfrm>
            <a:off x="781050" y="445025"/>
            <a:ext cx="805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Especificação de requisitos </a:t>
            </a:r>
            <a:endParaRPr/>
          </a:p>
        </p:txBody>
      </p:sp>
      <p:sp>
        <p:nvSpPr>
          <p:cNvPr id="291" name="Google Shape;291;p40"/>
          <p:cNvSpPr txBox="1">
            <a:spLocks noGrp="1"/>
          </p:cNvSpPr>
          <p:nvPr>
            <p:ph type="body" idx="2"/>
          </p:nvPr>
        </p:nvSpPr>
        <p:spPr>
          <a:xfrm>
            <a:off x="4832325" y="1355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100"/>
              </a:spcAft>
              <a:buNone/>
            </a:pPr>
            <a:endParaRPr/>
          </a:p>
        </p:txBody>
      </p:sp>
      <p:pic>
        <p:nvPicPr>
          <p:cNvPr id="292" name="Google Shape;29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1250" y="1304625"/>
            <a:ext cx="4152750" cy="1956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3" name="Google Shape;293;p40"/>
          <p:cNvCxnSpPr/>
          <p:nvPr/>
        </p:nvCxnSpPr>
        <p:spPr>
          <a:xfrm rot="10800000" flipH="1">
            <a:off x="6452950" y="3174875"/>
            <a:ext cx="437700" cy="463500"/>
          </a:xfrm>
          <a:prstGeom prst="straightConnector1">
            <a:avLst/>
          </a:prstGeom>
          <a:noFill/>
          <a:ln w="28575" cap="flat" cmpd="sng">
            <a:solidFill>
              <a:srgbClr val="FFC629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1"/>
          <p:cNvSpPr txBox="1">
            <a:spLocks noGrp="1"/>
          </p:cNvSpPr>
          <p:nvPr>
            <p:ph type="title"/>
          </p:nvPr>
        </p:nvSpPr>
        <p:spPr>
          <a:xfrm>
            <a:off x="942975" y="406925"/>
            <a:ext cx="788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87500"/>
              <a:buFont typeface="Noto Sans"/>
              <a:buNone/>
            </a:pPr>
            <a:r>
              <a:rPr lang="en"/>
              <a:t>Requisitos elencados como listas de funções “o sistema deve…”</a:t>
            </a:r>
            <a:endParaRPr/>
          </a:p>
        </p:txBody>
      </p:sp>
      <p:graphicFrame>
        <p:nvGraphicFramePr>
          <p:cNvPr id="299" name="Google Shape;299;p41"/>
          <p:cNvGraphicFramePr/>
          <p:nvPr/>
        </p:nvGraphicFramePr>
        <p:xfrm>
          <a:off x="628650" y="1451456"/>
          <a:ext cx="7886700" cy="2545200"/>
        </p:xfrm>
        <a:graphic>
          <a:graphicData uri="http://schemas.openxmlformats.org/drawingml/2006/table">
            <a:tbl>
              <a:tblPr firstRow="1" bandRow="1">
                <a:noFill/>
                <a:tableStyleId>{86FEA0F7-93D0-4048-B020-843793760936}</a:tableStyleId>
              </a:tblPr>
              <a:tblGrid>
                <a:gridCol w="84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#</a:t>
                      </a:r>
                      <a:endParaRPr sz="1400"/>
                    </a:p>
                  </a:txBody>
                  <a:tcPr marL="89425" marR="8942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Requisito</a:t>
                      </a:r>
                      <a:endParaRPr sz="1400"/>
                    </a:p>
                  </a:txBody>
                  <a:tcPr marL="89425" marR="89425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lt1"/>
                          </a:solidFill>
                        </a:rPr>
                        <a:t>RF.1</a:t>
                      </a:r>
                      <a:endParaRPr sz="1400">
                        <a:solidFill>
                          <a:schemeClr val="lt1"/>
                        </a:solidFill>
                      </a:endParaRPr>
                    </a:p>
                  </a:txBody>
                  <a:tcPr marL="89425" marR="8942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lt1"/>
                          </a:solidFill>
                        </a:rPr>
                        <a:t>O sistema deve permitir a um profissional criar um novo pedido de adesão , em auto-serviço, na web.</a:t>
                      </a:r>
                      <a:endParaRPr sz="1400">
                        <a:solidFill>
                          <a:schemeClr val="lt1"/>
                        </a:solidFill>
                      </a:endParaRPr>
                    </a:p>
                  </a:txBody>
                  <a:tcPr marL="89425" marR="89425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lt1"/>
                          </a:solidFill>
                        </a:rPr>
                        <a:t>RF.2</a:t>
                      </a:r>
                      <a:endParaRPr sz="1400">
                        <a:solidFill>
                          <a:schemeClr val="lt1"/>
                        </a:solidFill>
                      </a:endParaRPr>
                    </a:p>
                  </a:txBody>
                  <a:tcPr marL="89425" marR="8942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lt1"/>
                          </a:solidFill>
                        </a:rPr>
                        <a:t>O sistema deve enviar credenciais temporárias para os pedidos de adesão e enviá-las, por email, aos solicitantes, até 10min depois do registo.</a:t>
                      </a:r>
                      <a:endParaRPr sz="1400">
                        <a:solidFill>
                          <a:schemeClr val="lt1"/>
                        </a:solidFill>
                      </a:endParaRPr>
                    </a:p>
                  </a:txBody>
                  <a:tcPr marL="89425" marR="89425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lt1"/>
                          </a:solidFill>
                        </a:rPr>
                        <a:t>RF.3</a:t>
                      </a:r>
                      <a:endParaRPr sz="1400">
                        <a:solidFill>
                          <a:schemeClr val="lt1"/>
                        </a:solidFill>
                      </a:endParaRPr>
                    </a:p>
                  </a:txBody>
                  <a:tcPr marL="89425" marR="8942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Noto Sans"/>
                        <a:buNone/>
                      </a:pPr>
                      <a:r>
                        <a:rPr lang="en" sz="1400">
                          <a:solidFill>
                            <a:schemeClr val="lt1"/>
                          </a:solidFill>
                        </a:rPr>
                        <a:t>O sistema deve permitir a pesquisa de cheques-dentista (emitidos) por número de utente do SNS. </a:t>
                      </a:r>
                      <a:endParaRPr sz="1400">
                        <a:solidFill>
                          <a:schemeClr val="lt1"/>
                        </a:solidFill>
                      </a:endParaRPr>
                    </a:p>
                  </a:txBody>
                  <a:tcPr marL="89425" marR="89425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lt1"/>
                          </a:solidFill>
                        </a:rPr>
                        <a:t>RNF.1</a:t>
                      </a:r>
                      <a:endParaRPr sz="1400">
                        <a:solidFill>
                          <a:schemeClr val="lt1"/>
                        </a:solidFill>
                      </a:endParaRPr>
                    </a:p>
                  </a:txBody>
                  <a:tcPr marL="89425" marR="8942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lt1"/>
                          </a:solidFill>
                        </a:rPr>
                        <a:t>As pesquisas de cheques-dentista têm de retornar resultados em &lt;5 segundos  ou um evento de tempo expirado.</a:t>
                      </a:r>
                      <a:endParaRPr sz="1400">
                        <a:solidFill>
                          <a:schemeClr val="lt1"/>
                        </a:solidFill>
                      </a:endParaRPr>
                    </a:p>
                  </a:txBody>
                  <a:tcPr marL="89425" marR="89425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lt1"/>
                          </a:solidFill>
                        </a:rPr>
                        <a:t>…</a:t>
                      </a:r>
                      <a:endParaRPr sz="1400">
                        <a:solidFill>
                          <a:schemeClr val="lt1"/>
                        </a:solidFill>
                      </a:endParaRPr>
                    </a:p>
                  </a:txBody>
                  <a:tcPr marL="89425" marR="8942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lt1"/>
                        </a:solidFill>
                      </a:endParaRPr>
                    </a:p>
                  </a:txBody>
                  <a:tcPr marL="89425" marR="89425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0" name="Google Shape;300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2"/>
          <p:cNvSpPr txBox="1">
            <a:spLocks noGrp="1"/>
          </p:cNvSpPr>
          <p:nvPr>
            <p:ph type="title"/>
          </p:nvPr>
        </p:nvSpPr>
        <p:spPr>
          <a:xfrm>
            <a:off x="542925" y="333769"/>
            <a:ext cx="82893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85714"/>
              <a:buFont typeface="Noto Sans"/>
              <a:buNone/>
            </a:pPr>
            <a:endParaRPr/>
          </a:p>
        </p:txBody>
      </p:sp>
      <p:sp>
        <p:nvSpPr>
          <p:cNvPr id="306" name="Google Shape;306;p42"/>
          <p:cNvSpPr txBox="1">
            <a:spLocks noGrp="1"/>
          </p:cNvSpPr>
          <p:nvPr>
            <p:ph type="ftr" idx="11"/>
          </p:nvPr>
        </p:nvSpPr>
        <p:spPr>
          <a:xfrm>
            <a:off x="1785256" y="4767263"/>
            <a:ext cx="4329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Oliveira</a:t>
            </a:r>
            <a:endParaRPr/>
          </a:p>
        </p:txBody>
      </p:sp>
      <p:pic>
        <p:nvPicPr>
          <p:cNvPr id="307" name="Google Shape;307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131" y="1355156"/>
            <a:ext cx="6248194" cy="792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64231" y="2268090"/>
            <a:ext cx="6254540" cy="895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9952" y="3283832"/>
            <a:ext cx="5245466" cy="1935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48262" y="90530"/>
            <a:ext cx="3393281" cy="1092994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2"/>
          <p:cNvSpPr txBox="1">
            <a:spLocks noGrp="1"/>
          </p:cNvSpPr>
          <p:nvPr>
            <p:ph type="sldNum" idx="12"/>
          </p:nvPr>
        </p:nvSpPr>
        <p:spPr>
          <a:xfrm>
            <a:off x="8472458" y="3497413"/>
            <a:ext cx="5487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3"/>
          <p:cNvSpPr txBox="1">
            <a:spLocks noGrp="1"/>
          </p:cNvSpPr>
          <p:nvPr>
            <p:ph type="title"/>
          </p:nvPr>
        </p:nvSpPr>
        <p:spPr>
          <a:xfrm>
            <a:off x="542925" y="445025"/>
            <a:ext cx="82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160"/>
              <a:buFont typeface="Noto Sans"/>
              <a:buNone/>
            </a:pPr>
            <a:r>
              <a:rPr lang="en" sz="2220"/>
              <a:t>S. M. A. R. T.  🡪 Specific, Measurable, Attainable, Relevant and time-sensitive (</a:t>
            </a:r>
            <a:r>
              <a:rPr lang="en" sz="1679" i="1"/>
              <a:t>Específico, Mensurável, Atingível, Relevante e Balizado no tempo</a:t>
            </a:r>
            <a:r>
              <a:rPr lang="en" sz="2220"/>
              <a:t>)</a:t>
            </a:r>
            <a:endParaRPr sz="2220"/>
          </a:p>
        </p:txBody>
      </p:sp>
      <p:sp>
        <p:nvSpPr>
          <p:cNvPr id="317" name="Google Shape;317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318" name="Google Shape;318;p43"/>
          <p:cNvSpPr txBox="1"/>
          <p:nvPr/>
        </p:nvSpPr>
        <p:spPr>
          <a:xfrm>
            <a:off x="542924" y="4239293"/>
            <a:ext cx="2008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Credit: Wiegers ‘13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19" name="Google Shape;31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775" y="1367475"/>
            <a:ext cx="7010400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4"/>
          <p:cNvSpPr txBox="1">
            <a:spLocks noGrp="1"/>
          </p:cNvSpPr>
          <p:nvPr>
            <p:ph type="title"/>
          </p:nvPr>
        </p:nvSpPr>
        <p:spPr>
          <a:xfrm>
            <a:off x="566058" y="205384"/>
            <a:ext cx="79494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" sz="2800"/>
              <a:t>O que são requisitos bem formulados? (ISO-IEEE 29148)</a:t>
            </a:r>
            <a:endParaRPr sz="2800"/>
          </a:p>
        </p:txBody>
      </p:sp>
      <p:sp>
        <p:nvSpPr>
          <p:cNvPr id="325" name="Google Shape;325;p44"/>
          <p:cNvSpPr txBox="1">
            <a:spLocks noGrp="1"/>
          </p:cNvSpPr>
          <p:nvPr>
            <p:ph type="body" idx="1"/>
          </p:nvPr>
        </p:nvSpPr>
        <p:spPr>
          <a:xfrm>
            <a:off x="685800" y="1042987"/>
            <a:ext cx="3886200" cy="3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"/>
              <a:t>Uma formulação de uma caraterística que:</a:t>
            </a:r>
            <a:endParaRPr/>
          </a:p>
          <a:p>
            <a:pPr marL="342900" lvl="1" indent="-36004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</a:pPr>
            <a:r>
              <a:rPr lang="en">
                <a:highlight>
                  <a:srgbClr val="008080"/>
                </a:highlight>
              </a:rPr>
              <a:t>tem de ser satisfeita ou detida por um sistema</a:t>
            </a:r>
            <a:r>
              <a:rPr lang="en"/>
              <a:t> para resolver um problema ou para atingir um objectivo de alguma “parte interessada”</a:t>
            </a:r>
            <a:endParaRPr/>
          </a:p>
          <a:p>
            <a:pPr marL="342900" lvl="1" indent="-36004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</a:pPr>
            <a:r>
              <a:rPr lang="en">
                <a:highlight>
                  <a:srgbClr val="008080"/>
                </a:highlight>
              </a:rPr>
              <a:t>pode ser verificada</a:t>
            </a:r>
            <a:r>
              <a:rPr lang="en"/>
              <a:t>, </a:t>
            </a:r>
            <a:endParaRPr/>
          </a:p>
          <a:p>
            <a:pPr marL="342900" lvl="1" indent="-36004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</a:pPr>
            <a:r>
              <a:rPr lang="en">
                <a:highlight>
                  <a:srgbClr val="008080"/>
                </a:highlight>
              </a:rPr>
              <a:t>é qualificado </a:t>
            </a:r>
            <a:r>
              <a:rPr lang="en"/>
              <a:t>por condições mensuráveis e limitado por restrições, </a:t>
            </a:r>
            <a:endParaRPr/>
          </a:p>
          <a:p>
            <a:pPr marL="342900" lvl="1" indent="-36004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</a:pPr>
            <a:r>
              <a:rPr lang="en"/>
              <a:t>e define o comportamento ou a capacidade do sistema quando usado, mas não uma capacidade do utilizador ou operador. </a:t>
            </a:r>
            <a:endParaRPr/>
          </a:p>
        </p:txBody>
      </p:sp>
      <p:sp>
        <p:nvSpPr>
          <p:cNvPr id="326" name="Google Shape;326;p44"/>
          <p:cNvSpPr txBox="1">
            <a:spLocks noGrp="1"/>
          </p:cNvSpPr>
          <p:nvPr>
            <p:ph type="body" idx="2"/>
          </p:nvPr>
        </p:nvSpPr>
        <p:spPr>
          <a:xfrm>
            <a:off x="4629150" y="782241"/>
            <a:ext cx="3886200" cy="26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11111"/>
              <a:buNone/>
            </a:pPr>
            <a:r>
              <a:rPr lang="en"/>
              <a:t>Elementos de estilo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12500"/>
              <a:buNone/>
            </a:pPr>
            <a:r>
              <a:rPr lang="en">
                <a:highlight>
                  <a:srgbClr val="008080"/>
                </a:highlight>
              </a:rPr>
              <a:t>Um requisito é uma declaração que expressa uma necessidade e as limitações e condições que lhe estão associadas. 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12500"/>
              <a:buNone/>
            </a:pPr>
            <a:r>
              <a:rPr lang="en"/>
              <a:t>Se expressa em linguagem natural, a declaração deve incluir um </a:t>
            </a:r>
            <a:r>
              <a:rPr lang="en">
                <a:highlight>
                  <a:srgbClr val="008080"/>
                </a:highlight>
              </a:rPr>
              <a:t>sujeito, um verbo e um complemento</a:t>
            </a:r>
            <a:r>
              <a:rPr lang="en"/>
              <a:t>. Um requisito deve indicar o sujeito do requisito (por exemplo, o sistema, o software, etc.) e o que deve ser feito (por exemplo, operar a um nível de potência). 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12500"/>
              <a:buNone/>
            </a:pP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" sz="1700"/>
              <a:t>E.g: </a:t>
            </a:r>
            <a:r>
              <a:rPr lang="en" sz="1900" u="sng"/>
              <a:t>O Sistema de Facturação </a:t>
            </a:r>
            <a:r>
              <a:rPr lang="en" sz="1900"/>
              <a:t>[Sujeito], deve </a:t>
            </a:r>
            <a:r>
              <a:rPr lang="en" sz="1900" u="sng"/>
              <a:t>exibir as facturas pendentes do cliente</a:t>
            </a:r>
            <a:r>
              <a:rPr lang="en" sz="1900"/>
              <a:t> [Acção] </a:t>
            </a:r>
            <a:r>
              <a:rPr lang="en" sz="1900" u="sng"/>
              <a:t>por ordem crescente </a:t>
            </a:r>
            <a:r>
              <a:rPr lang="en" sz="1900"/>
              <a:t>[Complemento] em que as facturas devem ser pagas. 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" sz="1900"/>
              <a:t>.</a:t>
            </a:r>
            <a:endParaRPr/>
          </a:p>
        </p:txBody>
      </p:sp>
      <p:sp>
        <p:nvSpPr>
          <p:cNvPr id="327" name="Google Shape;327;p44"/>
          <p:cNvSpPr txBox="1">
            <a:spLocks noGrp="1"/>
          </p:cNvSpPr>
          <p:nvPr>
            <p:ph type="sldNum" idx="12"/>
          </p:nvPr>
        </p:nvSpPr>
        <p:spPr>
          <a:xfrm>
            <a:off x="6457950" y="3575447"/>
            <a:ext cx="20574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pic>
        <p:nvPicPr>
          <p:cNvPr id="328" name="Google Shape;328;p4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4750" y="3957313"/>
            <a:ext cx="2508248" cy="1044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/>
          <p:cNvSpPr txBox="1">
            <a:spLocks noGrp="1"/>
          </p:cNvSpPr>
          <p:nvPr>
            <p:ph type="title"/>
          </p:nvPr>
        </p:nvSpPr>
        <p:spPr>
          <a:xfrm>
            <a:off x="942975" y="406925"/>
            <a:ext cx="788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520"/>
              <a:buFont typeface="Noto Sans"/>
              <a:buNone/>
            </a:pPr>
            <a:r>
              <a:rPr lang="en" sz="2320"/>
              <a:t>OpenUP: como identificar e descrever os requisitos, para que o âmbito fique determinado</a:t>
            </a:r>
            <a:endParaRPr sz="2320"/>
          </a:p>
        </p:txBody>
      </p:sp>
      <p:pic>
        <p:nvPicPr>
          <p:cNvPr id="334" name="Google Shape;334;p45">
            <a:hlinkClick r:id="rId3"/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942975" y="1246825"/>
            <a:ext cx="6651000" cy="368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6"/>
          <p:cNvSpPr txBox="1">
            <a:spLocks noGrp="1"/>
          </p:cNvSpPr>
          <p:nvPr>
            <p:ph type="title"/>
          </p:nvPr>
        </p:nvSpPr>
        <p:spPr>
          <a:xfrm>
            <a:off x="597450" y="422250"/>
            <a:ext cx="34356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92307"/>
              <a:buFont typeface="Noto Sans"/>
              <a:buNone/>
            </a:pPr>
            <a:r>
              <a:rPr lang="en"/>
              <a:t>Prática recomendada no OpenUP</a:t>
            </a:r>
            <a:endParaRPr/>
          </a:p>
        </p:txBody>
      </p:sp>
      <p:sp>
        <p:nvSpPr>
          <p:cNvPr id="341" name="Google Shape;341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pic>
        <p:nvPicPr>
          <p:cNvPr id="342" name="Google Shape;34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51225" y="822276"/>
            <a:ext cx="5049225" cy="3734275"/>
          </a:xfrm>
          <a:prstGeom prst="rect">
            <a:avLst/>
          </a:prstGeom>
          <a:solidFill>
            <a:srgbClr val="ECECEC"/>
          </a:solidFill>
          <a:ln w="19050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0000" algn="tl" rotWithShape="0">
              <a:srgbClr val="000000">
                <a:alpha val="40780"/>
              </a:srgbClr>
            </a:outerShdw>
          </a:effectLst>
        </p:spPr>
      </p:pic>
      <p:sp>
        <p:nvSpPr>
          <p:cNvPr id="343" name="Google Shape;343;p46"/>
          <p:cNvSpPr txBox="1">
            <a:spLocks noGrp="1"/>
          </p:cNvSpPr>
          <p:nvPr>
            <p:ph type="body" idx="1"/>
          </p:nvPr>
        </p:nvSpPr>
        <p:spPr>
          <a:xfrm>
            <a:off x="597450" y="1483825"/>
            <a:ext cx="3753300" cy="32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Casos de utilização</a:t>
            </a:r>
            <a:endParaRPr sz="18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Arial"/>
              <a:buNone/>
            </a:pPr>
            <a:r>
              <a:rPr lang="en">
                <a:solidFill>
                  <a:schemeClr val="lt2"/>
                </a:solidFill>
              </a:rPr>
              <a:t>Engloba diálogos com o sistema que produzem um resultado com valor para algum ator em particular.</a:t>
            </a:r>
            <a:endParaRPr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Arial"/>
              <a:buNone/>
            </a:pPr>
            <a:r>
              <a:rPr lang="en" sz="1800"/>
              <a:t>Implica:</a:t>
            </a:r>
            <a:endParaRPr>
              <a:solidFill>
                <a:schemeClr val="lt2"/>
              </a:solidFill>
            </a:endParaRPr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None/>
            </a:pPr>
            <a:r>
              <a:rPr lang="en" sz="1600"/>
              <a:t>🡪 </a:t>
            </a:r>
            <a:r>
              <a:rPr lang="en" sz="1600" b="1"/>
              <a:t>Foco no utilizador</a:t>
            </a:r>
            <a:r>
              <a:rPr lang="en" sz="1600"/>
              <a:t> do sistema e nos episódios de uso</a:t>
            </a:r>
            <a:endParaRPr sz="1600"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None/>
            </a:pPr>
            <a:r>
              <a:rPr lang="en" sz="1600"/>
              <a:t>🡪 Foco na compreensão daquilo que os atores consideram um </a:t>
            </a:r>
            <a:r>
              <a:rPr lang="en" sz="1600" b="1"/>
              <a:t>resultado relevante </a:t>
            </a:r>
            <a:r>
              <a:rPr lang="en" sz="1600"/>
              <a:t>(</a:t>
            </a:r>
            <a:r>
              <a:rPr lang="en" sz="1600">
                <a:highlight>
                  <a:srgbClr val="008080"/>
                </a:highlight>
              </a:rPr>
              <a:t>motivações para usar um sistema</a:t>
            </a:r>
            <a:r>
              <a:rPr lang="en" sz="1600"/>
              <a:t> 🡪 problemas que querem resolver)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7"/>
          <p:cNvSpPr txBox="1">
            <a:spLocks noGrp="1"/>
          </p:cNvSpPr>
          <p:nvPr>
            <p:ph type="title"/>
          </p:nvPr>
        </p:nvSpPr>
        <p:spPr>
          <a:xfrm>
            <a:off x="597450" y="422250"/>
            <a:ext cx="41937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92307"/>
              <a:buFont typeface="Open Sans Light"/>
              <a:buNone/>
            </a:pPr>
            <a:r>
              <a:rPr lang="en">
                <a:latin typeface="Open Sans Light"/>
                <a:ea typeface="Open Sans Light"/>
                <a:cs typeface="Open Sans Light"/>
                <a:sym typeface="Open Sans Light"/>
              </a:rPr>
              <a:t>O CaU descreve </a:t>
            </a:r>
            <a:r>
              <a:rPr lang="en"/>
              <a:t>um diálogo entre o ator e o sistema</a:t>
            </a:r>
            <a:endParaRPr/>
          </a:p>
        </p:txBody>
      </p:sp>
      <p:sp>
        <p:nvSpPr>
          <p:cNvPr id="349" name="Google Shape;349;p47"/>
          <p:cNvSpPr txBox="1">
            <a:spLocks noGrp="1"/>
          </p:cNvSpPr>
          <p:nvPr>
            <p:ph type="body" idx="1"/>
          </p:nvPr>
        </p:nvSpPr>
        <p:spPr>
          <a:xfrm>
            <a:off x="597450" y="1483825"/>
            <a:ext cx="4448100" cy="3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25000"/>
              <a:buNone/>
            </a:pPr>
            <a:r>
              <a:rPr lang="en" b="1"/>
              <a:t>Narrativas </a:t>
            </a:r>
            <a:r>
              <a:rPr lang="en"/>
              <a:t>para contar como é que “alguém” usa um sistema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25000"/>
              <a:buNone/>
            </a:pPr>
            <a:r>
              <a:rPr lang="en" b="1"/>
              <a:t>CaU: Comprar produtos </a:t>
            </a:r>
            <a:r>
              <a:rPr lang="en"/>
              <a:t>(supermercado)</a:t>
            </a:r>
            <a:endParaRPr/>
          </a:p>
          <a:p>
            <a:pPr marL="342900" lvl="1" indent="-33432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28571"/>
              <a:buFont typeface="Noto Sans"/>
              <a:buAutoNum type="arabicPeriod"/>
            </a:pPr>
            <a:r>
              <a:rPr lang="en"/>
              <a:t>Um </a:t>
            </a:r>
            <a:r>
              <a:rPr lang="en" u="sng"/>
              <a:t>Cliente</a:t>
            </a:r>
            <a:r>
              <a:rPr lang="en"/>
              <a:t> chega a uma caixa com artigos para comprar. </a:t>
            </a:r>
            <a:endParaRPr/>
          </a:p>
          <a:p>
            <a:pPr marL="342900" lvl="1" indent="-33432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28571"/>
              <a:buFont typeface="Noto Sans"/>
              <a:buAutoNum type="arabicPeriod"/>
            </a:pPr>
            <a:r>
              <a:rPr lang="en"/>
              <a:t>O </a:t>
            </a:r>
            <a:r>
              <a:rPr lang="en" u="sng"/>
              <a:t>Operador </a:t>
            </a:r>
            <a:r>
              <a:rPr lang="en"/>
              <a:t>passa cada artigo no leitor de código de barras para registo. </a:t>
            </a:r>
            <a:endParaRPr/>
          </a:p>
          <a:p>
            <a:pPr marL="342900" lvl="1" indent="-33432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28571"/>
              <a:buFont typeface="Noto Sans"/>
              <a:buAutoNum type="arabicPeriod"/>
            </a:pPr>
            <a:r>
              <a:rPr lang="en"/>
              <a:t>O sistema apresenta o total provisório e a lista de artigos incluídos. </a:t>
            </a:r>
            <a:endParaRPr/>
          </a:p>
          <a:p>
            <a:pPr marL="342900" lvl="1" indent="-33432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28571"/>
              <a:buFont typeface="Noto Sans"/>
              <a:buAutoNum type="arabicPeriod"/>
            </a:pPr>
            <a:r>
              <a:rPr lang="en"/>
              <a:t>O Operador termina a venda e indica o tipo de pagamento. </a:t>
            </a:r>
            <a:endParaRPr/>
          </a:p>
          <a:p>
            <a:pPr marL="342900" lvl="1" indent="-33432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28571"/>
              <a:buFont typeface="Noto Sans"/>
              <a:buAutoNum type="arabicPeriod"/>
            </a:pPr>
            <a:r>
              <a:rPr lang="en"/>
              <a:t>O cliente introduz a informação de pagamento. </a:t>
            </a:r>
            <a:endParaRPr/>
          </a:p>
          <a:p>
            <a:pPr marL="342900" lvl="1" indent="-33432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28571"/>
              <a:buFont typeface="Noto Sans"/>
              <a:buAutoNum type="arabicPeriod"/>
            </a:pPr>
            <a:r>
              <a:rPr lang="en"/>
              <a:t>O sistema valida o pagamento, atualiza o stock e imprime o recibo. </a:t>
            </a:r>
            <a:endParaRPr/>
          </a:p>
          <a:p>
            <a:pPr marL="342900" lvl="1" indent="-33432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28571"/>
              <a:buFont typeface="Noto Sans"/>
              <a:buAutoNum type="arabicPeriod"/>
            </a:pPr>
            <a:r>
              <a:rPr lang="en"/>
              <a:t>O cliente leva o recibo e os artigos.</a:t>
            </a:r>
            <a:endParaRPr/>
          </a:p>
        </p:txBody>
      </p:sp>
      <p:sp>
        <p:nvSpPr>
          <p:cNvPr id="350" name="Google Shape;350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pic>
        <p:nvPicPr>
          <p:cNvPr id="351" name="Google Shape;351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5075" y="835325"/>
            <a:ext cx="3009000" cy="3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8"/>
          <p:cNvSpPr txBox="1">
            <a:spLocks noGrp="1"/>
          </p:cNvSpPr>
          <p:nvPr>
            <p:ph type="sldNum" idx="12"/>
          </p:nvPr>
        </p:nvSpPr>
        <p:spPr>
          <a:xfrm>
            <a:off x="323850" y="4710114"/>
            <a:ext cx="35166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pic>
        <p:nvPicPr>
          <p:cNvPr id="357" name="Google Shape;357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59" y="121851"/>
            <a:ext cx="6399611" cy="1445419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pic>
      <p:pic>
        <p:nvPicPr>
          <p:cNvPr id="358" name="Google Shape;358;p48"/>
          <p:cNvPicPr preferRelativeResize="0"/>
          <p:nvPr/>
        </p:nvPicPr>
        <p:blipFill rotWithShape="1">
          <a:blip r:embed="rId4">
            <a:alphaModFix/>
          </a:blip>
          <a:srcRect b="4141"/>
          <a:stretch/>
        </p:blipFill>
        <p:spPr>
          <a:xfrm>
            <a:off x="980444" y="1362421"/>
            <a:ext cx="6046829" cy="3313134"/>
          </a:xfrm>
          <a:prstGeom prst="rect">
            <a:avLst/>
          </a:prstGeom>
          <a:solidFill>
            <a:srgbClr val="CCECFF"/>
          </a:solidFill>
          <a:ln>
            <a:noFill/>
          </a:ln>
        </p:spPr>
      </p:pic>
      <p:sp>
        <p:nvSpPr>
          <p:cNvPr id="359" name="Google Shape;359;p48"/>
          <p:cNvSpPr txBox="1">
            <a:spLocks noGrp="1"/>
          </p:cNvSpPr>
          <p:nvPr>
            <p:ph type="ftr" idx="11"/>
          </p:nvPr>
        </p:nvSpPr>
        <p:spPr>
          <a:xfrm>
            <a:off x="323850" y="4710114"/>
            <a:ext cx="35166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I Oliveira</a:t>
            </a:r>
            <a:endParaRPr sz="18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0" name="Google Shape;360;p48">
            <a:hlinkClick r:id="rId5"/>
          </p:cNvPr>
          <p:cNvSpPr txBox="1"/>
          <p:nvPr/>
        </p:nvSpPr>
        <p:spPr>
          <a:xfrm>
            <a:off x="7082087" y="4675555"/>
            <a:ext cx="1590600" cy="369300"/>
          </a:xfrm>
          <a:prstGeom prst="rect">
            <a:avLst/>
          </a:prstGeom>
          <a:solidFill>
            <a:srgbClr val="FFC629"/>
          </a:solidFill>
          <a:ln w="9525" cap="flat" cmpd="sng">
            <a:solidFill>
              <a:srgbClr val="DCAC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🡪 Exemplo…</a:t>
            </a:r>
            <a:endParaRPr sz="18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9"/>
          <p:cNvSpPr txBox="1">
            <a:spLocks noGrp="1"/>
          </p:cNvSpPr>
          <p:nvPr>
            <p:ph type="title"/>
          </p:nvPr>
        </p:nvSpPr>
        <p:spPr>
          <a:xfrm>
            <a:off x="597450" y="422250"/>
            <a:ext cx="41937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Elementos de um caso de utilização</a:t>
            </a:r>
            <a:endParaRPr/>
          </a:p>
        </p:txBody>
      </p:sp>
      <p:sp>
        <p:nvSpPr>
          <p:cNvPr id="366" name="Google Shape;366;p49"/>
          <p:cNvSpPr txBox="1">
            <a:spLocks noGrp="1"/>
          </p:cNvSpPr>
          <p:nvPr>
            <p:ph type="body" idx="1"/>
          </p:nvPr>
        </p:nvSpPr>
        <p:spPr>
          <a:xfrm>
            <a:off x="597450" y="1483825"/>
            <a:ext cx="4089000" cy="32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Nome do caso de utilização - Título claro e descritivo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Ator(es) - Papéis que participam no cenário de interação com o sistema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Condições prévias - O que tem de ser verdade antes de o caso de utilização começar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Fluxo de eventos (caminho principal) - Descrição passo a passo das interações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Fluxos alternativos/excepções - Variações e tratamento de erros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Pós-condições - Estado final após a conclusão do caso de utilização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Pressupostos - Condições assumidas mas não garantidas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1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0"/>
          <p:cNvSpPr txBox="1">
            <a:spLocks noGrp="1"/>
          </p:cNvSpPr>
          <p:nvPr>
            <p:ph type="title"/>
          </p:nvPr>
        </p:nvSpPr>
        <p:spPr>
          <a:xfrm>
            <a:off x="597450" y="422250"/>
            <a:ext cx="41937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Exemplos de especificações</a:t>
            </a:r>
            <a:endParaRPr/>
          </a:p>
        </p:txBody>
      </p:sp>
      <p:sp>
        <p:nvSpPr>
          <p:cNvPr id="372" name="Google Shape;372;p50"/>
          <p:cNvSpPr txBox="1">
            <a:spLocks noGrp="1"/>
          </p:cNvSpPr>
          <p:nvPr>
            <p:ph type="body" idx="1"/>
          </p:nvPr>
        </p:nvSpPr>
        <p:spPr>
          <a:xfrm>
            <a:off x="597450" y="1483825"/>
            <a:ext cx="4089000" cy="32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SRS: Software Requirements Specification</a:t>
            </a:r>
            <a:endParaRPr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Exemplo 1: </a:t>
            </a:r>
            <a:r>
              <a:rPr lang="en" u="sng">
                <a:solidFill>
                  <a:schemeClr val="hlink"/>
                </a:solidFill>
                <a:hlinkClick r:id="rId3"/>
              </a:rPr>
              <a:t>Use cases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Exemplo 2: </a:t>
            </a:r>
            <a:r>
              <a:rPr lang="en" u="sng">
                <a:solidFill>
                  <a:schemeClr val="hlink"/>
                </a:solidFill>
                <a:hlinkClick r:id="rId4"/>
              </a:rPr>
              <a:t>SRS</a:t>
            </a:r>
            <a:r>
              <a:rPr lang="en"/>
              <a:t> (Wiegers)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Exemplo 3: SRS (clássico)</a:t>
            </a:r>
            <a:endParaRPr/>
          </a:p>
          <a:p>
            <a:pPr marL="457200" lvl="0" indent="0" algn="l" rtl="0">
              <a:spcBef>
                <a:spcPts val="300"/>
              </a:spcBef>
              <a:spcAft>
                <a:spcPts val="100"/>
              </a:spcAft>
              <a:buNone/>
            </a:pPr>
            <a:endParaRPr/>
          </a:p>
        </p:txBody>
      </p:sp>
      <p:pic>
        <p:nvPicPr>
          <p:cNvPr id="373" name="Google Shape;37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2024" y="0"/>
            <a:ext cx="2139525" cy="542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50"/>
          <p:cNvCxnSpPr/>
          <p:nvPr/>
        </p:nvCxnSpPr>
        <p:spPr>
          <a:xfrm rot="10800000" flipH="1">
            <a:off x="6718950" y="3449475"/>
            <a:ext cx="437700" cy="463500"/>
          </a:xfrm>
          <a:prstGeom prst="straightConnector1">
            <a:avLst/>
          </a:prstGeom>
          <a:noFill/>
          <a:ln w="28575" cap="flat" cmpd="sng">
            <a:solidFill>
              <a:srgbClr val="FFC62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5" name="Google Shape;375;p50"/>
          <p:cNvCxnSpPr/>
          <p:nvPr/>
        </p:nvCxnSpPr>
        <p:spPr>
          <a:xfrm rot="10800000" flipH="1">
            <a:off x="6665400" y="2985975"/>
            <a:ext cx="437700" cy="463500"/>
          </a:xfrm>
          <a:prstGeom prst="straightConnector1">
            <a:avLst/>
          </a:prstGeom>
          <a:noFill/>
          <a:ln w="28575" cap="flat" cmpd="sng">
            <a:solidFill>
              <a:srgbClr val="FFC629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"/>
              <a:t>Conclusões…</a:t>
            </a:r>
            <a:endParaRPr/>
          </a:p>
        </p:txBody>
      </p:sp>
      <p:sp>
        <p:nvSpPr>
          <p:cNvPr id="381" name="Google Shape;381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2"/>
          <p:cNvSpPr txBox="1">
            <a:spLocks noGrp="1"/>
          </p:cNvSpPr>
          <p:nvPr>
            <p:ph type="title"/>
          </p:nvPr>
        </p:nvSpPr>
        <p:spPr>
          <a:xfrm>
            <a:off x="597450" y="422250"/>
            <a:ext cx="41937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Boas práticas</a:t>
            </a:r>
            <a:endParaRPr/>
          </a:p>
        </p:txBody>
      </p:sp>
      <p:sp>
        <p:nvSpPr>
          <p:cNvPr id="387" name="Google Shape;387;p52"/>
          <p:cNvSpPr txBox="1">
            <a:spLocks noGrp="1"/>
          </p:cNvSpPr>
          <p:nvPr>
            <p:ph type="body" idx="1"/>
          </p:nvPr>
        </p:nvSpPr>
        <p:spPr>
          <a:xfrm>
            <a:off x="597450" y="1483825"/>
            <a:ext cx="4089000" cy="32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Envolver as partes interessadas desde o início e com frequência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Equilibrar o pormenor com a lucidez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Utilizar modelos e ferramentas coerentes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Validar e rever os requisitos de forma colaborativa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Tirar partido dos casos de utilização para uma comunicação mais clara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100"/>
              </a:spcAft>
              <a:buNone/>
            </a:pPr>
            <a:endParaRPr/>
          </a:p>
        </p:txBody>
      </p:sp>
      <p:pic>
        <p:nvPicPr>
          <p:cNvPr id="388" name="Google Shape;38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3375" y="542550"/>
            <a:ext cx="3447525" cy="450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/>
          <p:cNvSpPr txBox="1">
            <a:spLocks noGrp="1"/>
          </p:cNvSpPr>
          <p:nvPr>
            <p:ph type="title"/>
          </p:nvPr>
        </p:nvSpPr>
        <p:spPr>
          <a:xfrm>
            <a:off x="628650" y="76795"/>
            <a:ext cx="37911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"/>
              <a:t>Compromisso…</a:t>
            </a:r>
            <a:endParaRPr/>
          </a:p>
        </p:txBody>
      </p:sp>
      <p:sp>
        <p:nvSpPr>
          <p:cNvPr id="394" name="Google Shape;394;p53"/>
          <p:cNvSpPr txBox="1">
            <a:spLocks noGrp="1"/>
          </p:cNvSpPr>
          <p:nvPr>
            <p:ph type="body" idx="1"/>
          </p:nvPr>
        </p:nvSpPr>
        <p:spPr>
          <a:xfrm>
            <a:off x="629840" y="1019262"/>
            <a:ext cx="3791100" cy="24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"/>
              <a:t>Valor para o negócio…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"/>
              <a:t>Utilizadores…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"/>
              <a:t>Viabilidade…</a:t>
            </a:r>
            <a:endParaRPr/>
          </a:p>
        </p:txBody>
      </p:sp>
      <p:sp>
        <p:nvSpPr>
          <p:cNvPr id="395" name="Google Shape;395;p53"/>
          <p:cNvSpPr txBox="1">
            <a:spLocks noGrp="1"/>
          </p:cNvSpPr>
          <p:nvPr>
            <p:ph type="sldNum" idx="12"/>
          </p:nvPr>
        </p:nvSpPr>
        <p:spPr>
          <a:xfrm>
            <a:off x="6457950" y="3575447"/>
            <a:ext cx="20574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pic>
        <p:nvPicPr>
          <p:cNvPr id="396" name="Google Shape;396;p53" descr="UX is importan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6864" y="1170264"/>
            <a:ext cx="3882852" cy="3539058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53"/>
          <p:cNvSpPr/>
          <p:nvPr/>
        </p:nvSpPr>
        <p:spPr>
          <a:xfrm>
            <a:off x="3942160" y="4751582"/>
            <a:ext cx="45720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https://www.designershumor.com/2019/05/21/ux-is-important/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54" descr="A picture containing computer  Description automatically generated"/>
          <p:cNvPicPr preferRelativeResize="0"/>
          <p:nvPr/>
        </p:nvPicPr>
        <p:blipFill rotWithShape="1">
          <a:blip r:embed="rId3">
            <a:alphaModFix/>
          </a:blip>
          <a:srcRect t="7405" b="16410"/>
          <a:stretch/>
        </p:blipFill>
        <p:spPr>
          <a:xfrm>
            <a:off x="0" y="0"/>
            <a:ext cx="9144000" cy="293885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4"/>
          <p:cNvSpPr txBox="1">
            <a:spLocks noGrp="1"/>
          </p:cNvSpPr>
          <p:nvPr>
            <p:ph type="title"/>
          </p:nvPr>
        </p:nvSpPr>
        <p:spPr>
          <a:xfrm>
            <a:off x="1785256" y="205383"/>
            <a:ext cx="67302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endParaRPr/>
          </a:p>
        </p:txBody>
      </p:sp>
      <p:pic>
        <p:nvPicPr>
          <p:cNvPr id="404" name="Google Shape;404;p5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3098215"/>
            <a:ext cx="8436600" cy="14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4"/>
          <p:cNvSpPr txBox="1">
            <a:spLocks noGrp="1"/>
          </p:cNvSpPr>
          <p:nvPr>
            <p:ph type="sldNum" idx="12"/>
          </p:nvPr>
        </p:nvSpPr>
        <p:spPr>
          <a:xfrm>
            <a:off x="6457950" y="3575447"/>
            <a:ext cx="20574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sp>
        <p:nvSpPr>
          <p:cNvPr id="406" name="Google Shape;406;p54"/>
          <p:cNvSpPr/>
          <p:nvPr/>
        </p:nvSpPr>
        <p:spPr>
          <a:xfrm>
            <a:off x="6550702" y="122919"/>
            <a:ext cx="25932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In: https://www.topresume.com/</a:t>
            </a:r>
            <a:endParaRPr/>
          </a:p>
        </p:txBody>
      </p:sp>
      <p:sp>
        <p:nvSpPr>
          <p:cNvPr id="407" name="Google Shape;407;p54"/>
          <p:cNvSpPr/>
          <p:nvPr/>
        </p:nvSpPr>
        <p:spPr>
          <a:xfrm>
            <a:off x="4819339" y="4559514"/>
            <a:ext cx="4245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In: Wiegers, “Software Requirements”</a:t>
            </a:r>
            <a:endParaRPr/>
          </a:p>
        </p:txBody>
      </p:sp>
      <p:pic>
        <p:nvPicPr>
          <p:cNvPr id="408" name="Google Shape;408;p54" descr="Icon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601" y="2314018"/>
            <a:ext cx="748865" cy="83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5"/>
          <p:cNvSpPr txBox="1">
            <a:spLocks noGrp="1"/>
          </p:cNvSpPr>
          <p:nvPr>
            <p:ph type="title"/>
          </p:nvPr>
        </p:nvSpPr>
        <p:spPr>
          <a:xfrm>
            <a:off x="1785256" y="273844"/>
            <a:ext cx="6730200" cy="570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55"/>
          <p:cNvSpPr txBox="1">
            <a:spLocks noGrp="1"/>
          </p:cNvSpPr>
          <p:nvPr>
            <p:ph type="body" idx="1"/>
          </p:nvPr>
        </p:nvSpPr>
        <p:spPr>
          <a:xfrm>
            <a:off x="1785254" y="1028701"/>
            <a:ext cx="6730200" cy="36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6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1789</Words>
  <Application>Microsoft Office PowerPoint</Application>
  <PresentationFormat>On-screen Show (16:9)</PresentationFormat>
  <Paragraphs>238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Open Sans Light</vt:lpstr>
      <vt:lpstr>Noto Sans Light</vt:lpstr>
      <vt:lpstr>Raleway</vt:lpstr>
      <vt:lpstr>Noto Sans</vt:lpstr>
      <vt:lpstr>Nunito</vt:lpstr>
      <vt:lpstr>Arial</vt:lpstr>
      <vt:lpstr>Barlow Light</vt:lpstr>
      <vt:lpstr>Open Sans</vt:lpstr>
      <vt:lpstr>Barlow Medium</vt:lpstr>
      <vt:lpstr>Barlow</vt:lpstr>
      <vt:lpstr>Simple Dark</vt:lpstr>
      <vt:lpstr>TP 02 Determinação de requisitos (parte 1) </vt:lpstr>
      <vt:lpstr>Objetivos de aprendizagem</vt:lpstr>
      <vt:lpstr>Stakeholder conflicts…</vt:lpstr>
      <vt:lpstr>Atividades e resultados no ciclo de vida do software</vt:lpstr>
      <vt:lpstr>Importância da definição de requisitos</vt:lpstr>
      <vt:lpstr>O custo do “erro”</vt:lpstr>
      <vt:lpstr>Tipos de requisitos</vt:lpstr>
      <vt:lpstr>Tipos de requisitos</vt:lpstr>
      <vt:lpstr>Os atributos de qualidade são necessários na definição do produto</vt:lpstr>
      <vt:lpstr>Exemplo parcial</vt:lpstr>
      <vt:lpstr>O que pode estar envolvido no "desempenho" (atributo de qualidade)?</vt:lpstr>
      <vt:lpstr>FURPS: categorias "clássicas“ para os requisitos</vt:lpstr>
      <vt:lpstr>PowerPoint Presentation</vt:lpstr>
      <vt:lpstr>PowerPoint Presentation</vt:lpstr>
      <vt:lpstr>Eng.a de requisitos como um processo</vt:lpstr>
      <vt:lpstr>Quais são as actividades de levantamento dos requisitos?</vt:lpstr>
      <vt:lpstr>Ténicas comuns de levantamento de requisitos </vt:lpstr>
      <vt:lpstr>OpenUP as práticas de requisitos</vt:lpstr>
      <vt:lpstr>PowerPoint Presentation</vt:lpstr>
      <vt:lpstr>Análise de requisitos</vt:lpstr>
      <vt:lpstr>Seleção dos requisitos</vt:lpstr>
      <vt:lpstr>PowerPoint Presentation</vt:lpstr>
      <vt:lpstr>Especificação de requisitos </vt:lpstr>
      <vt:lpstr>Requisitos elencados como listas de funções “o sistema deve…”</vt:lpstr>
      <vt:lpstr>PowerPoint Presentation</vt:lpstr>
      <vt:lpstr>S. M. A. R. T.  🡪 Specific, Measurable, Attainable, Relevant and time-sensitive (Específico, Mensurável, Atingível, Relevante e Balizado no tempo)</vt:lpstr>
      <vt:lpstr>O que são requisitos bem formulados? (ISO-IEEE 29148)</vt:lpstr>
      <vt:lpstr>OpenUP: como identificar e descrever os requisitos, para que o âmbito fique determinado</vt:lpstr>
      <vt:lpstr>Prática recomendada no OpenUP</vt:lpstr>
      <vt:lpstr>O CaU descreve um diálogo entre o ator e o sistema</vt:lpstr>
      <vt:lpstr>PowerPoint Presentation</vt:lpstr>
      <vt:lpstr>Elementos de um caso de utilização</vt:lpstr>
      <vt:lpstr>Exemplos de especificações</vt:lpstr>
      <vt:lpstr>Conclusões…</vt:lpstr>
      <vt:lpstr>Boas práticas</vt:lpstr>
      <vt:lpstr>Compromisso…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Ilídio Oliveira</cp:lastModifiedBy>
  <cp:revision>1</cp:revision>
  <dcterms:modified xsi:type="dcterms:W3CDTF">2025-10-08T09:47:52Z</dcterms:modified>
</cp:coreProperties>
</file>