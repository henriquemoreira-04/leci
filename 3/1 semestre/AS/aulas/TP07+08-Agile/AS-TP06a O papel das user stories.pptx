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9144000" cy="6858000" type="screen4x3"/>
  <p:notesSz cx="7102475" cy="10233025"/>
  <p:embeddedFontLst>
    <p:embeddedFont>
      <p:font typeface="Barlow" panose="00000500000000000000" pitchFamily="2" charset="0"/>
      <p:regular r:id="rId34"/>
      <p:bold r:id="rId35"/>
      <p:italic r:id="rId36"/>
      <p:boldItalic r:id="rId37"/>
    </p:embeddedFont>
    <p:embeddedFont>
      <p:font typeface="Barlow Condensed SemiBold" panose="00000706000000000000" pitchFamily="2" charset="0"/>
      <p:regular r:id="rId38"/>
      <p:bold r:id="rId39"/>
      <p:italic r:id="rId40"/>
      <p:boldItalic r:id="rId41"/>
    </p:embeddedFont>
    <p:embeddedFont>
      <p:font typeface="Barlow Light" panose="00000400000000000000" pitchFamily="2" charset="0"/>
      <p:regular r:id="rId42"/>
      <p:bold r:id="rId43"/>
      <p:italic r:id="rId44"/>
      <p:boldItalic r:id="rId45"/>
    </p:embeddedFont>
    <p:embeddedFont>
      <p:font typeface="Barlow Medium" panose="00000600000000000000" pitchFamily="2" charset="0"/>
      <p:regular r:id="rId46"/>
      <p:bold r:id="rId47"/>
      <p:italic r:id="rId48"/>
      <p:boldItalic r:id="rId49"/>
    </p:embeddedFont>
    <p:embeddedFont>
      <p:font typeface="Barlow Semi Condensed SemiBold" panose="00000706000000000000" pitchFamily="2" charset="0"/>
      <p:regular r:id="rId50"/>
      <p:bold r:id="rId51"/>
      <p:italic r:id="rId52"/>
      <p:boldItalic r:id="rId53"/>
    </p:embeddedFont>
    <p:embeddedFont>
      <p:font typeface="Nunito" pitchFamily="2" charset="0"/>
      <p:regular r:id="rId54"/>
      <p:bold r:id="rId55"/>
      <p:italic r:id="rId56"/>
      <p:boldItalic r:id="rId57"/>
    </p:embeddedFont>
    <p:embeddedFont>
      <p:font typeface="Open Sans Light" panose="020B0306030504020204" pitchFamily="34" charset="0"/>
      <p:regular r:id="rId58"/>
      <p:bold r:id="rId59"/>
      <p:italic r:id="rId60"/>
      <p:bold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51B731-7ACC-4E3E-82D7-D81885F170B8}" v="1" dt="2025-11-05T00:19:54.908"/>
  </p1510:revLst>
</p1510:revInfo>
</file>

<file path=ppt/tableStyles.xml><?xml version="1.0" encoding="utf-8"?>
<a:tblStyleLst xmlns:a="http://schemas.openxmlformats.org/drawingml/2006/main" def="{4D4762EE-B875-4459-BA23-935C7507887D}">
  <a:tblStyle styleId="{4D4762EE-B875-4459-BA23-935C7507887D}" styleName="Table_0">
    <a:wholeTbl>
      <a:tcTxStyle b="off" i="off">
        <a:font>
          <a:latin typeface="Barlow"/>
          <a:ea typeface="Barlow"/>
          <a:cs typeface="Barlow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2ED"/>
          </a:solidFill>
        </a:fill>
      </a:tcStyle>
    </a:wholeTbl>
    <a:band1H>
      <a:tcTxStyle/>
      <a:tcStyle>
        <a:tcBdr/>
        <a:fill>
          <a:solidFill>
            <a:srgbClr val="CBE3D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E3D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80B7F6C-FA9A-40F1-B612-48E33EFDEC9C}" styleName="Table_1">
    <a:wholeTbl>
      <a:tcTxStyle b="off" i="off">
        <a:font>
          <a:latin typeface="Barlow"/>
          <a:ea typeface="Barlow"/>
          <a:cs typeface="Barlow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schemas.openxmlformats.org/officeDocument/2006/relationships/font" Target="fonts/font22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font" Target="fonts/font20.fntdata"/><Relationship Id="rId58" Type="http://schemas.openxmlformats.org/officeDocument/2006/relationships/font" Target="fonts/font25.fntdata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font" Target="fonts/font28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font" Target="fonts/font23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59" Type="http://schemas.openxmlformats.org/officeDocument/2006/relationships/font" Target="fonts/font26.fntdata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54" Type="http://schemas.openxmlformats.org/officeDocument/2006/relationships/font" Target="fonts/font21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57" Type="http://schemas.openxmlformats.org/officeDocument/2006/relationships/font" Target="fonts/font2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Relationship Id="rId60" Type="http://schemas.openxmlformats.org/officeDocument/2006/relationships/font" Target="fonts/font27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lídio Oliveira" userId="2e6e6f6d-fff9-46ef-9091-884c6980c73a" providerId="ADAL" clId="{FBA8DEFD-EBC3-490D-8111-605AF93F32A3}"/>
    <pc:docChg chg="custSel delSld modSld">
      <pc:chgData name="Ilídio Oliveira" userId="2e6e6f6d-fff9-46ef-9091-884c6980c73a" providerId="ADAL" clId="{FBA8DEFD-EBC3-490D-8111-605AF93F32A3}" dt="2025-11-05T00:20:11.939" v="20" actId="47"/>
      <pc:docMkLst>
        <pc:docMk/>
      </pc:docMkLst>
      <pc:sldChg chg="modSp mod">
        <pc:chgData name="Ilídio Oliveira" userId="2e6e6f6d-fff9-46ef-9091-884c6980c73a" providerId="ADAL" clId="{FBA8DEFD-EBC3-490D-8111-605AF93F32A3}" dt="2025-11-05T00:19:58.004" v="16" actId="27636"/>
        <pc:sldMkLst>
          <pc:docMk/>
          <pc:sldMk cId="0" sldId="257"/>
        </pc:sldMkLst>
        <pc:spChg chg="mod">
          <ac:chgData name="Ilídio Oliveira" userId="2e6e6f6d-fff9-46ef-9091-884c6980c73a" providerId="ADAL" clId="{FBA8DEFD-EBC3-490D-8111-605AF93F32A3}" dt="2025-11-05T00:19:58.004" v="16" actId="27636"/>
          <ac:spMkLst>
            <pc:docMk/>
            <pc:sldMk cId="0" sldId="257"/>
            <ac:spMk id="113" creationId="{00000000-0000-0000-0000-000000000000}"/>
          </ac:spMkLst>
        </pc:spChg>
      </pc:sldChg>
      <pc:sldChg chg="modSp mod">
        <pc:chgData name="Ilídio Oliveira" userId="2e6e6f6d-fff9-46ef-9091-884c6980c73a" providerId="ADAL" clId="{FBA8DEFD-EBC3-490D-8111-605AF93F32A3}" dt="2025-11-05T00:17:56.950" v="6" actId="5793"/>
        <pc:sldMkLst>
          <pc:docMk/>
          <pc:sldMk cId="0" sldId="260"/>
        </pc:sldMkLst>
        <pc:spChg chg="mod">
          <ac:chgData name="Ilídio Oliveira" userId="2e6e6f6d-fff9-46ef-9091-884c6980c73a" providerId="ADAL" clId="{FBA8DEFD-EBC3-490D-8111-605AF93F32A3}" dt="2025-11-05T00:17:56.950" v="6" actId="5793"/>
          <ac:spMkLst>
            <pc:docMk/>
            <pc:sldMk cId="0" sldId="260"/>
            <ac:spMk id="142" creationId="{00000000-0000-0000-0000-000000000000}"/>
          </ac:spMkLst>
        </pc:spChg>
      </pc:sldChg>
      <pc:sldChg chg="modSp mod">
        <pc:chgData name="Ilídio Oliveira" userId="2e6e6f6d-fff9-46ef-9091-884c6980c73a" providerId="ADAL" clId="{FBA8DEFD-EBC3-490D-8111-605AF93F32A3}" dt="2025-11-05T00:19:58.159" v="17" actId="27636"/>
        <pc:sldMkLst>
          <pc:docMk/>
          <pc:sldMk cId="0" sldId="264"/>
        </pc:sldMkLst>
        <pc:spChg chg="mod">
          <ac:chgData name="Ilídio Oliveira" userId="2e6e6f6d-fff9-46ef-9091-884c6980c73a" providerId="ADAL" clId="{FBA8DEFD-EBC3-490D-8111-605AF93F32A3}" dt="2025-11-05T00:19:58.159" v="17" actId="27636"/>
          <ac:spMkLst>
            <pc:docMk/>
            <pc:sldMk cId="0" sldId="264"/>
            <ac:spMk id="192" creationId="{00000000-0000-0000-0000-000000000000}"/>
          </ac:spMkLst>
        </pc:spChg>
      </pc:sldChg>
      <pc:sldChg chg="modSp mod">
        <pc:chgData name="Ilídio Oliveira" userId="2e6e6f6d-fff9-46ef-9091-884c6980c73a" providerId="ADAL" clId="{FBA8DEFD-EBC3-490D-8111-605AF93F32A3}" dt="2025-11-05T00:18:44.200" v="10" actId="5793"/>
        <pc:sldMkLst>
          <pc:docMk/>
          <pc:sldMk cId="0" sldId="266"/>
        </pc:sldMkLst>
        <pc:spChg chg="mod">
          <ac:chgData name="Ilídio Oliveira" userId="2e6e6f6d-fff9-46ef-9091-884c6980c73a" providerId="ADAL" clId="{FBA8DEFD-EBC3-490D-8111-605AF93F32A3}" dt="2025-11-05T00:18:44.200" v="10" actId="5793"/>
          <ac:spMkLst>
            <pc:docMk/>
            <pc:sldMk cId="0" sldId="266"/>
            <ac:spMk id="212" creationId="{00000000-0000-0000-0000-000000000000}"/>
          </ac:spMkLst>
        </pc:spChg>
      </pc:sldChg>
      <pc:sldChg chg="modSp mod">
        <pc:chgData name="Ilídio Oliveira" userId="2e6e6f6d-fff9-46ef-9091-884c6980c73a" providerId="ADAL" clId="{FBA8DEFD-EBC3-490D-8111-605AF93F32A3}" dt="2025-11-05T00:19:58.265" v="19" actId="27636"/>
        <pc:sldMkLst>
          <pc:docMk/>
          <pc:sldMk cId="0" sldId="268"/>
        </pc:sldMkLst>
        <pc:spChg chg="mod">
          <ac:chgData name="Ilídio Oliveira" userId="2e6e6f6d-fff9-46ef-9091-884c6980c73a" providerId="ADAL" clId="{FBA8DEFD-EBC3-490D-8111-605AF93F32A3}" dt="2025-11-05T00:19:58.265" v="19" actId="27636"/>
          <ac:spMkLst>
            <pc:docMk/>
            <pc:sldMk cId="0" sldId="268"/>
            <ac:spMk id="232" creationId="{00000000-0000-0000-0000-000000000000}"/>
          </ac:spMkLst>
        </pc:spChg>
        <pc:spChg chg="mod">
          <ac:chgData name="Ilídio Oliveira" userId="2e6e6f6d-fff9-46ef-9091-884c6980c73a" providerId="ADAL" clId="{FBA8DEFD-EBC3-490D-8111-605AF93F32A3}" dt="2025-11-05T00:19:58.239" v="18" actId="27636"/>
          <ac:spMkLst>
            <pc:docMk/>
            <pc:sldMk cId="0" sldId="268"/>
            <ac:spMk id="233" creationId="{00000000-0000-0000-0000-000000000000}"/>
          </ac:spMkLst>
        </pc:spChg>
      </pc:sldChg>
      <pc:sldChg chg="del">
        <pc:chgData name="Ilídio Oliveira" userId="2e6e6f6d-fff9-46ef-9091-884c6980c73a" providerId="ADAL" clId="{FBA8DEFD-EBC3-490D-8111-605AF93F32A3}" dt="2025-11-05T00:19:29.913" v="11" actId="47"/>
        <pc:sldMkLst>
          <pc:docMk/>
          <pc:sldMk cId="0" sldId="269"/>
        </pc:sldMkLst>
      </pc:sldChg>
      <pc:sldChg chg="del">
        <pc:chgData name="Ilídio Oliveira" userId="2e6e6f6d-fff9-46ef-9091-884c6980c73a" providerId="ADAL" clId="{FBA8DEFD-EBC3-490D-8111-605AF93F32A3}" dt="2025-11-05T00:20:11.939" v="20" actId="47"/>
        <pc:sldMkLst>
          <pc:docMk/>
          <pc:sldMk cId="0" sldId="272"/>
        </pc:sldMkLst>
      </pc:sldChg>
      <pc:sldChg chg="modSp mod">
        <pc:chgData name="Ilídio Oliveira" userId="2e6e6f6d-fff9-46ef-9091-884c6980c73a" providerId="ADAL" clId="{FBA8DEFD-EBC3-490D-8111-605AF93F32A3}" dt="2025-11-05T00:19:57.829" v="13" actId="27636"/>
        <pc:sldMkLst>
          <pc:docMk/>
          <pc:sldMk cId="0" sldId="275"/>
        </pc:sldMkLst>
        <pc:spChg chg="mod">
          <ac:chgData name="Ilídio Oliveira" userId="2e6e6f6d-fff9-46ef-9091-884c6980c73a" providerId="ADAL" clId="{FBA8DEFD-EBC3-490D-8111-605AF93F32A3}" dt="2025-11-05T00:19:57.825" v="12" actId="27636"/>
          <ac:spMkLst>
            <pc:docMk/>
            <pc:sldMk cId="0" sldId="275"/>
            <ac:spMk id="293" creationId="{00000000-0000-0000-0000-000000000000}"/>
          </ac:spMkLst>
        </pc:spChg>
        <pc:spChg chg="mod">
          <ac:chgData name="Ilídio Oliveira" userId="2e6e6f6d-fff9-46ef-9091-884c6980c73a" providerId="ADAL" clId="{FBA8DEFD-EBC3-490D-8111-605AF93F32A3}" dt="2025-11-05T00:19:57.829" v="13" actId="27636"/>
          <ac:spMkLst>
            <pc:docMk/>
            <pc:sldMk cId="0" sldId="275"/>
            <ac:spMk id="294" creationId="{00000000-0000-0000-0000-000000000000}"/>
          </ac:spMkLst>
        </pc:spChg>
      </pc:sldChg>
      <pc:sldChg chg="modSp mod">
        <pc:chgData name="Ilídio Oliveira" userId="2e6e6f6d-fff9-46ef-9091-884c6980c73a" providerId="ADAL" clId="{FBA8DEFD-EBC3-490D-8111-605AF93F32A3}" dt="2025-11-05T00:19:57.878" v="15" actId="27636"/>
        <pc:sldMkLst>
          <pc:docMk/>
          <pc:sldMk cId="0" sldId="287"/>
        </pc:sldMkLst>
        <pc:spChg chg="mod">
          <ac:chgData name="Ilídio Oliveira" userId="2e6e6f6d-fff9-46ef-9091-884c6980c73a" providerId="ADAL" clId="{FBA8DEFD-EBC3-490D-8111-605AF93F32A3}" dt="2025-11-05T00:19:57.878" v="15" actId="27636"/>
          <ac:spMkLst>
            <pc:docMk/>
            <pc:sldMk cId="0" sldId="287"/>
            <ac:spMk id="413" creationId="{00000000-0000-0000-0000-000000000000}"/>
          </ac:spMkLst>
        </pc:spChg>
        <pc:spChg chg="mod">
          <ac:chgData name="Ilídio Oliveira" userId="2e6e6f6d-fff9-46ef-9091-884c6980c73a" providerId="ADAL" clId="{FBA8DEFD-EBC3-490D-8111-605AF93F32A3}" dt="2025-11-05T00:19:57.859" v="14" actId="27636"/>
          <ac:spMkLst>
            <pc:docMk/>
            <pc:sldMk cId="0" sldId="287"/>
            <ac:spMk id="4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97" name="Google Shape;97;p1:notes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2025-03-25</a:t>
            </a:r>
            <a:endParaRPr/>
          </a:p>
        </p:txBody>
      </p:sp>
      <p:sp>
        <p:nvSpPr>
          <p:cNvPr id="98" name="Google Shape;98;p1:notes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99" name="Google Shape;99;p1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109" name="Google Shape;109;p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110" name="Google Shape;110;p2:notes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2025-03-25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175" name="Google Shape;175;p8:notes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2025-03-25</a:t>
            </a:r>
            <a:endParaRPr/>
          </a:p>
        </p:txBody>
      </p:sp>
      <p:sp>
        <p:nvSpPr>
          <p:cNvPr id="176" name="Google Shape;176;p8:notes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177" name="Google Shape;177;p8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1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2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3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4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7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8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29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371" name="Google Shape;371;p29:notes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2025-03-25</a:t>
            </a:r>
            <a:endParaRPr/>
          </a:p>
        </p:txBody>
      </p:sp>
      <p:sp>
        <p:nvSpPr>
          <p:cNvPr id="372" name="Google Shape;372;p29:notes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373" name="Google Shape;373;p29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30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Both </a:t>
            </a:r>
            <a:r>
              <a:rPr lang="en-US">
                <a:solidFill>
                  <a:srgbClr val="B3C6E7"/>
                </a:solidFill>
              </a:rPr>
              <a:t>use cases and user stories shift from the product-centric perspective of requirements elicitation to discussing what </a:t>
            </a:r>
            <a:r>
              <a:rPr lang="en-US" i="1">
                <a:solidFill>
                  <a:srgbClr val="B3C6E7"/>
                </a:solidFill>
              </a:rPr>
              <a:t>users </a:t>
            </a:r>
            <a:r>
              <a:rPr lang="en-US">
                <a:solidFill>
                  <a:srgbClr val="B3C6E7"/>
                </a:solidFill>
              </a:rPr>
              <a:t>need to accomplish</a:t>
            </a:r>
            <a:r>
              <a:rPr lang="en-US"/>
              <a:t>, in contrast to asking users what they want the </a:t>
            </a:r>
            <a:r>
              <a:rPr lang="en-US" i="1"/>
              <a:t>system </a:t>
            </a:r>
            <a:r>
              <a:rPr lang="en-US"/>
              <a:t>to do.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intent of this approach is to describe tasks that users will need to perform with the system, or user-system interactions that will result in a valuable outcome for some stakeholder.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cases and user stories work well for exploring the requirements for business applications, websites, kiosks, and systems that let a user control a piece of hardware.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800080"/>
                </a:highlight>
              </a:rPr>
              <a:t>However</a:t>
            </a:r>
            <a:r>
              <a:rPr lang="en-US"/>
              <a:t>: they are inadequate for understanding the requirements of certain types of applications. Applications such as</a:t>
            </a:r>
            <a:br>
              <a:rPr lang="en-US"/>
            </a:br>
            <a:r>
              <a:rPr lang="en-US"/>
              <a:t>batch processes, computationally intensive systems, business analytics, and data warehousing might have just a few use cases. The complexity of these applications lies in the computations performed, the data found and compiled, or the reports generated, not in the user-system interactions.</a:t>
            </a:r>
            <a:br>
              <a:rPr lang="en-US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Nor are use cases and user stories sufficient for specifying many embedded and other real-time systems. </a:t>
            </a:r>
            <a:br>
              <a:rPr lang="en-US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387" name="Google Shape;387;p30:notes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2025-03-25</a:t>
            </a:r>
            <a:endParaRPr/>
          </a:p>
        </p:txBody>
      </p:sp>
      <p:sp>
        <p:nvSpPr>
          <p:cNvPr id="388" name="Google Shape;388;p30:notes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389" name="Google Shape;389;p30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p31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3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399" name="Google Shape;399;p31:notes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2025-03-25</a:t>
            </a:r>
            <a:endParaRPr/>
          </a:p>
        </p:txBody>
      </p:sp>
      <p:sp>
        <p:nvSpPr>
          <p:cNvPr id="400" name="Google Shape;400;p31:notes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401" name="Google Shape;401;p31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2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3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751562" y="2642285"/>
            <a:ext cx="7763788" cy="1330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4000"/>
              <a:buFont typeface="Barlow Semi Condensed SemiBold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751562" y="4194805"/>
            <a:ext cx="6676372" cy="143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2" descr="deti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18129" y="5245866"/>
            <a:ext cx="2997221" cy="74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28650" y="1489165"/>
            <a:ext cx="7886700" cy="468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800"/>
              <a:buNone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600"/>
              <a:buFont typeface="Barlow Semi Condensed SemiBold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628650" y="651053"/>
            <a:ext cx="3886200" cy="55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2"/>
          </p:nvPr>
        </p:nvSpPr>
        <p:spPr>
          <a:xfrm>
            <a:off x="4629150" y="651053"/>
            <a:ext cx="3886200" cy="55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646511" y="1434112"/>
            <a:ext cx="3868340" cy="662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sz="2400" b="1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629842" y="2268747"/>
            <a:ext cx="3868340" cy="3920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3"/>
          </p:nvPr>
        </p:nvSpPr>
        <p:spPr>
          <a:xfrm>
            <a:off x="4629150" y="1434112"/>
            <a:ext cx="3887391" cy="662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sz="2400" b="1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4"/>
          </p:nvPr>
        </p:nvSpPr>
        <p:spPr>
          <a:xfrm>
            <a:off x="4629150" y="2268747"/>
            <a:ext cx="3887391" cy="3920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ubTitle" idx="1"/>
          </p:nvPr>
        </p:nvSpPr>
        <p:spPr>
          <a:xfrm>
            <a:off x="628650" y="1038759"/>
            <a:ext cx="6676372" cy="58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body" idx="1"/>
          </p:nvPr>
        </p:nvSpPr>
        <p:spPr>
          <a:xfrm rot="5400000">
            <a:off x="2090680" y="-247707"/>
            <a:ext cx="496264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C4C4C"/>
            </a:gs>
            <a:gs pos="50000">
              <a:srgbClr val="292929"/>
            </a:gs>
            <a:gs pos="100000">
              <a:schemeClr val="dk1"/>
            </a:gs>
          </a:gsLst>
          <a:lin ang="54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  <a:defRPr sz="3200" b="0" i="0" u="none" strike="noStrike" cap="none">
                <a:solidFill>
                  <a:srgbClr val="6EDEBF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214323"/>
            <a:ext cx="7886700" cy="496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F2F2F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D8D8D8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sweet.ua.pt/ico/OpenUp/OpenUP_v1514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hyperlink" Target="https://youtu.be/p5gDbf0je8k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exandercowan.com/best-agile-user-story/#Example_A_Example_User_Stories_from_Enable_Quiz_Startup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alexandercowan.com/best-agile-user-story/#Example_A_Example_User_Stories_from_Enable_Quiz_Startup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youtu.be/MwimXkY5G5o?t=1695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2890778" TargetMode="External"/><Relationship Id="rId7" Type="http://schemas.openxmlformats.org/officeDocument/2006/relationships/hyperlink" Target="https://docs.easyagile.com/easy-agile-user-story-maps/training-materials-for-teams-user-story-mapping/basics-of-user-story-mapping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visual-paradigm.com/learning/handbooks/agile-handbook/user-story.jsp" TargetMode="External"/><Relationship Id="rId5" Type="http://schemas.openxmlformats.org/officeDocument/2006/relationships/hyperlink" Target="https://www.ivarjacobson.com/publications/white-papers/use-case-ebook" TargetMode="External"/><Relationship Id="rId4" Type="http://schemas.openxmlformats.org/officeDocument/2006/relationships/hyperlink" Target="https://www.visual-paradigm.com/guide/agile-software-development/user-story-vs-use-cas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ctrTitle"/>
          </p:nvPr>
        </p:nvSpPr>
        <p:spPr>
          <a:xfrm>
            <a:off x="751562" y="2642285"/>
            <a:ext cx="7763788" cy="1330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4000"/>
              <a:buFont typeface="Barlow Semi Condensed SemiBold"/>
              <a:buNone/>
            </a:pPr>
            <a:r>
              <a:rPr lang="en-US"/>
              <a:t>Metodologias ágeis e </a:t>
            </a:r>
            <a:r>
              <a:rPr lang="en-US" i="1"/>
              <a:t>user stories</a:t>
            </a:r>
            <a:endParaRPr i="1"/>
          </a:p>
        </p:txBody>
      </p:sp>
      <p:sp>
        <p:nvSpPr>
          <p:cNvPr id="102" name="Google Shape;102;p15"/>
          <p:cNvSpPr txBox="1">
            <a:spLocks noGrp="1"/>
          </p:cNvSpPr>
          <p:nvPr>
            <p:ph type="subTitle" idx="1"/>
          </p:nvPr>
        </p:nvSpPr>
        <p:spPr>
          <a:xfrm>
            <a:off x="751562" y="4194805"/>
            <a:ext cx="6676372" cy="143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Ilídio Oliveira 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>
                <a:latin typeface="Barlow Light"/>
                <a:ea typeface="Barlow Light"/>
                <a:cs typeface="Barlow Light"/>
                <a:sym typeface="Barlow Light"/>
              </a:rPr>
              <a:t>v2025/03/25 </a:t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751562" y="1659178"/>
            <a:ext cx="31614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BFBFBF"/>
                </a:solidFill>
                <a:latin typeface="Barlow"/>
                <a:ea typeface="Barlow"/>
                <a:cs typeface="Barlow"/>
                <a:sym typeface="Barlow"/>
              </a:rPr>
              <a:t>41951- ANÁLISE DE SISTEMAS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Objetivos de aprendizagem</a:t>
            </a:r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body" idx="1"/>
          </p:nvPr>
        </p:nvSpPr>
        <p:spPr>
          <a:xfrm>
            <a:off x="628650" y="1489165"/>
            <a:ext cx="7886700" cy="468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Font typeface="Arial"/>
              <a:buChar char="•"/>
            </a:pPr>
            <a:r>
              <a:rPr lang="en-US"/>
              <a:t>Caracterizar os princípios da gestão do </a:t>
            </a:r>
            <a:r>
              <a:rPr lang="en-US" i="1"/>
              <a:t>backlog</a:t>
            </a:r>
            <a:r>
              <a:rPr lang="en-US"/>
              <a:t> na gestão ágil de projetos </a:t>
            </a:r>
            <a:br>
              <a:rPr lang="en-US"/>
            </a:br>
            <a:r>
              <a:rPr lang="en-US"/>
              <a:t>Definir e escrever histórias para um determinado produto.</a:t>
            </a:r>
            <a:br>
              <a:rPr lang="en-US"/>
            </a:br>
            <a:r>
              <a:rPr lang="en-US"/>
              <a:t>Distinguir estimativa e priorização na gestão de histórias.</a:t>
            </a:r>
            <a:br>
              <a:rPr lang="en-US"/>
            </a:br>
            <a:r>
              <a:rPr lang="en-US"/>
              <a:t>Escreva os critérios de aceitação de uma história.</a:t>
            </a:r>
            <a:br>
              <a:rPr lang="en-US"/>
            </a:br>
            <a:r>
              <a:rPr lang="en-US"/>
              <a:t>Comparar as histórias e os caos de uso no que diz respeito a semelhanças e diferenças.</a:t>
            </a:r>
            <a:br>
              <a:rPr lang="en-US"/>
            </a:br>
            <a:r>
              <a:rPr lang="en-US"/>
              <a:t>Descreva o fluxo de trabalho de desenvolvimento baseado em histórias.</a:t>
            </a:r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Algumas ideias do desenvolvimento ágil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body" idx="1"/>
          </p:nvPr>
        </p:nvSpPr>
        <p:spPr>
          <a:xfrm>
            <a:off x="628650" y="1489165"/>
            <a:ext cx="7886700" cy="468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03" y="1469914"/>
            <a:ext cx="6685201" cy="470704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6978780" y="1371601"/>
            <a:ext cx="2057400" cy="2959201"/>
          </a:xfrm>
          <a:prstGeom prst="wedgeRectCallout">
            <a:avLst>
              <a:gd name="adj1" fmla="val -67104"/>
              <a:gd name="adj2" fmla="val -39204"/>
            </a:avLst>
          </a:prstGeom>
          <a:solidFill>
            <a:schemeClr val="accent1"/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 dinamismo do mercado obriga a igual dinamismo das TIC/desenvolvimento.</a:t>
            </a:r>
            <a:br>
              <a:rPr lang="en-US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en-US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Especialmente quando os produtos do desenvolvimento passam a assumir um papel fundamental na criação das vantagens competitivas.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 transformação digital (competitiva) obriga a uma eng.a de software competitiva.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87574" y="6238483"/>
            <a:ext cx="163859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Credit: Pressmen’15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OpenUP prevê  o trabalho por iterações</a:t>
            </a:r>
            <a:endParaRPr/>
          </a:p>
        </p:txBody>
      </p:sp>
      <p:sp>
        <p:nvSpPr>
          <p:cNvPr id="133" name="Google Shape;133;p18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134" name="Google Shape;134;p18" descr="three_layer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4125" y="1438695"/>
            <a:ext cx="6480978" cy="505516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>
            <a:hlinkClick r:id="rId4"/>
          </p:cNvPr>
          <p:cNvSpPr txBox="1"/>
          <p:nvPr/>
        </p:nvSpPr>
        <p:spPr>
          <a:xfrm>
            <a:off x="7163468" y="869395"/>
            <a:ext cx="1917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🡪 </a:t>
            </a:r>
            <a:r>
              <a:rPr lang="en-US" sz="1800" u="sng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  <a:hlinkClick r:id="rId4"/>
              </a:rPr>
              <a:t>OpenUP wiki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80009" y="2895293"/>
            <a:ext cx="2444116" cy="1070983"/>
          </a:xfrm>
          <a:prstGeom prst="wedgeRectCallout">
            <a:avLst>
              <a:gd name="adj1" fmla="val 60979"/>
              <a:gd name="adj2" fmla="val -121826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00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Apesar de ser clara a abordagem incremental, como é que se organiza a equipa do dia-a-dia?</a:t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7" name="Google Shape;137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 dirty="0"/>
              <a:t>Use cases e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ágeis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Use Cases 2.0</a:t>
            </a:r>
            <a:endParaRPr dirty="0"/>
          </a:p>
        </p:txBody>
      </p:sp>
      <p:sp>
        <p:nvSpPr>
          <p:cNvPr id="143" name="Google Shape;143;p19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r>
              <a:rPr lang="en-US"/>
              <a:t>A granularidade dos casos de uso pode ser excessiva 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</a:pPr>
            <a:r>
              <a:rPr lang="en-US"/>
              <a:t>para a gestão do dia-a-dia da equipa de desenvolvimento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r>
              <a:rPr lang="en-US"/>
              <a:t>Proposta Use Cases 2.0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Barlow Light"/>
              <a:buChar char="-"/>
            </a:pPr>
            <a:r>
              <a:rPr lang="en-US"/>
              <a:t>“Fatias” de funcionalidade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</a:pPr>
            <a:r>
              <a:rPr lang="en-US" sz="2000"/>
              <a:t>Ponto de partida: use cases</a:t>
            </a:r>
            <a:endParaRPr/>
          </a:p>
          <a:p>
            <a:pPr marL="432000" lvl="2" indent="-22859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/>
              <a:t>…com a flexibilidade das </a:t>
            </a:r>
            <a:r>
              <a:rPr lang="en-US" i="1"/>
              <a:t>user stories</a:t>
            </a:r>
            <a:r>
              <a:rPr lang="en-US"/>
              <a:t>/</a:t>
            </a:r>
            <a:r>
              <a:rPr lang="en-US" i="1"/>
              <a:t>use case slices</a:t>
            </a:r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</a:t>
            </a:r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endParaRPr/>
          </a:p>
        </p:txBody>
      </p:sp>
      <p:pic>
        <p:nvPicPr>
          <p:cNvPr id="147" name="Google Shape;14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4850" y="2886809"/>
            <a:ext cx="5093944" cy="286033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>
            <a:hlinkClick r:id="rId4"/>
          </p:cNvPr>
          <p:cNvSpPr txBox="1"/>
          <p:nvPr/>
        </p:nvSpPr>
        <p:spPr>
          <a:xfrm>
            <a:off x="4514850" y="5869186"/>
            <a:ext cx="45148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https://youtu.be/p5gDbf0je8k</a:t>
            </a:r>
            <a:endParaRPr/>
          </a:p>
        </p:txBody>
      </p:sp>
      <p:pic>
        <p:nvPicPr>
          <p:cNvPr id="149" name="Google Shape;149;p19" descr="A screenshot of a cell phon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09455" y="5136116"/>
            <a:ext cx="1325891" cy="1718134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sp>
        <p:nvSpPr>
          <p:cNvPr id="150" name="Google Shape;150;p19"/>
          <p:cNvSpPr/>
          <p:nvPr/>
        </p:nvSpPr>
        <p:spPr>
          <a:xfrm>
            <a:off x="832421" y="5467350"/>
            <a:ext cx="1916920" cy="606695"/>
          </a:xfrm>
          <a:prstGeom prst="wedgeRoundRectCallout">
            <a:avLst>
              <a:gd name="adj1" fmla="val 59188"/>
              <a:gd name="adj2" fmla="val -70551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PDF shared…</a:t>
            </a:r>
            <a:endParaRPr sz="14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Barlow Semi Condensed SemiBold"/>
              <a:buNone/>
            </a:pPr>
            <a:r>
              <a:rPr lang="en-US"/>
              <a:t>Unidade mais conveniente: “fatia” de funcionalidade</a:t>
            </a:r>
            <a:endParaRPr/>
          </a:p>
        </p:txBody>
      </p:sp>
      <p:sp>
        <p:nvSpPr>
          <p:cNvPr id="156" name="Google Shape;156;p20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</a:t>
            </a:r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60" name="Google Shape;160;p20" descr="Timeli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49" y="1390650"/>
            <a:ext cx="8332435" cy="5467350"/>
          </a:xfrm>
          <a:prstGeom prst="rect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1" name="Google Shape;161;p20"/>
          <p:cNvSpPr txBox="1"/>
          <p:nvPr/>
        </p:nvSpPr>
        <p:spPr>
          <a:xfrm>
            <a:off x="2286000" y="3258445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 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A metáfora do “post-it”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68" name="Google Shape;168;p21" descr="A close up of a mans face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1242215"/>
            <a:ext cx="9100264" cy="506244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/>
          <p:nvPr/>
        </p:nvSpPr>
        <p:spPr>
          <a:xfrm>
            <a:off x="5297276" y="136524"/>
            <a:ext cx="3698213" cy="1673226"/>
          </a:xfrm>
          <a:prstGeom prst="wedgeRoundRectCallout">
            <a:avLst>
              <a:gd name="adj1" fmla="val -46995"/>
              <a:gd name="adj2" fmla="val 71473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Granularidade adequada para distribuir o trabalho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Rastreabilidade para os requisitos (cenários de uso)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Alguns “post-it”  por iteração</a:t>
            </a:r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Proposta dos métodos ágeis: user stories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450215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sz="2000" b="1"/>
              <a:t>User story </a:t>
            </a:r>
            <a:r>
              <a:rPr lang="en-US" sz="2000"/>
              <a:t>(“história”): uma "descrição curta e simples de uma funcionalidade do produto, contada do ponto de vista da pessoa que deseja essa nova capacidade, geralmente um utilizador ou promotor do sistema" (</a:t>
            </a:r>
            <a:r>
              <a:rPr lang="en-US" sz="1600"/>
              <a:t>Cohn 2010) </a:t>
            </a:r>
            <a:br>
              <a:rPr lang="en-US" sz="2000"/>
            </a:br>
            <a:endParaRPr sz="2000"/>
          </a:p>
        </p:txBody>
      </p:sp>
      <p:sp>
        <p:nvSpPr>
          <p:cNvPr id="181" name="Google Shape;181;p22"/>
          <p:cNvSpPr txBox="1">
            <a:spLocks noGrp="1"/>
          </p:cNvSpPr>
          <p:nvPr>
            <p:ph type="body" idx="2"/>
          </p:nvPr>
        </p:nvSpPr>
        <p:spPr>
          <a:xfrm>
            <a:off x="5301590" y="1390650"/>
            <a:ext cx="321376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84" name="Google Shape;18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3800" y="4081463"/>
            <a:ext cx="65151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/>
          <p:nvPr/>
        </p:nvSpPr>
        <p:spPr>
          <a:xfrm>
            <a:off x="165100" y="4637632"/>
            <a:ext cx="2127910" cy="1115915"/>
          </a:xfrm>
          <a:prstGeom prst="wedgeRoundRectCallout">
            <a:avLst>
              <a:gd name="adj1" fmla="val 66651"/>
              <a:gd name="adj2" fmla="val 24780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Anotação informal do que é descoberto nas “conversas”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Várias formas de pensar em requisitos</a:t>
            </a:r>
            <a:endParaRPr/>
          </a:p>
        </p:txBody>
      </p:sp>
      <p:sp>
        <p:nvSpPr>
          <p:cNvPr id="191" name="Google Shape;191;p23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None/>
            </a:pP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ct val="100000"/>
              <a:buNone/>
            </a:pPr>
            <a:r>
              <a:rPr lang="en-US" sz="1800" b="0" i="0" u="none" strike="noStrike">
                <a:solidFill>
                  <a:srgbClr val="EEEEEE"/>
                </a:solidFill>
                <a:latin typeface="Nunito"/>
                <a:ea typeface="Nunito"/>
                <a:cs typeface="Nunito"/>
                <a:sym typeface="Nunito"/>
              </a:rPr>
              <a:t>Épico: “O cliente compra produtos na loja online”, “Os parceiros satisfazem as encomendas dos clientes”</a:t>
            </a:r>
            <a:endParaRPr sz="1800" b="0" i="0" u="none" strike="noStrike">
              <a:solidFill>
                <a:srgbClr val="6EDEB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EEEEEE"/>
              </a:buClr>
              <a:buSzPct val="100000"/>
              <a:buNone/>
            </a:pPr>
            <a:r>
              <a:rPr lang="en-US" sz="1800" b="0" i="0" u="none" strike="noStrike">
                <a:solidFill>
                  <a:srgbClr val="EEEEEE"/>
                </a:solidFill>
                <a:latin typeface="Nunito"/>
                <a:ea typeface="Nunito"/>
                <a:cs typeface="Nunito"/>
                <a:sym typeface="Nunito"/>
              </a:rPr>
              <a:t>Use case: “Pesquisar produtos”, “Acompanhar encomenda”</a:t>
            </a:r>
            <a:endParaRPr sz="1800" b="0" i="0" u="none" strike="noStrike">
              <a:solidFill>
                <a:srgbClr val="6EDEB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EEEEEE"/>
              </a:buClr>
              <a:buSzPct val="100000"/>
              <a:buNone/>
            </a:pPr>
            <a:r>
              <a:rPr lang="en-US" sz="1800" b="0" i="0" u="none" strike="noStrike">
                <a:solidFill>
                  <a:srgbClr val="EEEEEE"/>
                </a:solidFill>
                <a:latin typeface="Nunito"/>
                <a:ea typeface="Nunito"/>
                <a:cs typeface="Nunito"/>
                <a:sym typeface="Nunito"/>
              </a:rPr>
              <a:t>User story: “Sendo um cliente, quero pesquisar produtos por palavras-chave de modo a ver as opções existentes.”</a:t>
            </a:r>
            <a:endParaRPr sz="1800" b="0" i="0" u="none" strike="noStrike">
              <a:solidFill>
                <a:srgbClr val="6EDEB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0000"/>
              </a:lnSpc>
              <a:spcBef>
                <a:spcPts val="19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endParaRPr/>
          </a:p>
        </p:txBody>
      </p:sp>
      <p:sp>
        <p:nvSpPr>
          <p:cNvPr id="193" name="Google Shape;193;p23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95" name="Google Shape;19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39703" y="1844499"/>
            <a:ext cx="5236494" cy="4024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Exemplo</a:t>
            </a:r>
            <a:endParaRPr/>
          </a:p>
        </p:txBody>
      </p:sp>
      <p:sp>
        <p:nvSpPr>
          <p:cNvPr id="201" name="Google Shape;201;p24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r>
              <a:rPr lang="en-US"/>
              <a:t>Histórias adequada: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/>
              <a:t>O gestor de RH publica a oferta de emprego.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/>
              <a:t>Um Candidato limita quem pode ver o seu currículo </a:t>
            </a:r>
            <a:endParaRPr/>
          </a:p>
        </p:txBody>
      </p:sp>
      <p:sp>
        <p:nvSpPr>
          <p:cNvPr id="202" name="Google Shape;202;p24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r>
              <a:rPr lang="en-US"/>
              <a:t>Histórias desadequadas: 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Font typeface="Arial"/>
              <a:buChar char="•"/>
            </a:pPr>
            <a:r>
              <a:rPr lang="en-US"/>
              <a:t>O software será implementado em Python.</a:t>
            </a:r>
            <a:br>
              <a:rPr lang="en-US"/>
            </a:br>
            <a:r>
              <a:rPr lang="en-US"/>
              <a:t>O programa irá ligar-se à base de dados através de uma “</a:t>
            </a:r>
            <a:r>
              <a:rPr lang="en-US" i="1"/>
              <a:t>connection pool</a:t>
            </a:r>
            <a:r>
              <a:rPr lang="en-US"/>
              <a:t>“ </a:t>
            </a:r>
            <a:r>
              <a:rPr lang="en-US" sz="1600"/>
              <a:t>(reutilização de ligações já abertas)</a:t>
            </a:r>
            <a:br>
              <a:rPr lang="en-US"/>
            </a:br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204" name="Google Shape;20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3800" y="4081463"/>
            <a:ext cx="65151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06" name="Google Shape;206;p24"/>
          <p:cNvSpPr/>
          <p:nvPr/>
        </p:nvSpPr>
        <p:spPr>
          <a:xfrm>
            <a:off x="165100" y="4637632"/>
            <a:ext cx="2127910" cy="1115915"/>
          </a:xfrm>
          <a:prstGeom prst="wedgeRoundRectCallout">
            <a:avLst>
              <a:gd name="adj1" fmla="val 66651"/>
              <a:gd name="adj2" fmla="val 24780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Anotação informal do que é descoberto nas “conversas”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Barlow Semi Condensed SemiBold"/>
              <a:buNone/>
            </a:pPr>
            <a:r>
              <a:rPr lang="en-US"/>
              <a:t>“Fatiar” os cenários de uso para tornar o trabalho mais concreto, gerível  e segmentado</a:t>
            </a:r>
            <a:endParaRPr/>
          </a:p>
        </p:txBody>
      </p:sp>
      <p:sp>
        <p:nvSpPr>
          <p:cNvPr id="212" name="Google Shape;212;p25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 dirty="0"/>
              <a:t>A </a:t>
            </a:r>
            <a:r>
              <a:rPr lang="en-US" dirty="0" err="1"/>
              <a:t>equipa</a:t>
            </a:r>
            <a:r>
              <a:rPr lang="en-US" dirty="0"/>
              <a:t> de </a:t>
            </a:r>
            <a:r>
              <a:rPr lang="en-US" dirty="0" err="1"/>
              <a:t>projeto</a:t>
            </a:r>
            <a:r>
              <a:rPr lang="en-US" dirty="0"/>
              <a:t> e o </a:t>
            </a:r>
            <a:r>
              <a:rPr lang="en-US" dirty="0" err="1"/>
              <a:t>cliente</a:t>
            </a:r>
            <a:r>
              <a:rPr lang="en-US" dirty="0"/>
              <a:t>/promotor </a:t>
            </a:r>
            <a:r>
              <a:rPr lang="en-US" dirty="0" err="1"/>
              <a:t>começam</a:t>
            </a:r>
            <a:r>
              <a:rPr lang="en-US" dirty="0"/>
              <a:t> a </a:t>
            </a:r>
            <a:r>
              <a:rPr lang="en-US" dirty="0" err="1"/>
              <a:t>discutir</a:t>
            </a:r>
            <a:r>
              <a:rPr lang="en-US" dirty="0"/>
              <a:t> </a:t>
            </a:r>
            <a:r>
              <a:rPr lang="en-US" dirty="0" err="1"/>
              <a:t>requisitos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as </a:t>
            </a:r>
            <a:r>
              <a:rPr lang="en-US" dirty="0" err="1"/>
              <a:t>motivações</a:t>
            </a:r>
            <a:r>
              <a:rPr lang="en-US" dirty="0"/>
              <a:t> de </a:t>
            </a:r>
            <a:r>
              <a:rPr lang="en-US" dirty="0" err="1"/>
              <a:t>uso</a:t>
            </a:r>
            <a:r>
              <a:rPr lang="en-US" dirty="0"/>
              <a:t>:</a:t>
            </a:r>
            <a:endParaRPr dirty="0"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 dirty="0">
                <a:highlight>
                  <a:srgbClr val="008080"/>
                </a:highlight>
              </a:rPr>
              <a:t>"Um </a:t>
            </a:r>
            <a:r>
              <a:rPr lang="en-US" dirty="0" err="1">
                <a:highlight>
                  <a:srgbClr val="008080"/>
                </a:highlight>
              </a:rPr>
              <a:t>Candidato</a:t>
            </a:r>
            <a:r>
              <a:rPr lang="en-US" dirty="0">
                <a:highlight>
                  <a:srgbClr val="008080"/>
                </a:highlight>
              </a:rPr>
              <a:t> (a um </a:t>
            </a:r>
            <a:r>
              <a:rPr lang="en-US" dirty="0" err="1">
                <a:highlight>
                  <a:srgbClr val="008080"/>
                </a:highlight>
              </a:rPr>
              <a:t>emprego</a:t>
            </a:r>
            <a:r>
              <a:rPr lang="en-US" dirty="0">
                <a:highlight>
                  <a:srgbClr val="008080"/>
                </a:highlight>
              </a:rPr>
              <a:t>) </a:t>
            </a:r>
            <a:r>
              <a:rPr lang="en-US" dirty="0" err="1">
                <a:highlight>
                  <a:srgbClr val="008080"/>
                </a:highlight>
              </a:rPr>
              <a:t>pode</a:t>
            </a:r>
            <a:r>
              <a:rPr lang="en-US" dirty="0">
                <a:highlight>
                  <a:srgbClr val="008080"/>
                </a:highlight>
              </a:rPr>
              <a:t> </a:t>
            </a:r>
            <a:r>
              <a:rPr lang="en-US" dirty="0" err="1">
                <a:highlight>
                  <a:srgbClr val="008080"/>
                </a:highlight>
              </a:rPr>
              <a:t>publicar</a:t>
            </a:r>
            <a:r>
              <a:rPr lang="en-US" dirty="0">
                <a:highlight>
                  <a:srgbClr val="008080"/>
                </a:highlight>
              </a:rPr>
              <a:t> um </a:t>
            </a:r>
            <a:r>
              <a:rPr lang="en-US" dirty="0" err="1">
                <a:highlight>
                  <a:srgbClr val="008080"/>
                </a:highlight>
              </a:rPr>
              <a:t>currículo</a:t>
            </a:r>
            <a:r>
              <a:rPr lang="en-US" dirty="0">
                <a:highlight>
                  <a:srgbClr val="008080"/>
                </a:highlight>
              </a:rPr>
              <a:t> (no site)".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 dirty="0" err="1"/>
              <a:t>Objetivo</a:t>
            </a:r>
            <a:r>
              <a:rPr lang="en-US" dirty="0"/>
              <a:t> de alto </a:t>
            </a:r>
            <a:r>
              <a:rPr lang="en-US" dirty="0" err="1"/>
              <a:t>nível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de </a:t>
            </a:r>
            <a:r>
              <a:rPr lang="en-US" dirty="0" err="1"/>
              <a:t>utilização</a:t>
            </a:r>
            <a:r>
              <a:rPr lang="en-US" dirty="0"/>
              <a:t>.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 dirty="0"/>
              <a:t>Essa “</a:t>
            </a:r>
            <a:r>
              <a:rPr lang="en-US" dirty="0" err="1"/>
              <a:t>história</a:t>
            </a:r>
            <a:r>
              <a:rPr lang="en-US" dirty="0"/>
              <a:t>”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expandida</a:t>
            </a:r>
            <a:r>
              <a:rPr lang="en-US" dirty="0"/>
              <a:t> à </a:t>
            </a:r>
            <a:r>
              <a:rPr lang="en-US" dirty="0" err="1"/>
              <a:t>medida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detalhes</a:t>
            </a:r>
            <a:r>
              <a:rPr lang="en-US" dirty="0"/>
              <a:t> </a:t>
            </a:r>
            <a:r>
              <a:rPr lang="en-US" dirty="0" err="1"/>
              <a:t>forem</a:t>
            </a:r>
            <a:r>
              <a:rPr lang="en-US" dirty="0"/>
              <a:t> </a:t>
            </a:r>
            <a:r>
              <a:rPr lang="en-US" dirty="0" err="1"/>
              <a:t>descobertos</a:t>
            </a:r>
            <a:r>
              <a:rPr lang="en-US" dirty="0"/>
              <a:t> </a:t>
            </a:r>
            <a:r>
              <a:rPr lang="en-US" dirty="0" err="1"/>
              <a:t>através</a:t>
            </a:r>
            <a:r>
              <a:rPr lang="en-US" dirty="0"/>
              <a:t> de conversas / </a:t>
            </a:r>
            <a:r>
              <a:rPr lang="en-US" dirty="0" err="1"/>
              <a:t>colaboração</a:t>
            </a:r>
            <a:r>
              <a:rPr lang="en-US" dirty="0"/>
              <a:t>. 🡪 </a:t>
            </a:r>
            <a:br>
              <a:rPr lang="en-US" dirty="0"/>
            </a:br>
            <a:endParaRPr dirty="0"/>
          </a:p>
        </p:txBody>
      </p:sp>
      <p:sp>
        <p:nvSpPr>
          <p:cNvPr id="213" name="Google Shape;213;p25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br>
              <a:rPr lang="en-US"/>
            </a:br>
            <a:r>
              <a:rPr lang="en-US"/>
              <a:t>Um possível desenvolvimento em histórias  (</a:t>
            </a:r>
            <a:r>
              <a:rPr lang="en-US" i="1"/>
              <a:t>user stories</a:t>
            </a:r>
            <a:r>
              <a:rPr lang="en-US"/>
              <a:t>):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Arial"/>
              <a:buChar char="•"/>
            </a:pPr>
            <a:r>
              <a:rPr lang="en-US"/>
              <a:t>Um Candidato pode adicionar um novo currículo ao site.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Arial"/>
              <a:buChar char="•"/>
            </a:pPr>
            <a:r>
              <a:rPr lang="en-US"/>
              <a:t>Um Candidato pode editar um currículo que já está no site.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Arial"/>
              <a:buChar char="•"/>
            </a:pPr>
            <a:r>
              <a:rPr lang="en-US"/>
              <a:t>Um Candidato pode remover o currículo do local.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Arial"/>
              <a:buChar char="•"/>
            </a:pPr>
            <a:r>
              <a:rPr lang="en-US"/>
              <a:t>Um Candidato pode mudar o estado do CV para inativo/ativo.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Arial"/>
              <a:buChar char="•"/>
            </a:pPr>
            <a:r>
              <a:rPr lang="en-US"/>
              <a:t>Um Candidato pode marcar um currículo como escondido para certos empregadores.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Arial"/>
              <a:buChar char="•"/>
            </a:pPr>
            <a:r>
              <a:rPr lang="en-US"/>
              <a:t>Um Candidato pode ver as vezes que o seu currículo foi consultado</a:t>
            </a:r>
            <a:endParaRPr/>
          </a:p>
        </p:txBody>
      </p:sp>
      <p:sp>
        <p:nvSpPr>
          <p:cNvPr id="214" name="Google Shape;214;p25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15" name="Google Shape;215;p2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16" name="Google Shape;216;p25">
            <a:hlinkClick r:id="rId3"/>
          </p:cNvPr>
          <p:cNvSpPr txBox="1"/>
          <p:nvPr/>
        </p:nvSpPr>
        <p:spPr>
          <a:xfrm>
            <a:off x="207034" y="5897325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🡺 ver: </a:t>
            </a:r>
            <a:r>
              <a:rPr lang="en-US" sz="1800" u="sng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exemplo relacionado</a:t>
            </a:r>
            <a:endParaRPr sz="1800" u="sng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Barlow Semi Condensed SemiBold"/>
              <a:buNone/>
            </a:pPr>
            <a:r>
              <a:rPr lang="en-US"/>
              <a:t>Pode-se usar um </a:t>
            </a:r>
            <a:r>
              <a:rPr lang="en-US" i="1"/>
              <a:t>template</a:t>
            </a:r>
            <a:r>
              <a:rPr lang="en-US"/>
              <a:t> para apresentar a história</a:t>
            </a:r>
            <a:endParaRPr/>
          </a:p>
        </p:txBody>
      </p:sp>
      <p:sp>
        <p:nvSpPr>
          <p:cNvPr id="222" name="Google Shape;222;p26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 Oliveira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3" name="Google Shape;223;p26"/>
          <p:cNvSpPr txBox="1">
            <a:spLocks noGrp="1"/>
          </p:cNvSpPr>
          <p:nvPr>
            <p:ph type="sldNum" idx="12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12</a:t>
            </a:fld>
            <a:endParaRPr sz="12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224" name="Google Shape;224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1570" y="4548948"/>
            <a:ext cx="4060094" cy="2101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871" y="1453751"/>
            <a:ext cx="7840029" cy="2938875"/>
          </a:xfrm>
          <a:prstGeom prst="rect">
            <a:avLst/>
          </a:prstGeom>
          <a:solidFill>
            <a:srgbClr val="ECECEC"/>
          </a:solidFill>
          <a:ln w="19050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0000" algn="tl" rotWithShape="0">
              <a:srgbClr val="000000">
                <a:alpha val="40784"/>
              </a:srgbClr>
            </a:outerShdw>
          </a:effectLst>
        </p:spPr>
      </p:pic>
      <p:sp>
        <p:nvSpPr>
          <p:cNvPr id="226" name="Google Shape;226;p26"/>
          <p:cNvSpPr/>
          <p:nvPr/>
        </p:nvSpPr>
        <p:spPr>
          <a:xfrm>
            <a:off x="1059311" y="4793141"/>
            <a:ext cx="3379999" cy="1319017"/>
          </a:xfrm>
          <a:prstGeom prst="wedgeRoundRectCallout">
            <a:avLst>
              <a:gd name="adj1" fmla="val 86211"/>
              <a:gd name="adj2" fmla="val 71608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As histórias devem conter um benefício percetível para o utilizador!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Estratégia para redigir a história</a:t>
            </a:r>
            <a:endParaRPr/>
          </a:p>
        </p:txBody>
      </p:sp>
      <p:sp>
        <p:nvSpPr>
          <p:cNvPr id="232" name="Google Shape;232;p27"/>
          <p:cNvSpPr txBox="1">
            <a:spLocks noGrp="1"/>
          </p:cNvSpPr>
          <p:nvPr>
            <p:ph type="body" idx="1"/>
          </p:nvPr>
        </p:nvSpPr>
        <p:spPr>
          <a:xfrm>
            <a:off x="628650" y="1390651"/>
            <a:ext cx="3886200" cy="3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As histórias dos utilizadores são frequentemente escritas de acordo com a seguinte estrutura (mas há outros estilos):</a:t>
            </a:r>
            <a:br>
              <a:rPr lang="en-US"/>
            </a:br>
            <a:r>
              <a:rPr lang="en-US"/>
              <a:t>Sendo &lt;papel de utilizador&gt;, quero &lt;ação/funcionalidade pretendida&gt; de modo a &lt;satisfação obtida&gt;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9EE9D4"/>
              </a:buClr>
              <a:buSzPct val="100000"/>
              <a:buNone/>
            </a:pPr>
            <a:r>
              <a:rPr lang="en-US">
                <a:solidFill>
                  <a:srgbClr val="9EE9D4"/>
                </a:solidFill>
              </a:rPr>
              <a:t>As a &lt;type of user&gt;, I want &lt;some goal&gt; so that &lt;some reason&gt;.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endParaRPr/>
          </a:p>
        </p:txBody>
      </p:sp>
      <p:sp>
        <p:nvSpPr>
          <p:cNvPr id="233" name="Google Shape;233;p27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E.g.: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Sendo um </a:t>
            </a:r>
            <a:r>
              <a:rPr lang="en-US" u="sng"/>
              <a:t>cliente</a:t>
            </a:r>
            <a:r>
              <a:rPr lang="en-US"/>
              <a:t>, quero </a:t>
            </a:r>
            <a:r>
              <a:rPr lang="en-US" u="sng"/>
              <a:t>receber um SMS quando o artigo chegar</a:t>
            </a:r>
            <a:r>
              <a:rPr lang="en-US"/>
              <a:t> de modo a que </a:t>
            </a:r>
            <a:r>
              <a:rPr lang="en-US" u="sng"/>
              <a:t>eu possa ir buscá-lo</a:t>
            </a:r>
            <a:r>
              <a:rPr lang="en-US"/>
              <a:t>.</a:t>
            </a:r>
            <a:br>
              <a:rPr lang="en-US"/>
            </a:br>
            <a:r>
              <a:rPr lang="en-US"/>
              <a:t>&lt;role&gt; representa a pessoa, o sistema, o subsistema ou qualquer outra entidade que interaja com o sistema a ser implementado para atingir um objetivo. É quem obtém valor da utilização do sistema.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&lt;business objetive&gt; representa uma expectativa de um utilizador sobre algo que pode realizar interagindo com o sistema.</a:t>
            </a:r>
            <a:br>
              <a:rPr lang="en-US"/>
            </a:br>
            <a:r>
              <a:rPr lang="en-US"/>
              <a:t>&lt;benefício&gt; representa o valor resultante por da interação com o sistema. Pode ser omitido, se for óbvio (decorrente do ponto anterior).</a:t>
            </a:r>
            <a:endParaRPr>
              <a:solidFill>
                <a:srgbClr val="9EE9D4"/>
              </a:solidFill>
            </a:endParaRPr>
          </a:p>
        </p:txBody>
      </p:sp>
      <p:sp>
        <p:nvSpPr>
          <p:cNvPr id="234" name="Google Shape;234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35" name="Google Shape;23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000" y="4596188"/>
            <a:ext cx="3224551" cy="141831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7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37" name="Google Shape;237;p27"/>
          <p:cNvSpPr txBox="1"/>
          <p:nvPr/>
        </p:nvSpPr>
        <p:spPr>
          <a:xfrm>
            <a:off x="1916451" y="6014506"/>
            <a:ext cx="38862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F2F2F2"/>
                </a:solidFill>
                <a:latin typeface="Barlow Medium"/>
                <a:ea typeface="Barlow Medium"/>
                <a:cs typeface="Barlow Medium"/>
                <a:sym typeface="Barlow Medium"/>
              </a:rPr>
              <a:t>🡪 ver </a:t>
            </a:r>
            <a:r>
              <a:rPr lang="en-US" sz="2200" u="sng">
                <a:solidFill>
                  <a:schemeClr val="hlink"/>
                </a:solidFill>
                <a:latin typeface="Barlow Medium"/>
                <a:ea typeface="Barlow Medium"/>
                <a:cs typeface="Barlow Medium"/>
                <a:sym typeface="Barlow Medium"/>
                <a:hlinkClick r:id="rId4"/>
              </a:rPr>
              <a:t>exemplos</a:t>
            </a:r>
            <a:endParaRPr sz="2200">
              <a:solidFill>
                <a:srgbClr val="F2F2F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Barlow Semi Condensed SemiBold"/>
              <a:buNone/>
            </a:pPr>
            <a:r>
              <a:rPr lang="en-US"/>
              <a:t>Organização das histórias em níveis de prioridade (linhas de corte para as iterações)</a:t>
            </a:r>
            <a:endParaRPr/>
          </a:p>
        </p:txBody>
      </p:sp>
      <p:sp>
        <p:nvSpPr>
          <p:cNvPr id="251" name="Google Shape;251;p29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52" name="Google Shape;252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53" name="Google Shape;253;p29" descr="user-story-map-ii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277"/>
            <a:ext cx="9144000" cy="4633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Stories map tool</a:t>
            </a:r>
            <a:endParaRPr/>
          </a:p>
        </p:txBody>
      </p:sp>
      <p:sp>
        <p:nvSpPr>
          <p:cNvPr id="259" name="Google Shape;259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60" name="Google Shape;260;p30" descr="A screenshot of a social media pos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66926"/>
            <a:ext cx="9144000" cy="508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0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endParaRPr/>
          </a:p>
        </p:txBody>
      </p:sp>
      <p:sp>
        <p:nvSpPr>
          <p:cNvPr id="276" name="Google Shape;276;p32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77" name="Google Shape;277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78" name="Google Shape;278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7795" y="0"/>
            <a:ext cx="644841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Agile in VisualParadigm</a:t>
            </a:r>
            <a:endParaRPr/>
          </a:p>
        </p:txBody>
      </p:sp>
      <p:pic>
        <p:nvPicPr>
          <p:cNvPr id="284" name="Google Shape;284;p33" descr="A close up of a map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b="48483"/>
          <a:stretch/>
        </p:blipFill>
        <p:spPr>
          <a:xfrm>
            <a:off x="129985" y="1579970"/>
            <a:ext cx="8884029" cy="284915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86" name="Google Shape;286;p33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87" name="Google Shape;287;p33"/>
          <p:cNvSpPr/>
          <p:nvPr/>
        </p:nvSpPr>
        <p:spPr>
          <a:xfrm>
            <a:off x="1059311" y="4793142"/>
            <a:ext cx="2654733" cy="783570"/>
          </a:xfrm>
          <a:prstGeom prst="wedgeRoundRectCallout">
            <a:avLst>
              <a:gd name="adj1" fmla="val -45535"/>
              <a:gd name="adj2" fmla="val -111803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 continuar em próximas aulas…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Barlow Semi Condensed SemiBold"/>
              <a:buNone/>
            </a:pPr>
            <a:r>
              <a:rPr lang="en-US"/>
              <a:t>Relembrar: casos de utilização e resultados associados</a:t>
            </a:r>
            <a:endParaRPr/>
          </a:p>
        </p:txBody>
      </p:sp>
      <p:sp>
        <p:nvSpPr>
          <p:cNvPr id="293" name="Google Shape;293;p34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Um caso de utilização descreve uma sequência de interações entre um sistema e um ator externo da qual o ator obtém resultado de valor (para as suas motivações). </a:t>
            </a:r>
            <a:br>
              <a:rPr lang="en-US"/>
            </a:br>
            <a:r>
              <a:rPr lang="en-US"/>
              <a:t>Os nomes dos casos de uso são sempre escritos a forma de um verbo seguido por um objeto. </a:t>
            </a:r>
            <a:br>
              <a:rPr lang="en-US"/>
            </a:br>
            <a:r>
              <a:rPr lang="en-US"/>
              <a:t>O caso de utilização é complementado com uma descrição detalhada (seguindo um padrão/narrativa estruturada)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Um caso de utilização inclui um fluxo principal e variantes.</a:t>
            </a:r>
            <a:endParaRPr/>
          </a:p>
        </p:txBody>
      </p:sp>
      <p:sp>
        <p:nvSpPr>
          <p:cNvPr id="294" name="Google Shape;294;p34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br>
              <a:rPr lang="en-US"/>
            </a:br>
            <a:endParaRPr/>
          </a:p>
        </p:txBody>
      </p:sp>
      <p:sp>
        <p:nvSpPr>
          <p:cNvPr id="295" name="Google Shape;295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96" name="Google Shape;296;p34" descr="A close up of a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7800" y="3458018"/>
            <a:ext cx="3886200" cy="254294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4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5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endParaRPr/>
          </a:p>
        </p:txBody>
      </p:sp>
      <p:sp>
        <p:nvSpPr>
          <p:cNvPr id="303" name="Google Shape;303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304" name="Google Shape;30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8427" y="0"/>
            <a:ext cx="71917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5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6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Barlow Semi Condensed SemiBold"/>
              <a:buNone/>
            </a:pPr>
            <a:r>
              <a:rPr lang="en-US"/>
              <a:t>As histórias podem ser apresentadas num nível de abstração próximo do caso de utilização</a:t>
            </a:r>
            <a:endParaRPr/>
          </a:p>
        </p:txBody>
      </p:sp>
      <p:sp>
        <p:nvSpPr>
          <p:cNvPr id="311" name="Google Shape;311;p3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312" name="Google Shape;31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537" y="1647825"/>
            <a:ext cx="8162925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6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Barlow Semi Condensed SemiBold"/>
              <a:buNone/>
            </a:pPr>
            <a:r>
              <a:rPr lang="en-US"/>
              <a:t>Mais frequentemente, a história é um desdobramento do caso de utilização</a:t>
            </a:r>
            <a:endParaRPr/>
          </a:p>
        </p:txBody>
      </p:sp>
      <p:sp>
        <p:nvSpPr>
          <p:cNvPr id="319" name="Google Shape;319;p3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20" name="Google Shape;32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99290"/>
            <a:ext cx="9144000" cy="425942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7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8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Jacobson: flows in a use case match stories</a:t>
            </a:r>
            <a:endParaRPr/>
          </a:p>
        </p:txBody>
      </p:sp>
      <p:sp>
        <p:nvSpPr>
          <p:cNvPr id="327" name="Google Shape;327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328" name="Google Shape;328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26418"/>
            <a:ext cx="9144000" cy="3805164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8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endParaRPr/>
          </a:p>
        </p:txBody>
      </p:sp>
      <p:sp>
        <p:nvSpPr>
          <p:cNvPr id="335" name="Google Shape;335;p39"/>
          <p:cNvSpPr txBox="1">
            <a:spLocks noGrp="1"/>
          </p:cNvSpPr>
          <p:nvPr>
            <p:ph type="body" idx="1"/>
          </p:nvPr>
        </p:nvSpPr>
        <p:spPr>
          <a:xfrm>
            <a:off x="628650" y="1489165"/>
            <a:ext cx="7886700" cy="468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endParaRPr/>
          </a:p>
        </p:txBody>
      </p:sp>
      <p:sp>
        <p:nvSpPr>
          <p:cNvPr id="336" name="Google Shape;336;p3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337" name="Google Shape;33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498" y="0"/>
            <a:ext cx="8475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9"/>
          <p:cNvSpPr txBox="1"/>
          <p:nvPr/>
        </p:nvSpPr>
        <p:spPr>
          <a:xfrm>
            <a:off x="5669280" y="5405360"/>
            <a:ext cx="284607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C6022"/>
                </a:solidFill>
                <a:latin typeface="Barlow"/>
                <a:ea typeface="Barlow"/>
                <a:cs typeface="Barlow"/>
                <a:sym typeface="Barlow"/>
              </a:rPr>
              <a:t>“Use case slices“  practices (Jacobson) are similar to “user stories”</a:t>
            </a:r>
            <a:endParaRPr sz="1800">
              <a:solidFill>
                <a:srgbClr val="4C602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39" name="Google Shape;339;p39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endParaRPr/>
          </a:p>
        </p:txBody>
      </p:sp>
      <p:sp>
        <p:nvSpPr>
          <p:cNvPr id="345" name="Google Shape;345;p40"/>
          <p:cNvSpPr txBox="1">
            <a:spLocks noGrp="1"/>
          </p:cNvSpPr>
          <p:nvPr>
            <p:ph type="body" idx="1"/>
          </p:nvPr>
        </p:nvSpPr>
        <p:spPr>
          <a:xfrm>
            <a:off x="628650" y="1489165"/>
            <a:ext cx="7886700" cy="468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endParaRPr/>
          </a:p>
        </p:txBody>
      </p:sp>
      <p:sp>
        <p:nvSpPr>
          <p:cNvPr id="346" name="Google Shape;346;p4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347" name="Google Shape;347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325" y="399257"/>
            <a:ext cx="8515350" cy="586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0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Barlow Semi Condensed SemiBold"/>
              <a:buNone/>
            </a:pPr>
            <a:r>
              <a:rPr lang="en-US"/>
              <a:t>Comparando os casos de utilização e as histórias</a:t>
            </a:r>
            <a:endParaRPr/>
          </a:p>
        </p:txBody>
      </p:sp>
      <p:graphicFrame>
        <p:nvGraphicFramePr>
          <p:cNvPr id="354" name="Google Shape;354;p41"/>
          <p:cNvGraphicFramePr/>
          <p:nvPr/>
        </p:nvGraphicFramePr>
        <p:xfrm>
          <a:off x="211015" y="51874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{4D4762EE-B875-4459-BA23-935C7507887D}</a:tableStyleId>
              </a:tblPr>
              <a:tblGrid>
                <a:gridCol w="259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Em comum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Próprio dos casos de utilização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Próprio das histórias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3700"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Ambos seguem uma abordagem centrada na utilização</a:t>
                      </a:r>
                      <a:br>
                        <a:rPr lang="en-US" sz="18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</a:br>
                      <a:r>
                        <a:rPr lang="en-US" sz="18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Ambos são contextos para descrever o diálogo utilizadores/sistema</a:t>
                      </a:r>
                      <a:br>
                        <a:rPr lang="en-US" sz="18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</a:br>
                      <a:r>
                        <a:rPr lang="en-US" sz="18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Ambos resultam em casos de teste que representam os critérios de aceitação</a:t>
                      </a:r>
                      <a:br>
                        <a:rPr lang="en-US" sz="18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</a:br>
                      <a:r>
                        <a:rPr lang="en-US" sz="18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Ambos podem ser estimados </a:t>
                      </a:r>
                      <a:br>
                        <a:rPr lang="en-US" sz="1800"/>
                      </a:br>
                      <a:br>
                        <a:rPr lang="en-US" sz="1800"/>
                      </a:b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b="0" i="0" u="sng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Visão geral </a:t>
                      </a:r>
                      <a:r>
                        <a:rPr lang="en-US" sz="16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para ajudar a entender a extensão do sistema e o seu valor </a:t>
                      </a:r>
                      <a:br>
                        <a:rPr lang="en-US" sz="16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</a:br>
                      <a:r>
                        <a:rPr lang="en-US" sz="16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Descreve </a:t>
                      </a:r>
                      <a:r>
                        <a:rPr lang="en-US" sz="1600" b="0" i="0" u="sng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como o utilizador imagina a interação </a:t>
                      </a:r>
                      <a:r>
                        <a:rPr lang="en-US" sz="16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com o sistema para atingir os seus objetivos. </a:t>
                      </a:r>
                      <a:br>
                        <a:rPr lang="en-US" sz="16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</a:br>
                      <a:r>
                        <a:rPr lang="en-US" sz="16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Fornecer à equipa do projeto uma estrutura e contexto que falta à coleção das histórias </a:t>
                      </a:r>
                      <a:br>
                        <a:rPr lang="en-US" sz="16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</a:br>
                      <a:r>
                        <a:rPr lang="en-US" sz="16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Pode examinar cada elemento do caso de utilização (fluxos, pré-condições, pós-condições, e assim por diante) para </a:t>
                      </a:r>
                      <a:r>
                        <a:rPr lang="en-US" sz="1600" b="0" i="0" u="sng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procurar requisitos funcionais e não funcionais </a:t>
                      </a:r>
                      <a:r>
                        <a:rPr lang="en-US" sz="16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pertinentes e para definir testes (ajuda a evitar que se ignorem requisitos.)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 b="0" i="0" u="sng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Declaração concisa </a:t>
                      </a:r>
                      <a:r>
                        <a:rPr lang="en-US" sz="18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das necessidades de um utilizador </a:t>
                      </a:r>
                      <a:br>
                        <a:rPr lang="en-US" sz="18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</a:br>
                      <a:r>
                        <a:rPr lang="en-US" sz="18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Existe um acesso facilitado a especialistas do domínio (</a:t>
                      </a:r>
                      <a:r>
                        <a:rPr lang="en-US" sz="1800" b="0" i="0" u="sng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refinar a história</a:t>
                      </a:r>
                      <a:r>
                        <a:rPr lang="en-US" sz="18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conforme necessário)</a:t>
                      </a:r>
                      <a:br>
                        <a:rPr lang="en-US" sz="18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</a:br>
                      <a:r>
                        <a:rPr lang="en-US" sz="18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Mais adequado para funcionar como um item do </a:t>
                      </a:r>
                      <a:r>
                        <a:rPr lang="en-US" sz="1800" b="0" i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backlog </a:t>
                      </a:r>
                      <a:r>
                        <a:rPr lang="en-US" sz="1800" b="0" i="0" u="sng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para o dia-a-dia</a:t>
                      </a:r>
                      <a:r>
                        <a:rPr lang="en-US" sz="18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(Scrum, Kanban) </a:t>
                      </a:r>
                      <a:br>
                        <a:rPr lang="en-US" sz="18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</a:br>
                      <a:r>
                        <a:rPr lang="en-US" sz="1800" b="0" i="0" u="sng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Critérios de aceitação </a:t>
                      </a:r>
                      <a:r>
                        <a:rPr lang="en-US" sz="1800" b="0" i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explícitos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5" name="Google Shape;355;p4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56" name="Google Shape;356;p41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2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Barlow Semi Condensed SemiBold"/>
              <a:buNone/>
            </a:pPr>
            <a:r>
              <a:rPr lang="en-US"/>
              <a:t>Posicionamento relative dos casos de utilização e histórias</a:t>
            </a:r>
            <a:endParaRPr/>
          </a:p>
        </p:txBody>
      </p:sp>
      <p:sp>
        <p:nvSpPr>
          <p:cNvPr id="362" name="Google Shape;362;p42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 Oliveira</a:t>
            </a:r>
            <a:endParaRPr sz="12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3" name="Google Shape;363;p4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200" b="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2"/>
          <p:cNvSpPr/>
          <p:nvPr/>
        </p:nvSpPr>
        <p:spPr>
          <a:xfrm>
            <a:off x="11113" y="6324600"/>
            <a:ext cx="5018087" cy="24606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http://tynerblain.com/blog/2009/02/02/user-stories-and-use-cases/</a:t>
            </a:r>
            <a:endParaRPr/>
          </a:p>
        </p:txBody>
      </p:sp>
      <p:pic>
        <p:nvPicPr>
          <p:cNvPr id="365" name="Google Shape;365;p42" descr="http://sehlhorst.smugmug.com/photos/466745337_mifdy-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6737" y="1240105"/>
            <a:ext cx="5230226" cy="5207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2" descr="A close up of a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5050" y="1240105"/>
            <a:ext cx="2746483" cy="1797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3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Histórias</a:t>
            </a:r>
            <a:endParaRPr/>
          </a:p>
        </p:txBody>
      </p:sp>
      <p:sp>
        <p:nvSpPr>
          <p:cNvPr id="376" name="Google Shape;376;p43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pic>
        <p:nvPicPr>
          <p:cNvPr id="377" name="Google Shape;377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6815" y="803543"/>
            <a:ext cx="65151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5075" y="2941372"/>
            <a:ext cx="6638925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380" name="Google Shape;380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990" y="4727708"/>
            <a:ext cx="4819650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3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endParaRPr/>
          </a:p>
        </p:txBody>
      </p:sp>
      <p:sp>
        <p:nvSpPr>
          <p:cNvPr id="382" name="Google Shape;382;p43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200"/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4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endParaRPr/>
          </a:p>
        </p:txBody>
      </p:sp>
      <p:sp>
        <p:nvSpPr>
          <p:cNvPr id="392" name="Google Shape;392;p4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393" name="Google Shape;393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93802"/>
            <a:ext cx="9144000" cy="387039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4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5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endParaRPr/>
          </a:p>
        </p:txBody>
      </p:sp>
      <p:sp>
        <p:nvSpPr>
          <p:cNvPr id="404" name="Google Shape;404;p45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405" name="Google Shape;405;p4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406" name="Google Shape;406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72528" y="994377"/>
            <a:ext cx="6771736" cy="4869246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5">
            <a:hlinkClick r:id="rId4"/>
          </p:cNvPr>
          <p:cNvSpPr txBox="1"/>
          <p:nvPr/>
        </p:nvSpPr>
        <p:spPr>
          <a:xfrm>
            <a:off x="2734574" y="5863623"/>
            <a:ext cx="46582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https://youtu.be/MwimXkY5G5o?t=1695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6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Algumas ideias a reter</a:t>
            </a:r>
            <a:endParaRPr/>
          </a:p>
        </p:txBody>
      </p:sp>
      <p:sp>
        <p:nvSpPr>
          <p:cNvPr id="413" name="Google Shape;413;p46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Arial"/>
              <a:buChar char="•"/>
            </a:pPr>
            <a:r>
              <a:rPr lang="en-US"/>
              <a:t>Os projetos ágeis (especialmente os da Scrum) utilizam um </a:t>
            </a:r>
            <a:r>
              <a:rPr lang="en-US" i="1"/>
              <a:t>backlog</a:t>
            </a:r>
            <a:r>
              <a:rPr lang="en-US"/>
              <a:t> do produto, que é uma lista prioritária da funcionalidade a desenvolver.</a:t>
            </a:r>
            <a:br>
              <a:rPr lang="en-US"/>
            </a:br>
            <a:r>
              <a:rPr lang="en-US"/>
              <a:t>Os itens do </a:t>
            </a:r>
            <a:r>
              <a:rPr lang="en-US" i="1"/>
              <a:t>backlog </a:t>
            </a:r>
            <a:r>
              <a:rPr lang="en-US"/>
              <a:t>do produto podem ser o que a equipa quiser, mas as histórias surgiram como a forma mais comum de representar os itens do </a:t>
            </a:r>
            <a:r>
              <a:rPr lang="en-US" i="1"/>
              <a:t>backlog</a:t>
            </a:r>
            <a:r>
              <a:rPr lang="en-US"/>
              <a:t> do produto (em software).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Arial"/>
              <a:buChar char="•"/>
            </a:pPr>
            <a:r>
              <a:rPr lang="en-US"/>
              <a:t>Ambos os casos de utilização e as histórias focam-se em conversas e uso do sistema por pessoas.</a:t>
            </a:r>
            <a:endParaRPr/>
          </a:p>
        </p:txBody>
      </p:sp>
      <p:sp>
        <p:nvSpPr>
          <p:cNvPr id="414" name="Google Shape;414;p46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Arial"/>
              <a:buChar char="•"/>
            </a:pPr>
            <a:r>
              <a:rPr lang="en-US"/>
              <a:t>Os casos de utilização fornecem mais estrutura e uma forma de documentar os detalhes recolhidos em análise. </a:t>
            </a:r>
            <a:br>
              <a:rPr lang="en-US"/>
            </a:br>
            <a:r>
              <a:rPr lang="en-US"/>
              <a:t>As histórias dos utilizadores são refinadas conforme necessário. Os detalhes são acrescentados, em colaboração regular com os especialistas do domínio.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Arial"/>
              <a:buChar char="•"/>
            </a:pPr>
            <a:r>
              <a:rPr lang="en-US"/>
              <a:t>A histórias recorrem a exemplos curtos para definir condições de aceitação.</a:t>
            </a:r>
            <a:endParaRPr/>
          </a:p>
        </p:txBody>
      </p:sp>
      <p:sp>
        <p:nvSpPr>
          <p:cNvPr id="415" name="Google Shape;415;p4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416" name="Google Shape;416;p46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4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422" name="Google Shape;422;p4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graphicFrame>
        <p:nvGraphicFramePr>
          <p:cNvPr id="423" name="Google Shape;423;p47"/>
          <p:cNvGraphicFramePr/>
          <p:nvPr/>
        </p:nvGraphicFramePr>
        <p:xfrm>
          <a:off x="628650" y="14890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{A80B7F6C-FA9A-40F1-B612-48E33EFDEC9C}</a:tableStyleId>
              </a:tblPr>
              <a:tblGrid>
                <a:gridCol w="384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Core readings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Suggested readings</a:t>
                      </a:r>
                      <a:endParaRPr sz="2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/>
                        <a:t>Jacobson, I., Spence, I., &amp; Kerr, B. (2016). </a:t>
                      </a:r>
                      <a:r>
                        <a:rPr lang="en-US" sz="2000" u="sng">
                          <a:solidFill>
                            <a:schemeClr val="hlink"/>
                          </a:solidFill>
                          <a:hlinkClick r:id="rId3"/>
                        </a:rPr>
                        <a:t>Use-case 2.0</a:t>
                      </a:r>
                      <a:r>
                        <a:rPr lang="en-US" sz="2000"/>
                        <a:t>. </a:t>
                      </a:r>
                      <a:r>
                        <a:rPr lang="en-US" sz="2000" i="1"/>
                        <a:t>Communications of the ACM</a:t>
                      </a:r>
                      <a:r>
                        <a:rPr lang="en-US" sz="2000"/>
                        <a:t>, </a:t>
                      </a:r>
                      <a:r>
                        <a:rPr lang="en-US" sz="2000" i="1"/>
                        <a:t>59</a:t>
                      </a:r>
                      <a:r>
                        <a:rPr lang="en-US" sz="2000"/>
                        <a:t>(5), 61–69.</a:t>
                      </a:r>
                      <a:endParaRPr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/>
                        <a:t>“</a:t>
                      </a:r>
                      <a:r>
                        <a:rPr lang="en-US" sz="2000" u="sng">
                          <a:solidFill>
                            <a:schemeClr val="hlink"/>
                          </a:solidFill>
                          <a:hlinkClick r:id="rId4"/>
                        </a:rPr>
                        <a:t>User Story vs Use Case for Agile Software Development</a:t>
                      </a:r>
                      <a:r>
                        <a:rPr lang="en-US" sz="2000"/>
                        <a:t>”, Visual Paradigm</a:t>
                      </a:r>
                      <a:endParaRPr/>
                    </a:p>
                    <a:p>
                      <a:pPr marL="285750" marR="0" lvl="0" indent="-158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endParaRPr sz="2000"/>
                    </a:p>
                    <a:p>
                      <a:pPr marL="285750" marR="0" lvl="0" indent="-158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/>
                        <a:t>Jacobson, I., Spence, I., &amp; Bittner, K. (2011). </a:t>
                      </a:r>
                      <a:r>
                        <a:rPr lang="en-US" sz="2000" i="1" u="sng">
                          <a:solidFill>
                            <a:schemeClr val="hlink"/>
                          </a:solidFill>
                          <a:hlinkClick r:id="rId5"/>
                        </a:rPr>
                        <a:t>Use-Case 2.0</a:t>
                      </a:r>
                      <a:r>
                        <a:rPr lang="en-US" sz="2000" i="1"/>
                        <a:t> The Guide o Succeeding with Use Cases</a:t>
                      </a:r>
                      <a:r>
                        <a:rPr lang="en-US" sz="2000"/>
                        <a:t>. [e-Book]</a:t>
                      </a:r>
                      <a:endParaRPr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u="sng">
                          <a:solidFill>
                            <a:schemeClr val="hlink"/>
                          </a:solidFill>
                          <a:hlinkClick r:id="rId6"/>
                        </a:rPr>
                        <a:t>User story</a:t>
                      </a:r>
                      <a:r>
                        <a:rPr lang="en-US" sz="2000"/>
                        <a:t> (VisualParadigm handbook)</a:t>
                      </a:r>
                      <a:endParaRPr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 u="sng">
                          <a:solidFill>
                            <a:schemeClr val="hlink"/>
                          </a:solidFill>
                          <a:hlinkClick r:id="rId7"/>
                        </a:rPr>
                        <a:t>EasyAgile training materials</a:t>
                      </a:r>
                      <a:r>
                        <a:rPr lang="en-US" sz="2000"/>
                        <a:t> </a:t>
                      </a:r>
                      <a:endParaRPr/>
                    </a:p>
                    <a:p>
                      <a:pPr marL="342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marL="342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marL="342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4" name="Google Shape;424;p47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1767</Words>
  <Application>Microsoft Office PowerPoint</Application>
  <PresentationFormat>On-screen Show (4:3)</PresentationFormat>
  <Paragraphs>194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Barlow Semi Condensed SemiBold</vt:lpstr>
      <vt:lpstr>Calibri</vt:lpstr>
      <vt:lpstr>Wingdings</vt:lpstr>
      <vt:lpstr>Arial</vt:lpstr>
      <vt:lpstr>Nunito</vt:lpstr>
      <vt:lpstr>Barlow Light</vt:lpstr>
      <vt:lpstr>Barlow Condensed SemiBold</vt:lpstr>
      <vt:lpstr>Barlow Medium</vt:lpstr>
      <vt:lpstr>Open Sans Light</vt:lpstr>
      <vt:lpstr>Barlow</vt:lpstr>
      <vt:lpstr>Office Theme</vt:lpstr>
      <vt:lpstr>Metodologias ágeis e user stories</vt:lpstr>
      <vt:lpstr>Objetivos de aprendizagem</vt:lpstr>
      <vt:lpstr>Algumas ideias do desenvolvimento ágil</vt:lpstr>
      <vt:lpstr>OpenUP prevê  o trabalho por iterações</vt:lpstr>
      <vt:lpstr>Use cases e os métodos ágeis  Use Cases 2.0</vt:lpstr>
      <vt:lpstr>Unidade mais conveniente: “fatia” de funcionalidade</vt:lpstr>
      <vt:lpstr>A metáfora do “post-it”</vt:lpstr>
      <vt:lpstr>Proposta dos métodos ágeis: user stories</vt:lpstr>
      <vt:lpstr>Várias formas de pensar em requisitos</vt:lpstr>
      <vt:lpstr>Exemplo</vt:lpstr>
      <vt:lpstr>“Fatiar” os cenários de uso para tornar o trabalho mais concreto, gerível  e segmentado</vt:lpstr>
      <vt:lpstr>Pode-se usar um template para apresentar a história</vt:lpstr>
      <vt:lpstr>Estratégia para redigir a história</vt:lpstr>
      <vt:lpstr>Organização das histórias em níveis de prioridade (linhas de corte para as iterações)</vt:lpstr>
      <vt:lpstr>Stories map tool</vt:lpstr>
      <vt:lpstr>PowerPoint Presentation</vt:lpstr>
      <vt:lpstr>Agile in VisualParadigm</vt:lpstr>
      <vt:lpstr>Relembrar: casos de utilização e resultados associados</vt:lpstr>
      <vt:lpstr>PowerPoint Presentation</vt:lpstr>
      <vt:lpstr>As histórias podem ser apresentadas num nível de abstração próximo do caso de utilização</vt:lpstr>
      <vt:lpstr>Mais frequentemente, a história é um desdobramento do caso de utilização</vt:lpstr>
      <vt:lpstr>Jacobson: flows in a use case match stories</vt:lpstr>
      <vt:lpstr>PowerPoint Presentation</vt:lpstr>
      <vt:lpstr>PowerPoint Presentation</vt:lpstr>
      <vt:lpstr>Comparando os casos de utilização e as histórias</vt:lpstr>
      <vt:lpstr>Posicionamento relative dos casos de utilização e histórias</vt:lpstr>
      <vt:lpstr>Histórias</vt:lpstr>
      <vt:lpstr>PowerPoint Presentation</vt:lpstr>
      <vt:lpstr>PowerPoint Presentation</vt:lpstr>
      <vt:lpstr>Algumas ideias a reter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Ilídio Oliveira</cp:lastModifiedBy>
  <cp:revision>1</cp:revision>
  <dcterms:modified xsi:type="dcterms:W3CDTF">2025-11-05T00:20:16Z</dcterms:modified>
</cp:coreProperties>
</file>