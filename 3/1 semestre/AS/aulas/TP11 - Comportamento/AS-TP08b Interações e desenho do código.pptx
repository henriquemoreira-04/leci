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2" r:id="rId4"/>
    <p:sldMasterId id="214748367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9144000"/>
  <p:notesSz cx="6858000" cy="9144000"/>
  <p:embeddedFontLst>
    <p:embeddedFont>
      <p:font typeface="Noto Sans"/>
      <p:regular r:id="rId28"/>
      <p:bold r:id="rId29"/>
      <p:italic r:id="rId30"/>
      <p:boldItalic r:id="rId31"/>
    </p:embeddedFont>
    <p:embeddedFont>
      <p:font typeface="Barlow Condensed SemiBold"/>
      <p:regular r:id="rId32"/>
      <p:bold r:id="rId33"/>
      <p:italic r:id="rId34"/>
      <p:boldItalic r:id="rId35"/>
    </p:embeddedFont>
    <p:embeddedFont>
      <p:font typeface="Noto Sans Light"/>
      <p:regular r:id="rId36"/>
      <p:bold r:id="rId37"/>
      <p:italic r:id="rId38"/>
      <p:boldItalic r:id="rId39"/>
    </p:embeddedFont>
    <p:embeddedFont>
      <p:font typeface="Barlow"/>
      <p:regular r:id="rId40"/>
      <p:bold r:id="rId41"/>
      <p:italic r:id="rId42"/>
      <p:boldItalic r:id="rId43"/>
    </p:embeddedFont>
    <p:embeddedFont>
      <p:font typeface="Barlow Semi Condensed SemiBold"/>
      <p:regular r:id="rId44"/>
      <p:bold r:id="rId45"/>
      <p:italic r:id="rId46"/>
      <p:boldItalic r:id="rId47"/>
    </p:embeddedFont>
    <p:embeddedFont>
      <p:font typeface="Open Sans Light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6375AB9-89B9-4DE0-98E2-D53C5F95739E}">
  <a:tblStyle styleId="{46375AB9-89B9-4DE0-98E2-D53C5F95739E}" styleName="Table_0">
    <a:wholeTbl>
      <a:tcTxStyle b="off" i="off">
        <a:font>
          <a:latin typeface="Noto Sans"/>
          <a:ea typeface="Noto Sans"/>
          <a:cs typeface="Noto San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fill>
          <a:solidFill>
            <a:srgbClr val="CACACA"/>
          </a:solidFill>
        </a:fill>
      </a:tcStyle>
    </a:band1H>
    <a:band2H>
      <a:tcTxStyle/>
    </a:band2H>
    <a:band1V>
      <a:tcTxStyle/>
      <a:tcStyle>
        <a:fill>
          <a:solidFill>
            <a:srgbClr val="CACACA"/>
          </a:solidFill>
        </a:fill>
      </a:tcStyle>
    </a:band1V>
    <a:band2V>
      <a:tcTxStyle/>
    </a:band2V>
    <a:lastCol>
      <a:tcTxStyle b="on" i="off">
        <a:font>
          <a:latin typeface="Noto Sans"/>
          <a:ea typeface="Noto Sans"/>
          <a:cs typeface="Noto Sans"/>
        </a:font>
        <a:schemeClr val="lt1"/>
      </a:tcTxStyle>
      <a:tcStyle>
        <a:fill>
          <a:solidFill>
            <a:schemeClr val="dk1"/>
          </a:solidFill>
        </a:fill>
      </a:tcStyle>
    </a:lastCol>
    <a:firstCol>
      <a:tcTxStyle b="on" i="off">
        <a:font>
          <a:latin typeface="Noto Sans"/>
          <a:ea typeface="Noto Sans"/>
          <a:cs typeface="Noto Sans"/>
        </a:font>
        <a:schemeClr val="lt1"/>
      </a:tcTxStyle>
      <a:tcStyle>
        <a:fill>
          <a:solidFill>
            <a:schemeClr val="dk1"/>
          </a:solidFill>
        </a:fill>
      </a:tcStyle>
    </a:firstCol>
    <a:lastRow>
      <a:tcTxStyle b="on" i="off">
        <a:font>
          <a:latin typeface="Noto Sans"/>
          <a:ea typeface="Noto Sans"/>
          <a:cs typeface="Noto San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dk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Noto Sans"/>
          <a:ea typeface="Noto Sans"/>
          <a:cs typeface="Noto San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dk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arlow-regular.fntdata"/><Relationship Id="rId42" Type="http://schemas.openxmlformats.org/officeDocument/2006/relationships/font" Target="fonts/Barlow-italic.fntdata"/><Relationship Id="rId41" Type="http://schemas.openxmlformats.org/officeDocument/2006/relationships/font" Target="fonts/Barlow-bold.fntdata"/><Relationship Id="rId44" Type="http://schemas.openxmlformats.org/officeDocument/2006/relationships/font" Target="fonts/BarlowSemiCondensedSemiBold-regular.fntdata"/><Relationship Id="rId43" Type="http://schemas.openxmlformats.org/officeDocument/2006/relationships/font" Target="fonts/Barlow-boldItalic.fntdata"/><Relationship Id="rId46" Type="http://schemas.openxmlformats.org/officeDocument/2006/relationships/font" Target="fonts/BarlowSemiCondensedSemiBold-italic.fntdata"/><Relationship Id="rId45" Type="http://schemas.openxmlformats.org/officeDocument/2006/relationships/font" Target="fonts/BarlowSemiCondensedSemiBold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OpenSansLight-regular.fntdata"/><Relationship Id="rId47" Type="http://schemas.openxmlformats.org/officeDocument/2006/relationships/font" Target="fonts/BarlowSemiCondensedSemiBold-boldItalic.fntdata"/><Relationship Id="rId49" Type="http://schemas.openxmlformats.org/officeDocument/2006/relationships/font" Target="fonts/OpenSansLight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NotoSans-boldItalic.fntdata"/><Relationship Id="rId30" Type="http://schemas.openxmlformats.org/officeDocument/2006/relationships/font" Target="fonts/NotoSans-italic.fntdata"/><Relationship Id="rId33" Type="http://schemas.openxmlformats.org/officeDocument/2006/relationships/font" Target="fonts/BarlowCondensedSemiBold-bold.fntdata"/><Relationship Id="rId32" Type="http://schemas.openxmlformats.org/officeDocument/2006/relationships/font" Target="fonts/BarlowCondensedSemiBold-regular.fntdata"/><Relationship Id="rId35" Type="http://schemas.openxmlformats.org/officeDocument/2006/relationships/font" Target="fonts/BarlowCondensedSemiBold-boldItalic.fntdata"/><Relationship Id="rId34" Type="http://schemas.openxmlformats.org/officeDocument/2006/relationships/font" Target="fonts/BarlowCondensedSemiBold-italic.fntdata"/><Relationship Id="rId37" Type="http://schemas.openxmlformats.org/officeDocument/2006/relationships/font" Target="fonts/NotoSansLight-bold.fntdata"/><Relationship Id="rId36" Type="http://schemas.openxmlformats.org/officeDocument/2006/relationships/font" Target="fonts/NotoSansLight-regular.fntdata"/><Relationship Id="rId39" Type="http://schemas.openxmlformats.org/officeDocument/2006/relationships/font" Target="fonts/NotoSansLight-boldItalic.fntdata"/><Relationship Id="rId38" Type="http://schemas.openxmlformats.org/officeDocument/2006/relationships/font" Target="fonts/NotoSansLight-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NotoSans-regular.fntdata"/><Relationship Id="rId27" Type="http://schemas.openxmlformats.org/officeDocument/2006/relationships/slide" Target="slides/slide21.xml"/><Relationship Id="rId29" Type="http://schemas.openxmlformats.org/officeDocument/2006/relationships/font" Target="fonts/NotoSans-bold.fntdata"/><Relationship Id="rId51" Type="http://schemas.openxmlformats.org/officeDocument/2006/relationships/font" Target="fonts/OpenSansLight-boldItalic.fntdata"/><Relationship Id="rId50" Type="http://schemas.openxmlformats.org/officeDocument/2006/relationships/font" Target="fonts/OpenSansLight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DETI/AMS</a:t>
            </a:r>
            <a:endParaRPr/>
          </a:p>
        </p:txBody>
      </p:sp>
      <p:sp>
        <p:nvSpPr>
          <p:cNvPr id="152" name="Google Shape;152;p1:notes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2024-03-05</a:t>
            </a:r>
            <a:endParaRPr/>
          </a:p>
        </p:txBody>
      </p:sp>
      <p:sp>
        <p:nvSpPr>
          <p:cNvPr id="153" name="Google Shape;153;p1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 (2018)</a:t>
            </a:r>
            <a:endParaRPr/>
          </a:p>
        </p:txBody>
      </p:sp>
      <p:sp>
        <p:nvSpPr>
          <p:cNvPr id="154" name="Google Shape;1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DETI/AMS</a:t>
            </a:r>
            <a:endParaRPr/>
          </a:p>
        </p:txBody>
      </p:sp>
      <p:sp>
        <p:nvSpPr>
          <p:cNvPr id="163" name="Google Shape;163;p2:notes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2024-03-05</a:t>
            </a:r>
            <a:endParaRPr/>
          </a:p>
        </p:txBody>
      </p:sp>
      <p:sp>
        <p:nvSpPr>
          <p:cNvPr id="164" name="Google Shape;164;p2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 (2018)</a:t>
            </a:r>
            <a:endParaRPr/>
          </a:p>
        </p:txBody>
      </p:sp>
      <p:sp>
        <p:nvSpPr>
          <p:cNvPr id="165" name="Google Shape;16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DETI/AMS</a:t>
            </a:r>
            <a:endParaRPr/>
          </a:p>
        </p:txBody>
      </p:sp>
      <p:sp>
        <p:nvSpPr>
          <p:cNvPr id="254" name="Google Shape;254;p10:notes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2024-03-05</a:t>
            </a:r>
            <a:endParaRPr/>
          </a:p>
        </p:txBody>
      </p:sp>
      <p:sp>
        <p:nvSpPr>
          <p:cNvPr id="255" name="Google Shape;255;p10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 (2018)</a:t>
            </a:r>
            <a:endParaRPr/>
          </a:p>
        </p:txBody>
      </p:sp>
      <p:sp>
        <p:nvSpPr>
          <p:cNvPr id="256" name="Google Shape;25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4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DETI/AMS</a:t>
            </a:r>
            <a:endParaRPr/>
          </a:p>
        </p:txBody>
      </p:sp>
      <p:sp>
        <p:nvSpPr>
          <p:cNvPr id="293" name="Google Shape;293;p14:notes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2024-03-05</a:t>
            </a:r>
            <a:endParaRPr/>
          </a:p>
        </p:txBody>
      </p:sp>
      <p:sp>
        <p:nvSpPr>
          <p:cNvPr id="294" name="Google Shape;294;p14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 (2018)</a:t>
            </a:r>
            <a:endParaRPr/>
          </a:p>
        </p:txBody>
      </p:sp>
      <p:sp>
        <p:nvSpPr>
          <p:cNvPr id="295" name="Google Shape;29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9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DETI/AMS</a:t>
            </a:r>
            <a:endParaRPr/>
          </a:p>
        </p:txBody>
      </p:sp>
      <p:sp>
        <p:nvSpPr>
          <p:cNvPr id="345" name="Google Shape;345;p19:notes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2024-03-05</a:t>
            </a:r>
            <a:endParaRPr/>
          </a:p>
        </p:txBody>
      </p:sp>
      <p:sp>
        <p:nvSpPr>
          <p:cNvPr id="346" name="Google Shape;346;p19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 (2018)</a:t>
            </a:r>
            <a:endParaRPr/>
          </a:p>
        </p:txBody>
      </p:sp>
      <p:sp>
        <p:nvSpPr>
          <p:cNvPr id="347" name="Google Shape;34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751562" y="2642285"/>
            <a:ext cx="7763788" cy="13304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600"/>
              <a:buFont typeface="Barlow Semi Condensed SemiBold"/>
              <a:buNone/>
              <a:defRPr sz="3600"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751562" y="4194805"/>
            <a:ext cx="6676372" cy="1433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eti3.png" id="18" name="Google Shape;18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18129" y="5245866"/>
            <a:ext cx="2997221" cy="74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1785256" y="365126"/>
            <a:ext cx="6730094" cy="760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800"/>
              <a:buFont typeface="Noto Sans"/>
              <a:buNone/>
              <a:defRPr sz="2800">
                <a:latin typeface="Noto Sans"/>
                <a:ea typeface="Noto Sans"/>
                <a:cs typeface="Noto Sans"/>
                <a:sym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1785254" y="1371601"/>
            <a:ext cx="6730095" cy="4805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  <a:defRPr sz="2000"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>
                <a:latin typeface="Barlow"/>
                <a:ea typeface="Barlow"/>
                <a:cs typeface="Barlow"/>
                <a:sym typeface="Barlow"/>
              </a:defRPr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>
                <a:latin typeface="Barlow"/>
                <a:ea typeface="Barlow"/>
                <a:cs typeface="Barlow"/>
                <a:sym typeface="Barlow"/>
              </a:defRPr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latin typeface="Barlow"/>
                <a:ea typeface="Barlow"/>
                <a:cs typeface="Barlow"/>
                <a:sym typeface="Barlow"/>
              </a:defRPr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1785254" y="1709739"/>
            <a:ext cx="6725333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1785256" y="4589464"/>
            <a:ext cx="6725332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566058" y="365127"/>
            <a:ext cx="7949292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6286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291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idx="1" type="body"/>
          </p:nvPr>
        </p:nvSpPr>
        <p:spPr>
          <a:xfrm>
            <a:off x="628650" y="651053"/>
            <a:ext cx="3886200" cy="5525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4629150" y="651053"/>
            <a:ext cx="3886200" cy="5525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629841" y="365126"/>
            <a:ext cx="7886700" cy="823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646511" y="1355728"/>
            <a:ext cx="3868340" cy="59030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9EE9D4"/>
              </a:buClr>
              <a:buSzPts val="2400"/>
              <a:buNone/>
              <a:defRPr b="1" sz="2400">
                <a:solidFill>
                  <a:srgbClr val="9EE9D4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629842" y="2112720"/>
            <a:ext cx="3868340" cy="4076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 sz="1800"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572000" y="1355728"/>
            <a:ext cx="3887391" cy="59030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9EE9D4"/>
              </a:buClr>
              <a:buSzPts val="2400"/>
              <a:buNone/>
              <a:defRPr b="1" sz="2400">
                <a:solidFill>
                  <a:srgbClr val="9EE9D4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29150" y="2112720"/>
            <a:ext cx="3887391" cy="4076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 sz="1800"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/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9"/>
          <p:cNvSpPr txBox="1"/>
          <p:nvPr>
            <p:ph idx="1" type="subTitle"/>
          </p:nvPr>
        </p:nvSpPr>
        <p:spPr>
          <a:xfrm>
            <a:off x="1785256" y="1038759"/>
            <a:ext cx="6730092" cy="589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  <a:defRPr sz="2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type="title"/>
          </p:nvPr>
        </p:nvSpPr>
        <p:spPr>
          <a:xfrm>
            <a:off x="628650" y="136524"/>
            <a:ext cx="3791156" cy="14238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Barlow Semi Condensed SemiBold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1"/>
          <p:cNvSpPr/>
          <p:nvPr>
            <p:ph idx="2" type="pic"/>
          </p:nvPr>
        </p:nvSpPr>
        <p:spPr>
          <a:xfrm>
            <a:off x="4572000" y="583474"/>
            <a:ext cx="3942160" cy="5674713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629840" y="1812022"/>
            <a:ext cx="3791157" cy="43875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1" type="body"/>
          </p:nvPr>
        </p:nvSpPr>
        <p:spPr>
          <a:xfrm rot="5400000">
            <a:off x="2618025" y="381553"/>
            <a:ext cx="5064557" cy="6730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70" name="Google Shape;70;p12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76" name="Google Shape;76;p13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1785256" y="365126"/>
            <a:ext cx="6730094" cy="760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  <a:defRPr sz="2400">
                <a:latin typeface="Noto Sans"/>
                <a:ea typeface="Noto Sans"/>
                <a:cs typeface="Noto Sans"/>
                <a:sym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5"/>
          <p:cNvSpPr txBox="1"/>
          <p:nvPr>
            <p:ph idx="1" type="body"/>
          </p:nvPr>
        </p:nvSpPr>
        <p:spPr>
          <a:xfrm>
            <a:off x="1785254" y="1371601"/>
            <a:ext cx="6730095" cy="4805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 sz="1800">
                <a:latin typeface="Noto Sans"/>
                <a:ea typeface="Noto Sans"/>
                <a:cs typeface="Noto Sans"/>
                <a:sym typeface="Noto Sans"/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  <a:defRPr>
                <a:latin typeface="Noto Sans Light"/>
                <a:ea typeface="Noto Sans Light"/>
                <a:cs typeface="Noto Sans Light"/>
                <a:sym typeface="Noto Sans Light"/>
              </a:defRPr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>
                <a:latin typeface="Noto Sans Light"/>
                <a:ea typeface="Noto Sans Light"/>
                <a:cs typeface="Noto Sans Light"/>
                <a:sym typeface="Noto Sans Light"/>
              </a:defRPr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latin typeface="Noto Sans"/>
                <a:ea typeface="Noto Sans"/>
                <a:cs typeface="Noto Sans"/>
                <a:sym typeface="Noto Sans"/>
              </a:defRPr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latin typeface="Noto Sans"/>
                <a:ea typeface="Noto Sans"/>
                <a:cs typeface="Noto Sans"/>
                <a:sym typeface="Noto Sans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5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6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1785254" y="1709739"/>
            <a:ext cx="6725333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Noto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1785256" y="4589464"/>
            <a:ext cx="6725332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" name="Google Shape;95;p17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ctrTitle"/>
          </p:nvPr>
        </p:nvSpPr>
        <p:spPr>
          <a:xfrm>
            <a:off x="751562" y="2642285"/>
            <a:ext cx="7763788" cy="13304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600"/>
              <a:buFont typeface="Noto Sans"/>
              <a:buNone/>
              <a:defRPr sz="3600">
                <a:latin typeface="Noto Sans"/>
                <a:ea typeface="Noto Sans"/>
                <a:cs typeface="Noto Sans"/>
                <a:sym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8"/>
          <p:cNvSpPr txBox="1"/>
          <p:nvPr>
            <p:ph idx="1" type="subTitle"/>
          </p:nvPr>
        </p:nvSpPr>
        <p:spPr>
          <a:xfrm>
            <a:off x="751562" y="4194805"/>
            <a:ext cx="6676372" cy="1433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 sz="1800">
                <a:latin typeface="Noto Sans"/>
                <a:ea typeface="Noto Sans"/>
                <a:cs typeface="Noto Sans"/>
                <a:sym typeface="Noto Sans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0" name="Google Shape;100;p18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Noto Sans Light"/>
                <a:ea typeface="Noto Sans Light"/>
                <a:cs typeface="Noto Sans Light"/>
                <a:sym typeface="Noto Sans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eti3.png" id="102" name="Google Shape;102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18129" y="5245866"/>
            <a:ext cx="2997221" cy="74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566058" y="365127"/>
            <a:ext cx="7949292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6286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19"/>
          <p:cNvSpPr txBox="1"/>
          <p:nvPr>
            <p:ph idx="2" type="body"/>
          </p:nvPr>
        </p:nvSpPr>
        <p:spPr>
          <a:xfrm>
            <a:off x="46291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9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628650" y="651053"/>
            <a:ext cx="3886200" cy="5525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20"/>
          <p:cNvSpPr txBox="1"/>
          <p:nvPr>
            <p:ph idx="2" type="body"/>
          </p:nvPr>
        </p:nvSpPr>
        <p:spPr>
          <a:xfrm>
            <a:off x="4629150" y="651053"/>
            <a:ext cx="3886200" cy="5525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20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629841" y="365126"/>
            <a:ext cx="7886700" cy="823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646511" y="1355728"/>
            <a:ext cx="3868340" cy="59030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9EE9D4"/>
              </a:buClr>
              <a:buSzPts val="2400"/>
              <a:buNone/>
              <a:defRPr b="1" sz="2400">
                <a:solidFill>
                  <a:srgbClr val="9EE9D4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7" name="Google Shape;117;p21"/>
          <p:cNvSpPr txBox="1"/>
          <p:nvPr>
            <p:ph idx="2" type="body"/>
          </p:nvPr>
        </p:nvSpPr>
        <p:spPr>
          <a:xfrm>
            <a:off x="629842" y="2112720"/>
            <a:ext cx="3868340" cy="4076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 sz="1800"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3" type="body"/>
          </p:nvPr>
        </p:nvSpPr>
        <p:spPr>
          <a:xfrm>
            <a:off x="4572000" y="1355728"/>
            <a:ext cx="3887391" cy="59030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9EE9D4"/>
              </a:buClr>
              <a:buSzPts val="2400"/>
              <a:buNone/>
              <a:defRPr b="1" sz="2400">
                <a:solidFill>
                  <a:srgbClr val="9EE9D4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9" name="Google Shape;119;p21"/>
          <p:cNvSpPr txBox="1"/>
          <p:nvPr>
            <p:ph idx="4" type="body"/>
          </p:nvPr>
        </p:nvSpPr>
        <p:spPr>
          <a:xfrm>
            <a:off x="4629150" y="2112720"/>
            <a:ext cx="3887391" cy="4076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 sz="1800"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21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2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22"/>
          <p:cNvSpPr txBox="1"/>
          <p:nvPr>
            <p:ph idx="1" type="subTitle"/>
          </p:nvPr>
        </p:nvSpPr>
        <p:spPr>
          <a:xfrm>
            <a:off x="1785256" y="1038759"/>
            <a:ext cx="6730092" cy="589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  <a:defRPr sz="2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628650" y="136524"/>
            <a:ext cx="3791156" cy="14238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Noto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4"/>
          <p:cNvSpPr/>
          <p:nvPr>
            <p:ph idx="2" type="pic"/>
          </p:nvPr>
        </p:nvSpPr>
        <p:spPr>
          <a:xfrm>
            <a:off x="4572000" y="583474"/>
            <a:ext cx="3942160" cy="5674713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629840" y="1812022"/>
            <a:ext cx="3791157" cy="43875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4" name="Google Shape;134;p24"/>
          <p:cNvSpPr txBox="1"/>
          <p:nvPr>
            <p:ph idx="11" type="ftr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5"/>
          <p:cNvSpPr txBox="1"/>
          <p:nvPr>
            <p:ph idx="1" type="body"/>
          </p:nvPr>
        </p:nvSpPr>
        <p:spPr>
          <a:xfrm rot="5400000">
            <a:off x="2618025" y="381553"/>
            <a:ext cx="5064557" cy="6730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p2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140" name="Google Shape;140;p25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6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2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146" name="Google Shape;146;p26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C4C4C"/>
            </a:gs>
            <a:gs pos="50000">
              <a:srgbClr val="292929"/>
            </a:gs>
            <a:gs pos="100000">
              <a:schemeClr val="dk1"/>
            </a:gs>
          </a:gsLst>
          <a:lin ang="54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Barlow Semi Condensed SemiBold"/>
              <a:buNone/>
              <a:defRPr b="0" i="0" sz="2400" u="none" cap="none" strike="noStrike">
                <a:solidFill>
                  <a:srgbClr val="6EDEBF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1785256" y="1214322"/>
            <a:ext cx="6730094" cy="5064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2F2F2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D8D8D8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Noto Sans Light"/>
                <a:ea typeface="Noto Sans Light"/>
                <a:cs typeface="Noto Sans Light"/>
                <a:sym typeface="Noto Sans Light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C4C4C"/>
            </a:gs>
            <a:gs pos="50000">
              <a:srgbClr val="292929"/>
            </a:gs>
            <a:gs pos="100000">
              <a:schemeClr val="dk1"/>
            </a:gs>
          </a:gsLst>
          <a:lin ang="5400000" scaled="0"/>
        </a:gra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  <a:defRPr b="0" i="0" sz="2400" u="none" cap="none" strike="noStrike">
                <a:solidFill>
                  <a:srgbClr val="6EDEBF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>
            <a:off x="1785256" y="1214322"/>
            <a:ext cx="6730094" cy="5064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2F2F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D8D8D8"/>
                </a:solidFill>
                <a:latin typeface="Noto Sans Light"/>
                <a:ea typeface="Noto Sans Light"/>
                <a:cs typeface="Noto Sans Light"/>
                <a:sym typeface="Noto Sans Light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Noto Sans Light"/>
                <a:ea typeface="Noto Sans Light"/>
                <a:cs typeface="Noto Sans Light"/>
                <a:sym typeface="Noto Sans Light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81" name="Google Shape;81;p14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Noto Sans Light"/>
                <a:ea typeface="Noto Sans Light"/>
                <a:cs typeface="Noto Sans Light"/>
                <a:sym typeface="Noto Sans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82" name="Google Shape;82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2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23.png"/><Relationship Id="rId5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0.png"/><Relationship Id="rId5" Type="http://schemas.openxmlformats.org/officeDocument/2006/relationships/image" Target="../media/image17.png"/><Relationship Id="rId6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stg-tud.github.io/eise/" TargetMode="External"/><Relationship Id="rId4" Type="http://schemas.openxmlformats.org/officeDocument/2006/relationships/image" Target="../media/image3.png"/><Relationship Id="rId5" Type="http://schemas.openxmlformats.org/officeDocument/2006/relationships/hyperlink" Target="https://stg-tud.github.io/eise/WS18-SE-08-Modeling-dynamic_Part.pdf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2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Relationship Id="rId4" Type="http://schemas.openxmlformats.org/officeDocument/2006/relationships/image" Target="../media/image19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://stg-tud.github.io/eise/WS15-SE-12-System_Sequence_Diagrams.pdf" TargetMode="External"/><Relationship Id="rId4" Type="http://schemas.openxmlformats.org/officeDocument/2006/relationships/hyperlink" Target="http://stg-tud.github.io/eise/WS15-SE-13-OO_Design-Responsibility_and_Coupling_and_Cohesion_and_Heuristics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>
            <p:ph type="ctrTitle"/>
          </p:nvPr>
        </p:nvSpPr>
        <p:spPr>
          <a:xfrm>
            <a:off x="751562" y="2642285"/>
            <a:ext cx="7763788" cy="13304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600"/>
              <a:buFont typeface="Barlow Semi Condensed SemiBold"/>
              <a:buNone/>
            </a:pPr>
            <a:r>
              <a:rPr lang="en-US"/>
              <a:t>Visualização e desenho de Código (por objetos)</a:t>
            </a:r>
            <a:endParaRPr/>
          </a:p>
        </p:txBody>
      </p:sp>
      <p:sp>
        <p:nvSpPr>
          <p:cNvPr id="157" name="Google Shape;157;p27"/>
          <p:cNvSpPr txBox="1"/>
          <p:nvPr>
            <p:ph idx="1" type="subTitle"/>
          </p:nvPr>
        </p:nvSpPr>
        <p:spPr>
          <a:xfrm>
            <a:off x="751562" y="4194805"/>
            <a:ext cx="6676372" cy="1433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en-US"/>
              <a:t>Ilídio Oliveira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en-US"/>
              <a:t>v2025-04-08</a:t>
            </a:r>
            <a:endParaRPr/>
          </a:p>
        </p:txBody>
      </p:sp>
      <p:sp>
        <p:nvSpPr>
          <p:cNvPr id="158" name="Google Shape;158;p27"/>
          <p:cNvSpPr txBox="1"/>
          <p:nvPr/>
        </p:nvSpPr>
        <p:spPr>
          <a:xfrm>
            <a:off x="690106" y="1373245"/>
            <a:ext cx="30524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FBFBF"/>
                </a:solidFill>
                <a:latin typeface="Barlow"/>
                <a:ea typeface="Barlow"/>
                <a:cs typeface="Barlow"/>
                <a:sym typeface="Barlow"/>
              </a:rPr>
              <a:t>41951- ANÁLISE DE SISTEMAS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 txBox="1"/>
          <p:nvPr>
            <p:ph type="title"/>
          </p:nvPr>
        </p:nvSpPr>
        <p:spPr>
          <a:xfrm>
            <a:off x="1785256" y="365126"/>
            <a:ext cx="6730094" cy="760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Visualização de código Java com classes</a:t>
            </a:r>
            <a:endParaRPr/>
          </a:p>
        </p:txBody>
      </p:sp>
      <p:sp>
        <p:nvSpPr>
          <p:cNvPr id="168" name="Google Shape;168;p28"/>
          <p:cNvSpPr txBox="1"/>
          <p:nvPr>
            <p:ph idx="1" type="body"/>
          </p:nvPr>
        </p:nvSpPr>
        <p:spPr>
          <a:xfrm>
            <a:off x="1785254" y="1371601"/>
            <a:ext cx="6730095" cy="4805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69" name="Google Shape;169;p28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170" name="Google Shape;170;p2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1" name="Google Shape;17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041403"/>
            <a:ext cx="5958856" cy="2568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4657" y="1539998"/>
            <a:ext cx="2589187" cy="1533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/>
          <p:nvPr>
            <p:ph type="title"/>
          </p:nvPr>
        </p:nvSpPr>
        <p:spPr>
          <a:xfrm>
            <a:off x="1785256" y="365126"/>
            <a:ext cx="6730094" cy="760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Visualização do código com classes</a:t>
            </a:r>
            <a:endParaRPr/>
          </a:p>
        </p:txBody>
      </p:sp>
      <p:sp>
        <p:nvSpPr>
          <p:cNvPr id="178" name="Google Shape;178;p29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179" name="Google Shape;179;p2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0" name="Google Shape;180;p29"/>
          <p:cNvSpPr/>
          <p:nvPr/>
        </p:nvSpPr>
        <p:spPr>
          <a:xfrm>
            <a:off x="6248850" y="3170642"/>
            <a:ext cx="2594655" cy="1372676"/>
          </a:xfrm>
          <a:prstGeom prst="wedgeRoundRectCallout">
            <a:avLst>
              <a:gd fmla="val -54131" name="adj1"/>
              <a:gd fmla="val 80074" name="adj2"/>
              <a:gd fmla="val 16667" name="adj3"/>
            </a:avLst>
          </a:prstGeom>
          <a:solidFill>
            <a:srgbClr val="29AF8C">
              <a:alpha val="69803"/>
            </a:srgbClr>
          </a:solidFill>
          <a:ln cap="flat" cmpd="sng" w="12700">
            <a:solidFill>
              <a:srgbClr val="1D7F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36000" spcFirstLastPara="1" rIns="36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Modelos semanticamente equivalentes.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Mostrar os atributos como associações evidencia os relacionamentos.</a:t>
            </a:r>
            <a:endParaRPr sz="14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81" name="Google Shape;18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315" y="1325817"/>
            <a:ext cx="4486275" cy="132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315" y="2850194"/>
            <a:ext cx="5133975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0315" y="4664075"/>
            <a:ext cx="535305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9"/>
          <p:cNvSpPr/>
          <p:nvPr/>
        </p:nvSpPr>
        <p:spPr>
          <a:xfrm>
            <a:off x="2714100" y="3982342"/>
            <a:ext cx="1375410" cy="532118"/>
          </a:xfrm>
          <a:prstGeom prst="wedgeRoundRectCallout">
            <a:avLst>
              <a:gd fmla="val -60198" name="adj1"/>
              <a:gd fmla="val -51091" name="adj2"/>
              <a:gd fmla="val 16667" name="adj3"/>
            </a:avLst>
          </a:prstGeom>
          <a:solidFill>
            <a:srgbClr val="0070C0">
              <a:alpha val="69803"/>
            </a:srgbClr>
          </a:solidFill>
          <a:ln cap="flat" cmpd="sng" w="12700">
            <a:solidFill>
              <a:srgbClr val="1D7F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36000" spcFirstLastPara="1" rIns="36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Informação redundante</a:t>
            </a:r>
            <a:endParaRPr sz="12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5" name="Google Shape;185;p29"/>
          <p:cNvSpPr/>
          <p:nvPr/>
        </p:nvSpPr>
        <p:spPr>
          <a:xfrm>
            <a:off x="5551170" y="1490031"/>
            <a:ext cx="2594655" cy="1372676"/>
          </a:xfrm>
          <a:prstGeom prst="wedgeRoundRectCallout">
            <a:avLst>
              <a:gd fmla="val -139592" name="adj1"/>
              <a:gd fmla="val 20676" name="adj2"/>
              <a:gd fmla="val 16667" name="adj3"/>
            </a:avLst>
          </a:prstGeom>
          <a:solidFill>
            <a:srgbClr val="29AF8C">
              <a:alpha val="69803"/>
            </a:srgbClr>
          </a:solidFill>
          <a:ln cap="flat" cmpd="sng" w="12700">
            <a:solidFill>
              <a:srgbClr val="1D7F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36000" spcFirstLastPara="1" rIns="36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Cada objeto da classe Projeto guarda informação sobre o respetivo Cliente, ou seja, referencia outro objeto.</a:t>
            </a:r>
            <a:endParaRPr sz="14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6" name="Google Shape;186;p29"/>
          <p:cNvSpPr/>
          <p:nvPr/>
        </p:nvSpPr>
        <p:spPr>
          <a:xfrm>
            <a:off x="2586991" y="5887155"/>
            <a:ext cx="1741169" cy="605719"/>
          </a:xfrm>
          <a:prstGeom prst="wedgeRoundRectCallout">
            <a:avLst>
              <a:gd fmla="val -60198" name="adj1"/>
              <a:gd fmla="val -51091" name="adj2"/>
              <a:gd fmla="val 16667" name="adj3"/>
            </a:avLst>
          </a:prstGeom>
          <a:solidFill>
            <a:srgbClr val="0070C0">
              <a:alpha val="69803"/>
            </a:srgbClr>
          </a:solidFill>
          <a:ln cap="flat" cmpd="sng" w="12700">
            <a:solidFill>
              <a:srgbClr val="1D7F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36000" spcFirstLastPara="1" rIns="36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A classe projeto define dois atributos: </a:t>
            </a:r>
            <a:r>
              <a:rPr i="1" lang="en-US" sz="12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title</a:t>
            </a:r>
            <a:r>
              <a:rPr lang="en-US" sz="12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 e </a:t>
            </a:r>
            <a:r>
              <a:rPr i="1" lang="en-US" sz="12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client</a:t>
            </a:r>
            <a:r>
              <a:rPr lang="en-US" sz="12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.</a:t>
            </a:r>
            <a:endParaRPr sz="12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192" name="Google Shape;192;p3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3" name="Google Shape;19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4285" y="4126812"/>
            <a:ext cx="6333453" cy="2125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262" y="136524"/>
            <a:ext cx="5602730" cy="426535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0"/>
          <p:cNvSpPr/>
          <p:nvPr/>
        </p:nvSpPr>
        <p:spPr>
          <a:xfrm>
            <a:off x="5677043" y="179054"/>
            <a:ext cx="1561813" cy="601975"/>
          </a:xfrm>
          <a:prstGeom prst="wedgeRoundRectCallout">
            <a:avLst>
              <a:gd fmla="val -159616" name="adj1"/>
              <a:gd fmla="val -7093" name="adj2"/>
              <a:gd fmla="val 16667" name="adj3"/>
            </a:avLst>
          </a:prstGeom>
          <a:solidFill>
            <a:srgbClr val="29AF8C">
              <a:alpha val="69803"/>
            </a:srgbClr>
          </a:solidFill>
          <a:ln cap="flat" cmpd="sng" w="12700">
            <a:solidFill>
              <a:srgbClr val="1D7F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36000" spcFirstLastPara="1" rIns="36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Classe</a:t>
            </a:r>
            <a:endParaRPr sz="14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6" name="Google Shape;196;p30"/>
          <p:cNvSpPr/>
          <p:nvPr/>
        </p:nvSpPr>
        <p:spPr>
          <a:xfrm>
            <a:off x="6457950" y="961647"/>
            <a:ext cx="2425280" cy="780014"/>
          </a:xfrm>
          <a:prstGeom prst="wedgeRoundRectCallout">
            <a:avLst>
              <a:gd fmla="val -141203" name="adj1"/>
              <a:gd fmla="val -45260" name="adj2"/>
              <a:gd fmla="val 16667" name="adj3"/>
            </a:avLst>
          </a:prstGeom>
          <a:solidFill>
            <a:srgbClr val="29AF8C">
              <a:alpha val="69803"/>
            </a:srgbClr>
          </a:solidFill>
          <a:ln cap="flat" cmpd="sng" w="12700">
            <a:solidFill>
              <a:srgbClr val="1D7F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36000" spcFirstLastPara="1" rIns="36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Atributo (neste caso, é uma lista de objetos do tipo Client)</a:t>
            </a:r>
            <a:endParaRPr sz="14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7" name="Google Shape;197;p30"/>
          <p:cNvSpPr/>
          <p:nvPr/>
        </p:nvSpPr>
        <p:spPr>
          <a:xfrm>
            <a:off x="6026215" y="3166180"/>
            <a:ext cx="2722503" cy="856225"/>
          </a:xfrm>
          <a:prstGeom prst="wedgeRoundRectCallout">
            <a:avLst>
              <a:gd fmla="val -125859" name="adj1"/>
              <a:gd fmla="val -26177" name="adj2"/>
              <a:gd fmla="val 16667" name="adj3"/>
            </a:avLst>
          </a:prstGeom>
          <a:solidFill>
            <a:srgbClr val="29AF8C">
              <a:alpha val="69803"/>
            </a:srgbClr>
          </a:solidFill>
          <a:ln cap="flat" cmpd="sng" w="12700">
            <a:solidFill>
              <a:srgbClr val="1D7F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36000" spcFirstLastPara="1" rIns="36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Operações (que podem requerer parâmetros e produzir um valor de retorno ou </a:t>
            </a:r>
            <a:r>
              <a:rPr i="1"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void</a:t>
            </a: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)</a:t>
            </a:r>
            <a:endParaRPr sz="14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8" name="Google Shape;198;p30"/>
          <p:cNvSpPr/>
          <p:nvPr/>
        </p:nvSpPr>
        <p:spPr>
          <a:xfrm>
            <a:off x="5851011" y="1846068"/>
            <a:ext cx="2722504" cy="1085311"/>
          </a:xfrm>
          <a:prstGeom prst="wedgeRoundRectCallout">
            <a:avLst>
              <a:gd fmla="val -153917" name="adj1"/>
              <a:gd fmla="val -83427" name="adj2"/>
              <a:gd fmla="val 16667" name="adj3"/>
            </a:avLst>
          </a:prstGeom>
          <a:solidFill>
            <a:srgbClr val="29AF8C">
              <a:alpha val="69803"/>
            </a:srgbClr>
          </a:solidFill>
          <a:ln cap="flat" cmpd="sng" w="12700">
            <a:solidFill>
              <a:srgbClr val="1D7F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36000" spcFirstLastPara="1" rIns="36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Operação especial: usado na inicialização de cada instância da classe (método Construtor)</a:t>
            </a:r>
            <a:endParaRPr sz="14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 txBox="1"/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Generalização</a:t>
            </a:r>
            <a:endParaRPr/>
          </a:p>
        </p:txBody>
      </p:sp>
      <p:sp>
        <p:nvSpPr>
          <p:cNvPr id="204" name="Google Shape;204;p31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205" name="Google Shape;205;p3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6" name="Google Shape;20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9865" y="1996068"/>
            <a:ext cx="6315129" cy="4323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9448" y="701943"/>
            <a:ext cx="7877175" cy="178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"/>
          <p:cNvSpPr txBox="1"/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O esteriótipo “property”</a:t>
            </a:r>
            <a:endParaRPr/>
          </a:p>
        </p:txBody>
      </p:sp>
      <p:sp>
        <p:nvSpPr>
          <p:cNvPr id="213" name="Google Shape;213;p32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214" name="Google Shape;214;p3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5" name="Google Shape;21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468" y="1633470"/>
            <a:ext cx="5803163" cy="4540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2829" y="889285"/>
            <a:ext cx="3673469" cy="1395508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2"/>
          <p:cNvSpPr/>
          <p:nvPr/>
        </p:nvSpPr>
        <p:spPr>
          <a:xfrm>
            <a:off x="5449310" y="4415651"/>
            <a:ext cx="3280506" cy="2123262"/>
          </a:xfrm>
          <a:prstGeom prst="wedgeRoundRectCallout">
            <a:avLst>
              <a:gd fmla="val -74906" name="adj1"/>
              <a:gd fmla="val 7962" name="adj2"/>
              <a:gd fmla="val 16667" name="adj3"/>
            </a:avLst>
          </a:prstGeom>
          <a:solidFill>
            <a:srgbClr val="29AF8C">
              <a:alpha val="69803"/>
            </a:srgbClr>
          </a:solidFill>
          <a:ln cap="flat" cmpd="sng" w="12700">
            <a:solidFill>
              <a:srgbClr val="1D7F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36000" spcFirstLastPara="1" rIns="360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Uma vez que os atributos são geralmente de acesso privados do objeto, em Java, é comum o “trio”: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"/>
              <a:buChar char="-"/>
            </a:pPr>
            <a:r>
              <a:rPr b="1"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Atributo </a:t>
            </a:r>
            <a:r>
              <a:rPr b="1" i="1"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abc</a:t>
            </a:r>
            <a:endParaRPr b="1" i="1" sz="14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"/>
              <a:buChar char="-"/>
            </a:pPr>
            <a:r>
              <a:rPr b="1" i="1"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getAbc()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"/>
              <a:buChar char="-"/>
            </a:pPr>
            <a:r>
              <a:rPr b="1" i="1"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setAbc()</a:t>
            </a:r>
            <a:endParaRPr b="1" i="1" sz="14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Podemos associar o esterótipo “property” e omitir os getters e setters</a:t>
            </a:r>
            <a:endParaRPr sz="14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8" name="Google Shape;218;p32"/>
          <p:cNvSpPr/>
          <p:nvPr/>
        </p:nvSpPr>
        <p:spPr>
          <a:xfrm>
            <a:off x="5449310" y="2879504"/>
            <a:ext cx="3086340" cy="1281435"/>
          </a:xfrm>
          <a:prstGeom prst="wedgeRoundRectCallout">
            <a:avLst>
              <a:gd fmla="val -109970" name="adj1"/>
              <a:gd fmla="val -62086" name="adj2"/>
              <a:gd fmla="val 16667" name="adj3"/>
            </a:avLst>
          </a:prstGeom>
          <a:solidFill>
            <a:srgbClr val="29AF8C">
              <a:alpha val="69803"/>
            </a:srgbClr>
          </a:solidFill>
          <a:ln cap="flat" cmpd="sng" w="12700">
            <a:solidFill>
              <a:srgbClr val="1D7F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36000" spcFirstLastPara="1" rIns="360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As operações que têm o nome igual ao da classe chamam-se construtores, e são usados para obter instâncias, passando dados de inicialização do objeto.</a:t>
            </a:r>
            <a:endParaRPr sz="14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3"/>
          <p:cNvSpPr txBox="1"/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Objetos enviam mensagens</a:t>
            </a:r>
            <a:endParaRPr/>
          </a:p>
        </p:txBody>
      </p:sp>
      <p:sp>
        <p:nvSpPr>
          <p:cNvPr id="224" name="Google Shape;224;p33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225" name="Google Shape;225;p3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6" name="Google Shape;22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55698"/>
            <a:ext cx="9144000" cy="394660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3"/>
          <p:cNvSpPr/>
          <p:nvPr/>
        </p:nvSpPr>
        <p:spPr>
          <a:xfrm>
            <a:off x="6115050" y="365127"/>
            <a:ext cx="2658113" cy="946430"/>
          </a:xfrm>
          <a:prstGeom prst="wedgeRoundRectCallout">
            <a:avLst>
              <a:gd fmla="val -169421" name="adj1"/>
              <a:gd fmla="val 104569" name="adj2"/>
              <a:gd fmla="val 16667" name="adj3"/>
            </a:avLst>
          </a:prstGeom>
          <a:solidFill>
            <a:srgbClr val="29AF8C">
              <a:alpha val="69803"/>
            </a:srgbClr>
          </a:solidFill>
          <a:ln cap="flat" cmpd="sng" w="12700">
            <a:solidFill>
              <a:srgbClr val="1D7F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36000" spcFirstLastPara="1" rIns="36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Operação especial: esta classe pode  ser usada para arrancar um programa.</a:t>
            </a:r>
            <a:endParaRPr sz="14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228" name="Google Shape;22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363" y="5562106"/>
            <a:ext cx="2158472" cy="982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90939" y="5546442"/>
            <a:ext cx="2343150" cy="12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38788" y="5546442"/>
            <a:ext cx="2562225" cy="124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4"/>
          <p:cNvSpPr txBox="1"/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…que podem ser vistas num modelo dinâmico</a:t>
            </a:r>
            <a:endParaRPr/>
          </a:p>
        </p:txBody>
      </p:sp>
      <p:sp>
        <p:nvSpPr>
          <p:cNvPr id="236" name="Google Shape;236;p34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237" name="Google Shape;237;p3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8" name="Google Shape;23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733" y="1038759"/>
            <a:ext cx="8834779" cy="5819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5"/>
          <p:cNvSpPr txBox="1"/>
          <p:nvPr>
            <p:ph type="title"/>
          </p:nvPr>
        </p:nvSpPr>
        <p:spPr>
          <a:xfrm>
            <a:off x="1785256" y="365126"/>
            <a:ext cx="6730094" cy="760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Alguns exemplos adicionais</a:t>
            </a:r>
            <a:endParaRPr/>
          </a:p>
        </p:txBody>
      </p:sp>
      <p:sp>
        <p:nvSpPr>
          <p:cNvPr id="244" name="Google Shape;244;p35"/>
          <p:cNvSpPr txBox="1"/>
          <p:nvPr>
            <p:ph idx="1" type="body"/>
          </p:nvPr>
        </p:nvSpPr>
        <p:spPr>
          <a:xfrm>
            <a:off x="1785254" y="1371601"/>
            <a:ext cx="6730095" cy="4805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45" name="Google Shape;245;p35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246" name="Google Shape;246;p3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7" name="Google Shape;247;p3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5254" y="1371601"/>
            <a:ext cx="5489279" cy="4114798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5">
            <a:hlinkClick r:id="rId5"/>
          </p:cNvPr>
          <p:cNvSpPr txBox="1"/>
          <p:nvPr/>
        </p:nvSpPr>
        <p:spPr>
          <a:xfrm>
            <a:off x="1664153" y="5594426"/>
            <a:ext cx="685119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https://stg-tud.github.io/eise/WS18-SE-08-Modeling-dynamic_Part.pdf</a:t>
            </a:r>
            <a:endParaRPr/>
          </a:p>
        </p:txBody>
      </p:sp>
      <p:sp>
        <p:nvSpPr>
          <p:cNvPr id="249" name="Google Shape;249;p35"/>
          <p:cNvSpPr/>
          <p:nvPr/>
        </p:nvSpPr>
        <p:spPr>
          <a:xfrm>
            <a:off x="6705743" y="4121371"/>
            <a:ext cx="1561813" cy="601975"/>
          </a:xfrm>
          <a:prstGeom prst="wedgeRoundRectCallout">
            <a:avLst>
              <a:gd fmla="val -85941" name="adj1"/>
              <a:gd fmla="val 190337" name="adj2"/>
              <a:gd fmla="val 16667" name="adj3"/>
            </a:avLst>
          </a:prstGeom>
          <a:solidFill>
            <a:srgbClr val="29AF8C">
              <a:alpha val="69803"/>
            </a:srgbClr>
          </a:solidFill>
          <a:ln cap="flat" cmpd="sng" w="12700">
            <a:solidFill>
              <a:srgbClr val="1D7F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36000" spcFirstLastPara="1" rIns="36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Pag. 27 a 34</a:t>
            </a:r>
            <a:endParaRPr sz="14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6"/>
          <p:cNvSpPr txBox="1"/>
          <p:nvPr>
            <p:ph type="title"/>
          </p:nvPr>
        </p:nvSpPr>
        <p:spPr>
          <a:xfrm>
            <a:off x="1785254" y="1709739"/>
            <a:ext cx="6725333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Noto Sans"/>
              <a:buNone/>
            </a:pPr>
            <a:r>
              <a:rPr lang="en-US"/>
              <a:t>UML para “visualizar” o código: estrutura e interação</a:t>
            </a:r>
            <a:endParaRPr/>
          </a:p>
        </p:txBody>
      </p:sp>
      <p:sp>
        <p:nvSpPr>
          <p:cNvPr id="259" name="Google Shape;259;p36"/>
          <p:cNvSpPr txBox="1"/>
          <p:nvPr>
            <p:ph idx="1" type="body"/>
          </p:nvPr>
        </p:nvSpPr>
        <p:spPr>
          <a:xfrm>
            <a:off x="1785256" y="4589464"/>
            <a:ext cx="6725332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t/>
            </a:r>
            <a:endParaRPr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0" name="Google Shape;260;p36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261" name="Google Shape;261;p3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5256" y="1038759"/>
            <a:ext cx="7315200" cy="50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7"/>
          <p:cNvSpPr txBox="1"/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O objetos Java colaboram para realizar objetivos</a:t>
            </a:r>
            <a:endParaRPr/>
          </a:p>
        </p:txBody>
      </p:sp>
      <p:sp>
        <p:nvSpPr>
          <p:cNvPr id="268" name="Google Shape;268;p37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269" name="Google Shape;269;p3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0" name="Google Shape;270;p37"/>
          <p:cNvSpPr/>
          <p:nvPr/>
        </p:nvSpPr>
        <p:spPr>
          <a:xfrm>
            <a:off x="6263640" y="5314600"/>
            <a:ext cx="2628900" cy="1009282"/>
          </a:xfrm>
          <a:prstGeom prst="wedgeRectCallout">
            <a:avLst>
              <a:gd fmla="val -43859" name="adj1"/>
              <a:gd fmla="val -86280" name="adj2"/>
            </a:avLst>
          </a:prstGeom>
          <a:gradFill>
            <a:gsLst>
              <a:gs pos="0">
                <a:srgbClr val="9DD9C2"/>
              </a:gs>
              <a:gs pos="50000">
                <a:srgbClr val="90CFB7"/>
              </a:gs>
              <a:gs pos="100000">
                <a:srgbClr val="7BCCAF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72000" spcFirstLastPara="1" rIns="720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Quais são as classes envolvidas?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O que podemos descobrir sobre o seu “esqueleto”  (operações e assinaturas, atributos)?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8"/>
          <p:cNvSpPr txBox="1"/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Vista estrutural (definição das classes)</a:t>
            </a:r>
            <a:endParaRPr/>
          </a:p>
        </p:txBody>
      </p:sp>
      <p:sp>
        <p:nvSpPr>
          <p:cNvPr id="276" name="Google Shape;276;p38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277" name="Google Shape;277;p3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8" name="Google Shape;278;p38"/>
          <p:cNvSpPr/>
          <p:nvPr/>
        </p:nvSpPr>
        <p:spPr>
          <a:xfrm>
            <a:off x="4800600" y="5347068"/>
            <a:ext cx="2979420" cy="1221371"/>
          </a:xfrm>
          <a:prstGeom prst="wedgeRectCallout">
            <a:avLst>
              <a:gd fmla="val -43859" name="adj1"/>
              <a:gd fmla="val -86280" name="adj2"/>
            </a:avLst>
          </a:prstGeom>
          <a:gradFill>
            <a:gsLst>
              <a:gs pos="0">
                <a:srgbClr val="9DD9C2"/>
              </a:gs>
              <a:gs pos="50000">
                <a:srgbClr val="90CFB7"/>
              </a:gs>
              <a:gs pos="100000">
                <a:srgbClr val="7BCCAF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72000" spcFirstLastPara="1" rIns="720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Os atributos que implicam um relacionamento entre classes estão representados como associações.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O esteriótipo &lt;&lt;Property&gt;&gt; marca atributos que têm </a:t>
            </a:r>
            <a:r>
              <a:rPr i="1" lang="en-US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getter</a:t>
            </a:r>
            <a:r>
              <a:rPr lang="en-US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 e </a:t>
            </a:r>
            <a:r>
              <a:rPr i="1" lang="en-US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setter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descr="Diagram&#10;&#10;Description automatically generated" id="279" name="Google Shape;27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84130"/>
            <a:ext cx="8917698" cy="3187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9"/>
          <p:cNvSpPr txBox="1"/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Vista dinâmica (interações entre objetos)</a:t>
            </a:r>
            <a:endParaRPr/>
          </a:p>
        </p:txBody>
      </p:sp>
      <p:sp>
        <p:nvSpPr>
          <p:cNvPr id="285" name="Google Shape;285;p39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286" name="Google Shape;286;p3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7" name="Google Shape;28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17274"/>
            <a:ext cx="9144000" cy="4423451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9"/>
          <p:cNvSpPr/>
          <p:nvPr/>
        </p:nvSpPr>
        <p:spPr>
          <a:xfrm>
            <a:off x="175260" y="5335052"/>
            <a:ext cx="2979420" cy="968376"/>
          </a:xfrm>
          <a:prstGeom prst="wedgeRectCallout">
            <a:avLst>
              <a:gd fmla="val -36954" name="adj1"/>
              <a:gd fmla="val -120903" name="adj2"/>
            </a:avLst>
          </a:prstGeom>
          <a:gradFill>
            <a:gsLst>
              <a:gs pos="0">
                <a:srgbClr val="9DD9C2"/>
              </a:gs>
              <a:gs pos="50000">
                <a:srgbClr val="90CFB7"/>
              </a:gs>
              <a:gs pos="100000">
                <a:srgbClr val="7BCCAF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72000" spcFirstLastPara="1" rIns="720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Qual a colaboração entre objetos necessária para implementar Encomenda#getTotal()?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0"/>
          <p:cNvSpPr txBox="1"/>
          <p:nvPr>
            <p:ph type="title"/>
          </p:nvPr>
        </p:nvSpPr>
        <p:spPr>
          <a:xfrm>
            <a:off x="1785254" y="1709739"/>
            <a:ext cx="6725333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Noto Sans"/>
              <a:buNone/>
            </a:pPr>
            <a:r>
              <a:rPr lang="en-US"/>
              <a:t>Do código podemos ir para o modelo.</a:t>
            </a:r>
            <a:br>
              <a:rPr lang="en-US"/>
            </a:br>
            <a:r>
              <a:rPr lang="en-US"/>
              <a:t>E se começarmos a “pensar” a solução pelo modelo?</a:t>
            </a:r>
            <a:endParaRPr/>
          </a:p>
        </p:txBody>
      </p:sp>
      <p:sp>
        <p:nvSpPr>
          <p:cNvPr id="298" name="Google Shape;298;p40"/>
          <p:cNvSpPr txBox="1"/>
          <p:nvPr>
            <p:ph idx="1" type="body"/>
          </p:nvPr>
        </p:nvSpPr>
        <p:spPr>
          <a:xfrm>
            <a:off x="1785256" y="4589464"/>
            <a:ext cx="6725332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t/>
            </a:r>
            <a:endParaRPr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9" name="Google Shape;299;p40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300" name="Google Shape;300;p4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1"/>
          <p:cNvSpPr txBox="1"/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t/>
            </a:r>
            <a:endParaRPr/>
          </a:p>
        </p:txBody>
      </p:sp>
      <p:sp>
        <p:nvSpPr>
          <p:cNvPr id="306" name="Google Shape;306;p41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307" name="Google Shape;307;p4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http://mysite.du.edu/~lmcdade/https---aanimesh.files.wordpress.com-2013-09-applying-uml-and-patterns-3rd/Image_389.jpg" id="308" name="Google Shape;308;p41"/>
          <p:cNvPicPr preferRelativeResize="0"/>
          <p:nvPr/>
        </p:nvPicPr>
        <p:blipFill rotWithShape="1">
          <a:blip r:embed="rId3">
            <a:alphaModFix/>
          </a:blip>
          <a:srcRect b="0" l="0" r="0" t="2047"/>
          <a:stretch/>
        </p:blipFill>
        <p:spPr>
          <a:xfrm>
            <a:off x="108885" y="0"/>
            <a:ext cx="6006165" cy="666936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41"/>
          <p:cNvSpPr/>
          <p:nvPr/>
        </p:nvSpPr>
        <p:spPr>
          <a:xfrm>
            <a:off x="5943600" y="4230152"/>
            <a:ext cx="2979420" cy="968376"/>
          </a:xfrm>
          <a:prstGeom prst="wedgeRectCallout">
            <a:avLst>
              <a:gd fmla="val -36954" name="adj1"/>
              <a:gd fmla="val -120903" name="adj2"/>
            </a:avLst>
          </a:prstGeom>
          <a:gradFill>
            <a:gsLst>
              <a:gs pos="0">
                <a:srgbClr val="9DD9C2"/>
              </a:gs>
              <a:gs pos="50000">
                <a:srgbClr val="90CFB7"/>
              </a:gs>
              <a:gs pos="100000">
                <a:srgbClr val="7BCCAF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72000" spcFirstLastPara="1" rIns="720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Da análise para o desenho: utilização dos resultados preparados pelo Analista (modelo do domínio, descrição functional)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2"/>
          <p:cNvSpPr txBox="1"/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t/>
            </a:r>
            <a:endParaRPr/>
          </a:p>
        </p:txBody>
      </p:sp>
      <p:sp>
        <p:nvSpPr>
          <p:cNvPr id="315" name="Google Shape;315;p42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316" name="Google Shape;316;p4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7" name="Google Shape;317;p42"/>
          <p:cNvPicPr preferRelativeResize="0"/>
          <p:nvPr/>
        </p:nvPicPr>
        <p:blipFill rotWithShape="1">
          <a:blip r:embed="rId3">
            <a:alphaModFix/>
          </a:blip>
          <a:srcRect b="12562" l="0" r="0" t="0"/>
          <a:stretch/>
        </p:blipFill>
        <p:spPr>
          <a:xfrm>
            <a:off x="3059832" y="-27384"/>
            <a:ext cx="5904656" cy="698298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42"/>
          <p:cNvSpPr/>
          <p:nvPr/>
        </p:nvSpPr>
        <p:spPr>
          <a:xfrm>
            <a:off x="179512" y="168474"/>
            <a:ext cx="2979420" cy="1175694"/>
          </a:xfrm>
          <a:prstGeom prst="wedgeRectCallout">
            <a:avLst>
              <a:gd fmla="val -1149" name="adj1"/>
              <a:gd fmla="val 122244" name="adj2"/>
            </a:avLst>
          </a:prstGeom>
          <a:gradFill>
            <a:gsLst>
              <a:gs pos="0">
                <a:srgbClr val="9DD9C2"/>
              </a:gs>
              <a:gs pos="50000">
                <a:srgbClr val="90CFB7"/>
              </a:gs>
              <a:gs pos="100000">
                <a:srgbClr val="7BCCAF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72000" spcFirstLastPara="1" rIns="720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In</a:t>
            </a:r>
            <a:r>
              <a:rPr lang="en-US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 Larman: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Passo de transição intermédio:  Diagrama de Sequência de Sistema (levantamento das funções “externas” de entrada no Sistema, a partir do CaU)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319" name="Google Shape;319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128" y="3136391"/>
            <a:ext cx="2416962" cy="3021203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42"/>
          <p:cNvSpPr txBox="1"/>
          <p:nvPr>
            <p:ph idx="4294967295" type="body"/>
          </p:nvPr>
        </p:nvSpPr>
        <p:spPr>
          <a:xfrm>
            <a:off x="1785256" y="1214322"/>
            <a:ext cx="6730094" cy="5064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3"/>
          <p:cNvSpPr txBox="1"/>
          <p:nvPr>
            <p:ph type="title"/>
          </p:nvPr>
        </p:nvSpPr>
        <p:spPr>
          <a:xfrm>
            <a:off x="1785256" y="365126"/>
            <a:ext cx="6730094" cy="760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t/>
            </a:r>
            <a:endParaRPr/>
          </a:p>
        </p:txBody>
      </p:sp>
      <p:sp>
        <p:nvSpPr>
          <p:cNvPr id="326" name="Google Shape;326;p43"/>
          <p:cNvSpPr txBox="1"/>
          <p:nvPr>
            <p:ph idx="1" type="body"/>
          </p:nvPr>
        </p:nvSpPr>
        <p:spPr>
          <a:xfrm>
            <a:off x="1785254" y="1371601"/>
            <a:ext cx="6730095" cy="4805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27" name="Google Shape;327;p43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328" name="Google Shape;328;p4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29" name="Google Shape;329;p43"/>
          <p:cNvPicPr preferRelativeResize="0"/>
          <p:nvPr/>
        </p:nvPicPr>
        <p:blipFill rotWithShape="1">
          <a:blip r:embed="rId3">
            <a:alphaModFix/>
          </a:blip>
          <a:srcRect b="17766" l="0" r="0" t="0"/>
          <a:stretch/>
        </p:blipFill>
        <p:spPr>
          <a:xfrm>
            <a:off x="237376" y="1289784"/>
            <a:ext cx="8906624" cy="5507892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43"/>
          <p:cNvSpPr/>
          <p:nvPr/>
        </p:nvSpPr>
        <p:spPr>
          <a:xfrm>
            <a:off x="628650" y="60324"/>
            <a:ext cx="2979420" cy="968376"/>
          </a:xfrm>
          <a:prstGeom prst="wedgeRectCallout">
            <a:avLst>
              <a:gd fmla="val -1149" name="adj1"/>
              <a:gd fmla="val 122244" name="adj2"/>
            </a:avLst>
          </a:prstGeom>
          <a:gradFill>
            <a:gsLst>
              <a:gs pos="0">
                <a:srgbClr val="9DD9C2"/>
              </a:gs>
              <a:gs pos="50000">
                <a:srgbClr val="90CFB7"/>
              </a:gs>
              <a:gs pos="100000">
                <a:srgbClr val="7BCCAF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72000" spcFirstLastPara="1" rIns="720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Expansão de cada operação de sistema: qual a colaboração concreta de objetos que a realiza? Processo de descoberta.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4"/>
          <p:cNvSpPr txBox="1"/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t/>
            </a:r>
            <a:endParaRPr/>
          </a:p>
        </p:txBody>
      </p:sp>
      <p:sp>
        <p:nvSpPr>
          <p:cNvPr id="336" name="Google Shape;336;p44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337" name="Google Shape;337;p4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8" name="Google Shape;33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8416" y="365127"/>
            <a:ext cx="5638385" cy="58253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4103" y="2921567"/>
            <a:ext cx="2212086" cy="2724244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44"/>
          <p:cNvSpPr/>
          <p:nvPr/>
        </p:nvSpPr>
        <p:spPr>
          <a:xfrm>
            <a:off x="177199" y="1086301"/>
            <a:ext cx="3242657" cy="1835266"/>
          </a:xfrm>
          <a:prstGeom prst="wedgeRectCallout">
            <a:avLst>
              <a:gd fmla="val 58769" name="adj1"/>
              <a:gd fmla="val 82008" name="adj2"/>
            </a:avLst>
          </a:prstGeom>
          <a:gradFill>
            <a:gsLst>
              <a:gs pos="0">
                <a:srgbClr val="9DD9C2"/>
              </a:gs>
              <a:gs pos="50000">
                <a:srgbClr val="90CFB7"/>
              </a:gs>
              <a:gs pos="100000">
                <a:srgbClr val="7BCCAF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72000" spcFirstLastPara="1" rIns="720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In Rosenbeg: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Da análise para o desenho: utilização dos resultados preparados pelo Analista para desenvolver o “modelo de robustez”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Três categorias de classes: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-"/>
            </a:pPr>
            <a:r>
              <a:rPr lang="en-US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Fronteiras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-"/>
            </a:pPr>
            <a:r>
              <a:rPr lang="en-US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Controladores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-"/>
            </a:pPr>
            <a:r>
              <a:rPr lang="en-US"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Entidades</a:t>
            </a:r>
            <a:endParaRPr sz="12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5"/>
          <p:cNvSpPr txBox="1"/>
          <p:nvPr>
            <p:ph type="title"/>
          </p:nvPr>
        </p:nvSpPr>
        <p:spPr>
          <a:xfrm>
            <a:off x="1785254" y="1709739"/>
            <a:ext cx="6725333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Noto Sans"/>
              <a:buNone/>
            </a:pPr>
            <a:r>
              <a:rPr lang="en-US"/>
              <a:t>“Pensar por objetos” é aplicar princípios para “distribuir” as responsabilidades pelas classes</a:t>
            </a:r>
            <a:endParaRPr/>
          </a:p>
        </p:txBody>
      </p:sp>
      <p:sp>
        <p:nvSpPr>
          <p:cNvPr id="350" name="Google Shape;350;p45"/>
          <p:cNvSpPr txBox="1"/>
          <p:nvPr>
            <p:ph idx="1" type="body"/>
          </p:nvPr>
        </p:nvSpPr>
        <p:spPr>
          <a:xfrm>
            <a:off x="1785256" y="4589464"/>
            <a:ext cx="6725332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t/>
            </a:r>
            <a:endParaRPr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1" name="Google Shape;351;p45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352" name="Google Shape;352;p4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6"/>
          <p:cNvSpPr txBox="1"/>
          <p:nvPr>
            <p:ph type="title"/>
          </p:nvPr>
        </p:nvSpPr>
        <p:spPr>
          <a:xfrm>
            <a:off x="1785256" y="365126"/>
            <a:ext cx="6730094" cy="760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Ao desenhar um diagrama de interação, estamos a atribuir responsabilidades</a:t>
            </a:r>
            <a:endParaRPr/>
          </a:p>
        </p:txBody>
      </p:sp>
      <p:sp>
        <p:nvSpPr>
          <p:cNvPr id="358" name="Google Shape;358;p46"/>
          <p:cNvSpPr txBox="1"/>
          <p:nvPr>
            <p:ph idx="1" type="body"/>
          </p:nvPr>
        </p:nvSpPr>
        <p:spPr>
          <a:xfrm>
            <a:off x="1785254" y="1371601"/>
            <a:ext cx="6730095" cy="4805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59" name="Google Shape;359;p46"/>
          <p:cNvSpPr txBox="1"/>
          <p:nvPr>
            <p:ph idx="4294967295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360" name="Google Shape;360;p46"/>
          <p:cNvSpPr txBox="1"/>
          <p:nvPr>
            <p:ph idx="4294967295" type="sldNum"/>
          </p:nvPr>
        </p:nvSpPr>
        <p:spPr>
          <a:xfrm>
            <a:off x="0" y="6356350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61" name="Google Shape;361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544" y="1371600"/>
            <a:ext cx="8208912" cy="4109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7"/>
          <p:cNvSpPr txBox="1"/>
          <p:nvPr>
            <p:ph type="title"/>
          </p:nvPr>
        </p:nvSpPr>
        <p:spPr>
          <a:xfrm>
            <a:off x="1785256" y="365126"/>
            <a:ext cx="6730094" cy="760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Referências</a:t>
            </a:r>
            <a:endParaRPr/>
          </a:p>
        </p:txBody>
      </p:sp>
      <p:sp>
        <p:nvSpPr>
          <p:cNvPr id="367" name="Google Shape;367;p4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68" name="Google Shape;368;p47"/>
          <p:cNvGraphicFramePr/>
          <p:nvPr/>
        </p:nvGraphicFramePr>
        <p:xfrm>
          <a:off x="628650" y="14890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{46375AB9-89B9-4DE0-98E2-D53C5F95739E}</a:tableStyleId>
              </a:tblPr>
              <a:tblGrid>
                <a:gridCol w="3849350"/>
                <a:gridCol w="40373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Core readings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Suggested readings</a:t>
                      </a:r>
                      <a:endParaRPr sz="20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2000"/>
                        <a:t>[Dennis15] – Chap. 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>
                        <a:solidFill>
                          <a:schemeClr val="dk1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[Larman04] – Chap. 17 and 18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2000"/>
                        <a:t>Slides by M. Eichberg : </a:t>
                      </a:r>
                      <a:r>
                        <a:rPr lang="en-US" sz="2000" u="sng">
                          <a:solidFill>
                            <a:schemeClr val="hlink"/>
                          </a:solidFill>
                          <a:hlinkClick r:id="rId3"/>
                        </a:rPr>
                        <a:t>SSD</a:t>
                      </a:r>
                      <a:r>
                        <a:rPr lang="en-US" sz="2000"/>
                        <a:t> and </a:t>
                      </a:r>
                      <a:r>
                        <a:rPr lang="en-US" sz="2000" u="sng">
                          <a:solidFill>
                            <a:schemeClr val="hlink"/>
                          </a:solidFill>
                          <a:hlinkClick r:id="rId4"/>
                        </a:rPr>
                        <a:t>OO-Design</a:t>
                      </a:r>
                      <a:r>
                        <a:rPr lang="en-US" sz="2000"/>
                        <a:t> </a:t>
                      </a:r>
                      <a:endParaRPr sz="2000">
                        <a:solidFill>
                          <a:schemeClr val="dk1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indent="-215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>
                        <a:solidFill>
                          <a:schemeClr val="dk1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indent="-215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>
                        <a:solidFill>
                          <a:schemeClr val="dk1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  <a:p>
                      <a:pPr indent="-215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>
                        <a:solidFill>
                          <a:schemeClr val="dk1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69" name="Google Shape;369;p47"/>
          <p:cNvSpPr txBox="1"/>
          <p:nvPr>
            <p:ph idx="11" type="ftr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