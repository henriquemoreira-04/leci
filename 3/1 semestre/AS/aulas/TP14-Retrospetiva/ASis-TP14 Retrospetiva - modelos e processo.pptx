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Open Sans Light" panose="020B03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ídio Oliveira" userId="2e6e6f6d-fff9-46ef-9091-884c6980c73a" providerId="ADAL" clId="{FBA8DEFD-EBC3-490D-8111-605AF93F32A3}"/>
    <pc:docChg chg="modSld">
      <pc:chgData name="Ilídio Oliveira" userId="2e6e6f6d-fff9-46ef-9091-884c6980c73a" providerId="ADAL" clId="{FBA8DEFD-EBC3-490D-8111-605AF93F32A3}" dt="2025-12-16T21:23:47.474" v="7" actId="20577"/>
      <pc:docMkLst>
        <pc:docMk/>
      </pc:docMkLst>
      <pc:sldChg chg="modSp mod">
        <pc:chgData name="Ilídio Oliveira" userId="2e6e6f6d-fff9-46ef-9091-884c6980c73a" providerId="ADAL" clId="{FBA8DEFD-EBC3-490D-8111-605AF93F32A3}" dt="2025-12-16T21:23:47.474" v="7" actId="20577"/>
        <pc:sldMkLst>
          <pc:docMk/>
          <pc:sldMk cId="0" sldId="256"/>
        </pc:sldMkLst>
        <pc:spChg chg="mod">
          <ac:chgData name="Ilídio Oliveira" userId="2e6e6f6d-fff9-46ef-9091-884c6980c73a" providerId="ADAL" clId="{FBA8DEFD-EBC3-490D-8111-605AF93F32A3}" dt="2025-12-16T21:23:47.474" v="7" actId="20577"/>
          <ac:spMkLst>
            <pc:docMk/>
            <pc:sldMk cId="0" sldId="256"/>
            <ac:spMk id="6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c5b5d5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5dc5b5d5a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35dc5b5d5a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dc5b5d5af_1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dc5b5d5af_1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dc5b5d5af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dc5b5d5af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dc5b5d5a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dc5b5d5a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dc5b5d5af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dc5b5d5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35dc5b5d5af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UML</a:t>
            </a:r>
            <a:endParaRPr/>
          </a:p>
          <a:p>
            <a:pPr marL="4318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 case - an oval with a name </a:t>
            </a:r>
            <a:endParaRPr/>
          </a:p>
          <a:p>
            <a:pPr marL="4318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Actor – a stick person to the left or right of your diagram</a:t>
            </a:r>
            <a:endParaRPr/>
          </a:p>
          <a:p>
            <a:pPr marL="4318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Relationship - simple lines between actors and use cases</a:t>
            </a:r>
            <a:endParaRPr/>
          </a:p>
          <a:p>
            <a:pPr marL="4318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System – a bounding rectangle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dc5b5d5af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5dc5b5d5a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dc5b5d5af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5dc5b5d5a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dc5b5d5af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5dc5b5d5a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dc5b5d5af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5dc5b5d5a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1224371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1224371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dc5b5d5af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5dc5b5d5a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dc5b5d5af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5dc5b5d5a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5470" y="1143355"/>
            <a:ext cx="5927100" cy="3085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dc5b5d5af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dc5b5d5af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dc5b5d5af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dc5b5d5af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12243719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12243719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dc5b5d5af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dc5b5d5af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Light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weet.ua.pt/ico/OpenUp/OpenUP_v1514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248208" y="15700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Light"/>
              <a:buNone/>
            </a:pPr>
            <a:r>
              <a:rPr lang="en" sz="3800"/>
              <a:t>Aplicação do Processo: </a:t>
            </a:r>
            <a:endParaRPr sz="3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Light"/>
              <a:buNone/>
            </a:pPr>
            <a:r>
              <a:rPr lang="en" sz="3800"/>
              <a:t>práticas do openUP e papel dos modelos (retrospectiva)</a:t>
            </a:r>
            <a:endParaRPr sz="380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248200" y="36596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/>
              <a:t>ASis | TP 2025/12/17</a:t>
            </a:r>
            <a:endParaRPr sz="2700" dirty="0"/>
          </a:p>
        </p:txBody>
      </p:sp>
      <p:pic>
        <p:nvPicPr>
          <p:cNvPr id="64" name="Google Shape;64;p14" descr="deti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3929" y="132691"/>
            <a:ext cx="2997220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UML ao longo do processo </a:t>
            </a:r>
            <a:endParaRPr sz="390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922" y="-125"/>
            <a:ext cx="461375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Aplicação dos modelos (UML)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UML pode ser aplicada ao  longo de todo o SDLC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Nem </a:t>
            </a:r>
            <a:r>
              <a:rPr lang="en" b="1"/>
              <a:t>todos </a:t>
            </a:r>
            <a:r>
              <a:rPr lang="en"/>
              <a:t>os modelos são </a:t>
            </a:r>
            <a:r>
              <a:rPr lang="en" b="1"/>
              <a:t>sempre </a:t>
            </a:r>
            <a:r>
              <a:rPr lang="en"/>
              <a:t>adequados em </a:t>
            </a:r>
            <a:r>
              <a:rPr lang="en" b="1"/>
              <a:t>todas </a:t>
            </a:r>
            <a:r>
              <a:rPr lang="en"/>
              <a:t>as atividades…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7550" y="1311300"/>
            <a:ext cx="4684475" cy="37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147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60"/>
              <a:t>Diversos diagramas para abranger diferentes perspectivas de análise</a:t>
            </a:r>
            <a:endParaRPr sz="1960"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983850"/>
            <a:ext cx="2808000" cy="25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casos de utilização proporcionam o contexto para ligar as várias perspectivas.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152400"/>
            <a:ext cx="5719499" cy="481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4285"/>
              <a:buFont typeface="Open Sans Light"/>
              <a:buNone/>
            </a:pPr>
            <a:r>
              <a:rPr lang="en"/>
              <a:t>CaU do Sistema: organizar a funcionalidade do sistema em episódios de utilização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4294967295"/>
          </p:nvPr>
        </p:nvSpPr>
        <p:spPr>
          <a:xfrm>
            <a:off x="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800"/>
              <a:buNone/>
            </a:pPr>
            <a:endParaRPr sz="2800"/>
          </a:p>
        </p:txBody>
      </p:sp>
      <p:pic>
        <p:nvPicPr>
          <p:cNvPr id="95" name="Google Shape;95;p18" descr="Hospital Management Use Cases Example for Receptio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9632" y="1113588"/>
            <a:ext cx="5357813" cy="387191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4285"/>
              <a:buFont typeface="Open Sans Light"/>
              <a:buNone/>
            </a:pPr>
            <a:r>
              <a:rPr lang="en"/>
              <a:t>Diagramas de atividades para explicar procedimentos do domínio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8472458" y="3497413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04" name="Google Shape;104;p19" descr="An example of Document Management Process activity diagram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122" y="1221600"/>
            <a:ext cx="6686550" cy="343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4285"/>
              <a:buFont typeface="Open Sans Light"/>
              <a:buNone/>
            </a:pPr>
            <a:r>
              <a:rPr lang="en"/>
              <a:t>Classes para representar os conceitos da área do problema (modelo do domínio)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12" name="Google Shape;112;p20" descr="Hospital wards, teams of doctors, and patient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3172" y="1075931"/>
            <a:ext cx="5552982" cy="4067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57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None/>
            </a:pPr>
            <a:r>
              <a:rPr lang="en" sz="3600"/>
              <a:t>Máquina de estados de entidades/objetos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20" name="Google Shape;120;p21" descr="Online shopping user account protocol state machine diagram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5002" y="374477"/>
            <a:ext cx="4482498" cy="4736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Light"/>
              <a:buNone/>
            </a:pPr>
            <a:r>
              <a:rPr lang="en"/>
              <a:t>Visualizar a arquitetura lógica com D. Pacotes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28" name="Google Shape;128;p22" descr="UML model diagram of a multi-layered applicatio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5736" y="923274"/>
            <a:ext cx="4493932" cy="4104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032100" cy="25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lógica (notação </a:t>
            </a:r>
            <a:r>
              <a:rPr lang="en" i="1"/>
              <a:t>ad-hoc</a:t>
            </a:r>
            <a:r>
              <a:rPr lang="en"/>
              <a:t>)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475" y="513752"/>
            <a:ext cx="5083915" cy="448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descr="Android Camera demo implementation classe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9896" y="810392"/>
            <a:ext cx="6851258" cy="45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4285"/>
              <a:buFont typeface="Open Sans Light"/>
              <a:buNone/>
            </a:pPr>
            <a:r>
              <a:rPr lang="en"/>
              <a:t>Classes para visualizar objetos de um linguagem de programação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Light"/>
              <a:buNone/>
            </a:pPr>
            <a:r>
              <a:rPr lang="en"/>
              <a:t>Interações entre componentes do software (d. seq.)</a:t>
            </a:r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ftr" idx="11"/>
          </p:nvPr>
        </p:nvSpPr>
        <p:spPr>
          <a:xfrm>
            <a:off x="628650" y="4767263"/>
            <a:ext cx="548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Oliveira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50" name="Google Shape;150;p25" descr="Sequence diagram example - Facebook User Authentication in a Web Applicatio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0083" y="922475"/>
            <a:ext cx="5724636" cy="6793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Diag. de componentes</a:t>
            </a:r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Components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Um componente representa uma unidade modular e “encapsulada” de um sistema, definida pelo seu comportamento através de interfaces.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Abstrai os pormenores de implementação, expondo apenas interfaces, requeridas e facultadas, o que baixa interdependência.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Ao contrário do “</a:t>
            </a:r>
            <a:r>
              <a:rPr lang="en" i="1"/>
              <a:t>package</a:t>
            </a:r>
            <a:r>
              <a:rPr lang="en"/>
              <a:t>”, que é uma abstração lógica, o componente inclui uma forma tangível (está implementado, produzido; é instalável).</a:t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451450"/>
            <a:ext cx="6024300" cy="291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Diag. de instalação</a:t>
            </a: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Deployment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Os diagramas de instalação UML mostram a perspetiva física do sistema, trazendo o software para o mundo real, mostrando como o código é atribuído ao hardware (onde é executado) e como as peças comunicam.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152400"/>
            <a:ext cx="5827100" cy="48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Vista de instalação</a:t>
            </a: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Representação </a:t>
            </a:r>
            <a:r>
              <a:rPr lang="en" i="1"/>
              <a:t>ad-hoc </a:t>
            </a:r>
            <a:r>
              <a:rPr lang="en"/>
              <a:t>(não UML)</a:t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250" y="53313"/>
            <a:ext cx="5926999" cy="50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docker-mark-blue[1]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651" y="1998376"/>
            <a:ext cx="361052" cy="28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 title="docker-mark-blue[1]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7201" y="2701501"/>
            <a:ext cx="361052" cy="28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 title="docker-mark-blue[1]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3101" y="270526"/>
            <a:ext cx="361052" cy="28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 title="docker-mark-blue[1]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301" y="1481926"/>
            <a:ext cx="361052" cy="28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 title="docker-mark-blue[1]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251" y="4456876"/>
            <a:ext cx="361052" cy="285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Práticas do (Open)UP </a:t>
            </a:r>
            <a:endParaRPr sz="4000"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Caracterizar a prática (o que é? Como aplicar bem?)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Perspetiva pessoal: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Qual o contributo/impacto para os “métodos ágeis” de desenvolvimento?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→ Como aplicámos essa Prática em ASis? </a:t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70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/>
        </p:nvSpPr>
        <p:spPr>
          <a:xfrm rot="-5400000">
            <a:off x="2738275" y="3811375"/>
            <a:ext cx="224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Generated by ChatGPT.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5" name="Google Shape;185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22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OpenUP</a:t>
            </a:r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Documentação online</a:t>
            </a:r>
            <a:r>
              <a:rPr lang="en" sz="1500"/>
              <a:t> (wiki)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i="1"/>
              <a:t>Quais as práticas que apela mais à utilização de modelos?</a:t>
            </a:r>
            <a:endParaRPr sz="1500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  <p:grpSp>
        <p:nvGrpSpPr>
          <p:cNvPr id="192" name="Google Shape;192;p30"/>
          <p:cNvGrpSpPr/>
          <p:nvPr/>
        </p:nvGrpSpPr>
        <p:grpSpPr>
          <a:xfrm>
            <a:off x="4832391" y="0"/>
            <a:ext cx="2897184" cy="5143501"/>
            <a:chOff x="4832391" y="0"/>
            <a:chExt cx="2897184" cy="5143501"/>
          </a:xfrm>
        </p:grpSpPr>
        <p:pic>
          <p:nvPicPr>
            <p:cNvPr id="193" name="Google Shape;193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2391" y="0"/>
              <a:ext cx="2808969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30"/>
            <p:cNvSpPr/>
            <p:nvPr/>
          </p:nvSpPr>
          <p:spPr>
            <a:xfrm>
              <a:off x="6978875" y="1095300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1</a:t>
              </a:r>
              <a:endParaRPr>
                <a:solidFill>
                  <a:srgbClr val="FF00FF"/>
                </a:solidFill>
              </a:endParaRPr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6872275" y="1351325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2</a:t>
              </a:r>
              <a:endParaRPr>
                <a:solidFill>
                  <a:srgbClr val="FF00FF"/>
                </a:solidFill>
              </a:endParaRPr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6443000" y="1736150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3</a:t>
              </a:r>
              <a:endParaRPr>
                <a:solidFill>
                  <a:srgbClr val="FF00FF"/>
                </a:solidFill>
              </a:endParaRPr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7046850" y="2821050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4</a:t>
              </a:r>
              <a:endParaRPr>
                <a:solidFill>
                  <a:srgbClr val="FF00FF"/>
                </a:solidFill>
              </a:endParaRPr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6537925" y="3448550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5</a:t>
              </a:r>
              <a:endParaRPr>
                <a:solidFill>
                  <a:srgbClr val="FF00FF"/>
                </a:solidFill>
              </a:endParaRPr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7233275" y="3670550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6</a:t>
              </a:r>
              <a:endParaRPr>
                <a:solidFill>
                  <a:srgbClr val="FF00FF"/>
                </a:solidFill>
              </a:endParaRPr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7507575" y="3892550"/>
              <a:ext cx="222000" cy="222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FF"/>
                  </a:solidFill>
                </a:rPr>
                <a:t>7</a:t>
              </a:r>
              <a:endParaRPr>
                <a:solidFill>
                  <a:srgbClr val="FF00FF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On-screen Show (16:9)</PresentationFormat>
  <Paragraphs>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Open Sans Light</vt:lpstr>
      <vt:lpstr>Arial</vt:lpstr>
      <vt:lpstr>Simple Light</vt:lpstr>
      <vt:lpstr>Aplicação do Processo:  práticas do openUP e papel dos modelos (retrospectiva)</vt:lpstr>
      <vt:lpstr>UML ao longo do processo </vt:lpstr>
      <vt:lpstr>Aplicação dos modelos (UML)</vt:lpstr>
      <vt:lpstr>Diversos diagramas para abranger diferentes perspectivas de análise</vt:lpstr>
      <vt:lpstr>CaU do Sistema: organizar a funcionalidade do sistema em episódios de utilização</vt:lpstr>
      <vt:lpstr>Diagramas de atividades para explicar procedimentos do domínio</vt:lpstr>
      <vt:lpstr>Classes para representar os conceitos da área do problema (modelo do domínio)</vt:lpstr>
      <vt:lpstr>Máquina de estados de entidades/objetos</vt:lpstr>
      <vt:lpstr>Visualizar a arquitetura lógica com D. Pacotes</vt:lpstr>
      <vt:lpstr>Arquitetura lógica (notação ad-hoc)</vt:lpstr>
      <vt:lpstr>Classes para visualizar objetos de um linguagem de programação</vt:lpstr>
      <vt:lpstr>Interações entre componentes do software (d. seq.)</vt:lpstr>
      <vt:lpstr>Diag. de componentes</vt:lpstr>
      <vt:lpstr>Diag. de instalação</vt:lpstr>
      <vt:lpstr>Vista de instalação</vt:lpstr>
      <vt:lpstr>Práticas do (Open)UP </vt:lpstr>
      <vt:lpstr>OpenUP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1</cp:revision>
  <dcterms:modified xsi:type="dcterms:W3CDTF">2025-12-16T21:23:53Z</dcterms:modified>
</cp:coreProperties>
</file>