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2" r:id="rId10"/>
    <p:sldId id="265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3"/>
      <p:bold r:id="rId14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20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01648"/>
            <a:ext cx="7556421" cy="169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50"/>
              </a:lnSpc>
              <a:buNone/>
            </a:pPr>
            <a:r>
              <a:rPr lang="en-US" sz="10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MultiPower</a:t>
            </a:r>
            <a:endParaRPr lang="en-US" sz="10250" dirty="0"/>
          </a:p>
        </p:txBody>
      </p:sp>
      <p:sp>
        <p:nvSpPr>
          <p:cNvPr id="5" name="Text 2"/>
          <p:cNvSpPr/>
          <p:nvPr/>
        </p:nvSpPr>
        <p:spPr>
          <a:xfrm>
            <a:off x="793790" y="5988459"/>
            <a:ext cx="75564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Apresentação de Requisitos e Modelo de </a:t>
            </a:r>
            <a:r>
              <a:rPr lang="en-US" sz="220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</a:t>
            </a:r>
            <a:endParaRPr lang="en-US" sz="2200" dirty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</a:rPr>
              <a:t>E2 - </a:t>
            </a:r>
            <a:r>
              <a:rPr lang="en-US" sz="2200" dirty="0" err="1">
                <a:solidFill>
                  <a:srgbClr val="67534F"/>
                </a:solidFill>
                <a:latin typeface="Montserrat" pitchFamily="34" charset="0"/>
              </a:rPr>
              <a:t>Análise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7392690"/>
            <a:ext cx="7556421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Equipa: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Grupo </a:t>
            </a:r>
            <a:r>
              <a:rPr lang="en-US" sz="140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Califórnia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Henrique, João, Nicolas - 28 de Outubro de 2025</a:t>
            </a:r>
            <a:endParaRPr lang="en-US" sz="14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0F6FA5E-6A7C-7726-BD82-6EECBCAC3731}"/>
              </a:ext>
            </a:extLst>
          </p:cNvPr>
          <p:cNvSpPr/>
          <p:nvPr/>
        </p:nvSpPr>
        <p:spPr>
          <a:xfrm>
            <a:off x="793790" y="2873217"/>
            <a:ext cx="7346600" cy="289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Organização</a:t>
            </a:r>
            <a:r>
              <a:rPr lang="en-US" sz="4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 </a:t>
            </a:r>
            <a:r>
              <a:rPr lang="en-US" sz="480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Otimização</a:t>
            </a:r>
            <a:r>
              <a:rPr lang="en-US" sz="4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do </a:t>
            </a:r>
            <a:r>
              <a:rPr lang="en-US" sz="480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Carregamento</a:t>
            </a:r>
            <a:r>
              <a:rPr lang="en-US" sz="4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de </a:t>
            </a:r>
            <a:r>
              <a:rPr lang="en-US" sz="480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Veículos</a:t>
            </a:r>
            <a:r>
              <a:rPr lang="en-US" sz="4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80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Elétricos</a:t>
            </a:r>
            <a:r>
              <a:rPr lang="en-US" sz="4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A7CF71-23DF-4791-628F-A35B0EE40ACA}"/>
              </a:ext>
            </a:extLst>
          </p:cNvPr>
          <p:cNvGrpSpPr/>
          <p:nvPr/>
        </p:nvGrpSpPr>
        <p:grpSpPr>
          <a:xfrm>
            <a:off x="11708393" y="7650610"/>
            <a:ext cx="2870342" cy="665706"/>
            <a:chOff x="0" y="1"/>
            <a:chExt cx="2870342" cy="665706"/>
          </a:xfrm>
        </p:grpSpPr>
        <p:pic>
          <p:nvPicPr>
            <p:cNvPr id="9" name="Picture 42" descr="ID+ no UA Research Summit 2022 - ID+">
              <a:extLst>
                <a:ext uri="{FF2B5EF4-FFF2-40B4-BE49-F238E27FC236}">
                  <a16:creationId xmlns:a16="http://schemas.microsoft.com/office/drawing/2014/main" id="{8F6E2254-FF87-2979-B5A3-A70F2BA092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18">
              <a:extLst>
                <a:ext uri="{FF2B5EF4-FFF2-40B4-BE49-F238E27FC236}">
                  <a16:creationId xmlns:a16="http://schemas.microsoft.com/office/drawing/2014/main" id="{9FB08DD4-5F4E-2AB0-61F5-DF9E1C49D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3191"/>
            <a:ext cx="7556421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Metodologia de Investigação e </a:t>
            </a:r>
            <a:r>
              <a:rPr lang="en-US" sz="35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Levantamento</a:t>
            </a:r>
            <a:r>
              <a:rPr lang="en-US" sz="3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de </a:t>
            </a:r>
            <a:r>
              <a:rPr lang="en-US" sz="35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requisitos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188131"/>
            <a:ext cx="158710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80190" y="2442924"/>
            <a:ext cx="7556421" cy="2286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pt-PT" sz="2000"/>
          </a:p>
        </p:txBody>
      </p:sp>
      <p:sp>
        <p:nvSpPr>
          <p:cNvPr id="6" name="Text 3"/>
          <p:cNvSpPr/>
          <p:nvPr/>
        </p:nvSpPr>
        <p:spPr>
          <a:xfrm>
            <a:off x="6280190" y="2567940"/>
            <a:ext cx="394977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Pesquisa Documental e Análise de APIs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80190" y="2959894"/>
            <a:ext cx="7556421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plataformas públicas como Mobi.e, Galp e Shell Recharge para compreender ecossistema existente.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80190" y="3650575"/>
            <a:ext cx="158710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80190" y="3905369"/>
            <a:ext cx="7556421" cy="2286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pt-PT" sz="2400"/>
          </a:p>
        </p:txBody>
      </p:sp>
      <p:sp>
        <p:nvSpPr>
          <p:cNvPr id="10" name="Text 7"/>
          <p:cNvSpPr/>
          <p:nvPr/>
        </p:nvSpPr>
        <p:spPr>
          <a:xfrm>
            <a:off x="6280190" y="4030385"/>
            <a:ext cx="338732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Definição de Personas e Cenários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80190" y="4422338"/>
            <a:ext cx="7556421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utilizadores principais: condutor típico, fornecedor de carga e administrador da plataforma.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80190" y="5113020"/>
            <a:ext cx="158710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5367814"/>
            <a:ext cx="7556421" cy="2286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pt-PT" sz="2400"/>
          </a:p>
        </p:txBody>
      </p:sp>
      <p:sp>
        <p:nvSpPr>
          <p:cNvPr id="14" name="Text 11"/>
          <p:cNvSpPr/>
          <p:nvPr/>
        </p:nvSpPr>
        <p:spPr>
          <a:xfrm>
            <a:off x="6280190" y="5492829"/>
            <a:ext cx="381654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Levantamento de Requisitos Iterativo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80190" y="5884784"/>
            <a:ext cx="660360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casos de uso, regras de negócio e iteração contínua com </a:t>
            </a:r>
            <a:r>
              <a:rPr lang="en-US" sz="160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</a:t>
            </a: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</a:t>
            </a: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80190" y="6369010"/>
            <a:ext cx="158710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80190" y="6623804"/>
            <a:ext cx="7556421" cy="2286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pt-PT" sz="2000"/>
          </a:p>
        </p:txBody>
      </p:sp>
      <p:sp>
        <p:nvSpPr>
          <p:cNvPr id="18" name="Text 15"/>
          <p:cNvSpPr/>
          <p:nvPr/>
        </p:nvSpPr>
        <p:spPr>
          <a:xfrm>
            <a:off x="6280190" y="6748820"/>
            <a:ext cx="328791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Validação Técnica e Integrações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80190" y="7140773"/>
            <a:ext cx="755642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Provas de conceito com pagamentos, mapas, autenticação e monitorização de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veículos</a:t>
            </a: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EB4980-810C-4E6D-84CB-5F731B6ABB2E}"/>
              </a:ext>
            </a:extLst>
          </p:cNvPr>
          <p:cNvGrpSpPr/>
          <p:nvPr/>
        </p:nvGrpSpPr>
        <p:grpSpPr>
          <a:xfrm>
            <a:off x="12883793" y="7659385"/>
            <a:ext cx="1746607" cy="570215"/>
            <a:chOff x="12883793" y="7659385"/>
            <a:chExt cx="1746607" cy="5702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825C746-E8B2-489B-DD83-80B6443B5076}"/>
                </a:ext>
              </a:extLst>
            </p:cNvPr>
            <p:cNvSpPr/>
            <p:nvPr/>
          </p:nvSpPr>
          <p:spPr>
            <a:xfrm>
              <a:off x="12883793" y="7659385"/>
              <a:ext cx="1746607" cy="570215"/>
            </a:xfrm>
            <a:prstGeom prst="rect">
              <a:avLst/>
            </a:prstGeom>
            <a:solidFill>
              <a:srgbClr val="FDFC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196E0003-F328-93CB-0FAC-B9A373DE3AC1}"/>
                </a:ext>
              </a:extLst>
            </p:cNvPr>
            <p:cNvSpPr/>
            <p:nvPr/>
          </p:nvSpPr>
          <p:spPr>
            <a:xfrm>
              <a:off x="13757096" y="7899624"/>
              <a:ext cx="723901" cy="2894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400" dirty="0">
                  <a:latin typeface="Montserrat" pitchFamily="34" charset="0"/>
                </a:rPr>
                <a:t>2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55" y="615196"/>
            <a:ext cx="5262324" cy="543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Atores Principais do Sistema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782955" y="1376720"/>
            <a:ext cx="7578090" cy="1450657"/>
          </a:xfrm>
          <a:prstGeom prst="roundRect">
            <a:avLst>
              <a:gd name="adj" fmla="val 4210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2"/>
          <p:cNvSpPr/>
          <p:nvPr/>
        </p:nvSpPr>
        <p:spPr>
          <a:xfrm>
            <a:off x="943570" y="1537335"/>
            <a:ext cx="436245" cy="436245"/>
          </a:xfrm>
          <a:prstGeom prst="roundRect">
            <a:avLst>
              <a:gd name="adj" fmla="val 2095860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585" y="1657231"/>
            <a:ext cx="196215" cy="196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3570" y="2118955"/>
            <a:ext cx="209038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Cliente/Condutor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43570" y="2477810"/>
            <a:ext cx="725685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Utilizador final que carrega o veículo através da aplicação.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2955" y="2972753"/>
            <a:ext cx="7578090" cy="1450657"/>
          </a:xfrm>
          <a:prstGeom prst="roundRect">
            <a:avLst>
              <a:gd name="adj" fmla="val 4210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943570" y="3133368"/>
            <a:ext cx="436245" cy="436245"/>
          </a:xfrm>
          <a:prstGeom prst="roundRect">
            <a:avLst>
              <a:gd name="adj" fmla="val 2095860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585" y="3253264"/>
            <a:ext cx="196215" cy="196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3570" y="3714988"/>
            <a:ext cx="209038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Fornecedor de Carga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943570" y="4073843"/>
            <a:ext cx="725685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Estações e operadores B2B que disponibilizam pontos de recarga.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82955" y="4568785"/>
            <a:ext cx="7578090" cy="1450657"/>
          </a:xfrm>
          <a:prstGeom prst="roundRect">
            <a:avLst>
              <a:gd name="adj" fmla="val 4210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0"/>
          <p:cNvSpPr/>
          <p:nvPr/>
        </p:nvSpPr>
        <p:spPr>
          <a:xfrm>
            <a:off x="943570" y="4729401"/>
            <a:ext cx="436245" cy="436245"/>
          </a:xfrm>
          <a:prstGeom prst="roundRect">
            <a:avLst>
              <a:gd name="adj" fmla="val 2095860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3585" y="4849297"/>
            <a:ext cx="196215" cy="196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3570" y="5311021"/>
            <a:ext cx="209038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Administrador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943570" y="5669875"/>
            <a:ext cx="725685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Gestão, suporte, monitorização e operações da plataforma.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82955" y="6164818"/>
            <a:ext cx="7578090" cy="1450657"/>
          </a:xfrm>
          <a:prstGeom prst="roundRect">
            <a:avLst>
              <a:gd name="adj" fmla="val 4210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4"/>
          <p:cNvSpPr/>
          <p:nvPr/>
        </p:nvSpPr>
        <p:spPr>
          <a:xfrm>
            <a:off x="943570" y="6325433"/>
            <a:ext cx="436245" cy="436245"/>
          </a:xfrm>
          <a:prstGeom prst="roundRect">
            <a:avLst>
              <a:gd name="adj" fmla="val 2095860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3585" y="6445329"/>
            <a:ext cx="196215" cy="196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3570" y="6907054"/>
            <a:ext cx="2144554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Fornecedor de Energia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943570" y="7265908"/>
            <a:ext cx="725685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Medição, telemetria e dados de consumo energético.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33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618530"/>
            <a:ext cx="7569517" cy="142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Casos de Utilização — Visão Geral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87241" y="2525554"/>
            <a:ext cx="288536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UC1 — Postos de Carga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87241" y="3073956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Descobrir pontos próximos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7241" y="3389352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Consultar disponibilidade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7241" y="3704749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Navegação ao local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7241" y="4144327"/>
            <a:ext cx="327802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UC3 — Suporte ao Cliente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7241" y="4692729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tickets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7241" y="5008126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Mensagens em tempo real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7241" y="5323523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Avaliações de serviço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7241" y="5763101"/>
            <a:ext cx="3551515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UC5 — Conta e Autenticação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787241" y="6185928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Registo e login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7241" y="6501324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Recuperação de dados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7241" y="6816721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perfil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12863" y="2525554"/>
            <a:ext cx="331815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UC2 — Gestão de Veículos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4812863" y="3073956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Adicionar/editar dados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12863" y="3389352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Monitorar autonomia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12863" y="3704749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Sincronização automática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12863" y="4144327"/>
            <a:ext cx="274855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UC4 — Pagamentos</a:t>
            </a:r>
            <a:endParaRPr lang="en-US" sz="2150" dirty="0"/>
          </a:p>
        </p:txBody>
      </p:sp>
      <p:sp>
        <p:nvSpPr>
          <p:cNvPr id="21" name="Text 18"/>
          <p:cNvSpPr/>
          <p:nvPr/>
        </p:nvSpPr>
        <p:spPr>
          <a:xfrm>
            <a:off x="4812863" y="4692729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Efetuar transações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812863" y="5008126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Histórico de pagamentos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812863" y="5323523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métodos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12863" y="5763101"/>
            <a:ext cx="3551515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UC6 — Análise e Consultoria</a:t>
            </a:r>
            <a:endParaRPr lang="en-US" sz="2150" dirty="0"/>
          </a:p>
        </p:txBody>
      </p:sp>
      <p:sp>
        <p:nvSpPr>
          <p:cNvPr id="25" name="Text 22"/>
          <p:cNvSpPr/>
          <p:nvPr/>
        </p:nvSpPr>
        <p:spPr>
          <a:xfrm>
            <a:off x="4812863" y="6185928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Recomendações inteligentes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812863" y="6501324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Comparações de tarifas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812863" y="6816721"/>
            <a:ext cx="355151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assistente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5567"/>
            <a:ext cx="7556421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Requisitos Não Funcionais Prioritários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93790" y="2354104"/>
            <a:ext cx="7556421" cy="1328261"/>
          </a:xfrm>
          <a:prstGeom prst="roundRect">
            <a:avLst>
              <a:gd name="adj" fmla="val 8261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2"/>
          <p:cNvSpPr/>
          <p:nvPr/>
        </p:nvSpPr>
        <p:spPr>
          <a:xfrm>
            <a:off x="770930" y="2354104"/>
            <a:ext cx="91440" cy="1328261"/>
          </a:xfrm>
          <a:prstGeom prst="roundRect">
            <a:avLst>
              <a:gd name="adj" fmla="val 83349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1066681" y="2558415"/>
            <a:ext cx="281987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Otimização de Recursos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66681" y="3006328"/>
            <a:ext cx="7079218" cy="47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Consumo mínimo de bateria e dados; atualizações de mapa eficientes e modo offline.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3790" y="3863816"/>
            <a:ext cx="7556421" cy="1092398"/>
          </a:xfrm>
          <a:prstGeom prst="roundRect">
            <a:avLst>
              <a:gd name="adj" fmla="val 10045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CC52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770930" y="3863816"/>
            <a:ext cx="91440" cy="1092398"/>
          </a:xfrm>
          <a:prstGeom prst="roundRect">
            <a:avLst>
              <a:gd name="adj" fmla="val 83349"/>
            </a:avLst>
          </a:prstGeom>
          <a:solidFill>
            <a:srgbClr val="CC520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1066681" y="4068128"/>
            <a:ext cx="374273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Compatibilidade de Dispositivos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66681" y="4516041"/>
            <a:ext cx="7079218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Suporte a devices de gama média (≥3GB RAM, Android 10+, iOS 13+).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3790" y="5137666"/>
            <a:ext cx="7556421" cy="1092398"/>
          </a:xfrm>
          <a:prstGeom prst="roundRect">
            <a:avLst>
              <a:gd name="adj" fmla="val 10045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7D3E2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0"/>
          <p:cNvSpPr/>
          <p:nvPr/>
        </p:nvSpPr>
        <p:spPr>
          <a:xfrm>
            <a:off x="770930" y="5137666"/>
            <a:ext cx="91440" cy="1092398"/>
          </a:xfrm>
          <a:prstGeom prst="roundRect">
            <a:avLst>
              <a:gd name="adj" fmla="val 83349"/>
            </a:avLst>
          </a:prstGeom>
          <a:solidFill>
            <a:srgbClr val="7D3E2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1066681" y="5341977"/>
            <a:ext cx="260842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Performance Crítica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66681" y="5789890"/>
            <a:ext cx="7079218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Pesquisa &lt;3s, pagamento &lt;10s, atualização de mapa a cada 30s.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93790" y="6411516"/>
            <a:ext cx="7556421" cy="1092398"/>
          </a:xfrm>
          <a:prstGeom prst="roundRect">
            <a:avLst>
              <a:gd name="adj" fmla="val 10045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53241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770930" y="6411516"/>
            <a:ext cx="91440" cy="1092398"/>
          </a:xfrm>
          <a:prstGeom prst="roundRect">
            <a:avLst>
              <a:gd name="adj" fmla="val 83349"/>
            </a:avLst>
          </a:prstGeom>
          <a:solidFill>
            <a:srgbClr val="53241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1066681" y="6615827"/>
            <a:ext cx="284773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Segurança e Privacidade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1066681" y="7063740"/>
            <a:ext cx="7079218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Cifrado de dados, 2FA opcional, conformidade RGPD, sem tracking contínuo.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6755"/>
            <a:ext cx="9677162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Modelo do Domínio — Conceitos Principais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13" y="1597700"/>
            <a:ext cx="9782056" cy="5512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3736" y="2075365"/>
            <a:ext cx="2453572" cy="324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Cliente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013736" y="2476503"/>
            <a:ext cx="2453572" cy="43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 associada ao usuário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29855" y="2075365"/>
            <a:ext cx="2440521" cy="324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Veículo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129855" y="2476503"/>
            <a:ext cx="2440521" cy="43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Sessão de recarga registrada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05243" y="5779561"/>
            <a:ext cx="2362216" cy="324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Posto de Carga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105243" y="6180698"/>
            <a:ext cx="2362216" cy="43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e método disponíveis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1550" y="6406280"/>
            <a:ext cx="2518826" cy="324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Suporte Técnico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51550" y="6807417"/>
            <a:ext cx="2518826" cy="43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 inteligente para problemas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3790" y="7301746"/>
            <a:ext cx="13042821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Mapeamento dos principais conceitos, entidades e suas relações no domínio de otimização de carregamento de veículos elétricos.</a:t>
            </a:r>
            <a:endParaRPr lang="en-US" sz="13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2F5461-2537-9B7D-EA22-7570083331C6}"/>
              </a:ext>
            </a:extLst>
          </p:cNvPr>
          <p:cNvGrpSpPr/>
          <p:nvPr/>
        </p:nvGrpSpPr>
        <p:grpSpPr>
          <a:xfrm>
            <a:off x="12883793" y="7659385"/>
            <a:ext cx="1746607" cy="570215"/>
            <a:chOff x="12883793" y="7659385"/>
            <a:chExt cx="1746607" cy="57021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865D75-1519-FF40-B77F-00485A2B9CDF}"/>
                </a:ext>
              </a:extLst>
            </p:cNvPr>
            <p:cNvSpPr/>
            <p:nvPr/>
          </p:nvSpPr>
          <p:spPr>
            <a:xfrm>
              <a:off x="12883793" y="7659385"/>
              <a:ext cx="1746607" cy="570215"/>
            </a:xfrm>
            <a:prstGeom prst="rect">
              <a:avLst/>
            </a:prstGeom>
            <a:solidFill>
              <a:srgbClr val="FDFC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BD2F6157-8B09-FE8B-7E09-9EE88EBC02AF}"/>
                </a:ext>
              </a:extLst>
            </p:cNvPr>
            <p:cNvSpPr/>
            <p:nvPr/>
          </p:nvSpPr>
          <p:spPr>
            <a:xfrm>
              <a:off x="13757096" y="7899624"/>
              <a:ext cx="723901" cy="2894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400" dirty="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3657C6-8434-F78A-9ECE-A5227161F025}"/>
              </a:ext>
            </a:extLst>
          </p:cNvPr>
          <p:cNvGrpSpPr/>
          <p:nvPr/>
        </p:nvGrpSpPr>
        <p:grpSpPr>
          <a:xfrm>
            <a:off x="12883793" y="7659385"/>
            <a:ext cx="1746607" cy="570215"/>
            <a:chOff x="12883793" y="7659385"/>
            <a:chExt cx="1746607" cy="570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616AD5E-B2B6-8E6A-4F6A-78A90BB00C33}"/>
                </a:ext>
              </a:extLst>
            </p:cNvPr>
            <p:cNvSpPr/>
            <p:nvPr/>
          </p:nvSpPr>
          <p:spPr>
            <a:xfrm>
              <a:off x="12883793" y="7659385"/>
              <a:ext cx="1746607" cy="570215"/>
            </a:xfrm>
            <a:prstGeom prst="rect">
              <a:avLst/>
            </a:prstGeom>
            <a:solidFill>
              <a:srgbClr val="FDFC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" name="Text 8">
              <a:extLst>
                <a:ext uri="{FF2B5EF4-FFF2-40B4-BE49-F238E27FC236}">
                  <a16:creationId xmlns:a16="http://schemas.microsoft.com/office/drawing/2014/main" id="{6F53181E-CF89-F645-35B7-9FB5034CDB44}"/>
                </a:ext>
              </a:extLst>
            </p:cNvPr>
            <p:cNvSpPr/>
            <p:nvPr/>
          </p:nvSpPr>
          <p:spPr>
            <a:xfrm>
              <a:off x="13757096" y="7899624"/>
              <a:ext cx="723901" cy="2894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400" dirty="0">
                  <a:latin typeface="Montserrat" pitchFamily="34" charset="0"/>
                </a:rPr>
                <a:t>7</a:t>
              </a:r>
              <a:endParaRPr lang="en-US" sz="1250" dirty="0"/>
            </a:p>
          </p:txBody>
        </p:sp>
      </p:grp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6A49E728-859C-8B09-4B4D-40EC5A63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523875"/>
            <a:ext cx="8039100" cy="718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7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2465"/>
            <a:ext cx="10894933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Roadmap por Épicos — Mapeamento Estratégico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3402330" y="1648420"/>
            <a:ext cx="1304211" cy="1202174"/>
          </a:xfrm>
          <a:prstGeom prst="roundRect">
            <a:avLst>
              <a:gd name="adj" fmla="val 5943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934777" y="2093952"/>
            <a:ext cx="23919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76562" y="1818442"/>
            <a:ext cx="244542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A — Núcleo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876562" y="2238375"/>
            <a:ext cx="8790027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Descoberta e Recarga (UC1, UC4): MVP com funcionalidades essenciais de busca, seleção, pagamento e recarga.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91551" y="2841069"/>
            <a:ext cx="8960048" cy="11430"/>
          </a:xfrm>
          <a:prstGeom prst="roundRect">
            <a:avLst>
              <a:gd name="adj" fmla="val 625116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2750106" y="2935605"/>
            <a:ext cx="2608540" cy="1202174"/>
          </a:xfrm>
          <a:prstGeom prst="roundRect">
            <a:avLst>
              <a:gd name="adj" fmla="val 5943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934777" y="3381137"/>
            <a:ext cx="23919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28667" y="3105626"/>
            <a:ext cx="328481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B — Gestão de Veículos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528667" y="3525560"/>
            <a:ext cx="8137922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UC2: Adicionar/editar veículos, sincronização automática de dados e monitorização em tempo real.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3657" y="4128254"/>
            <a:ext cx="8307943" cy="11430"/>
          </a:xfrm>
          <a:prstGeom prst="roundRect">
            <a:avLst>
              <a:gd name="adj" fmla="val 625116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2098000" y="4222790"/>
            <a:ext cx="3912751" cy="981075"/>
          </a:xfrm>
          <a:prstGeom prst="roundRect">
            <a:avLst>
              <a:gd name="adj" fmla="val 7283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934777" y="4557832"/>
            <a:ext cx="23919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80773" y="4392811"/>
            <a:ext cx="330327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C — Conta e Segurança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180773" y="4812744"/>
            <a:ext cx="6460688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UC5: Registo, autenticação, 2FA e gestão segura de métodos de pagamento.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762" y="5194340"/>
            <a:ext cx="7655838" cy="11430"/>
          </a:xfrm>
          <a:prstGeom prst="roundRect">
            <a:avLst>
              <a:gd name="adj" fmla="val 625116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1445895" y="5288875"/>
            <a:ext cx="5217081" cy="981075"/>
          </a:xfrm>
          <a:prstGeom prst="roundRect">
            <a:avLst>
              <a:gd name="adj" fmla="val 7283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3934777" y="5623917"/>
            <a:ext cx="23919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32997" y="5458897"/>
            <a:ext cx="340209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D — Suporte e Feedback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32997" y="5878830"/>
            <a:ext cx="5562243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UC3: Chatbot básico, sistema de tickets e avaliações de satisfação.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47986" y="6260425"/>
            <a:ext cx="7003613" cy="11430"/>
          </a:xfrm>
          <a:prstGeom prst="roundRect">
            <a:avLst>
              <a:gd name="adj" fmla="val 625116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793790" y="6354961"/>
            <a:ext cx="6521410" cy="1202174"/>
          </a:xfrm>
          <a:prstGeom prst="roundRect">
            <a:avLst>
              <a:gd name="adj" fmla="val 5943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934897" y="6800493"/>
            <a:ext cx="23919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85221" y="6524982"/>
            <a:ext cx="343923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E — Inteligência Artificial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485221" y="6944916"/>
            <a:ext cx="6181368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UC6: Recomendações inteligentes, relatórios de consumo e previsões com analytics avançada.</a:t>
            </a:r>
            <a:endParaRPr lang="en-US" sz="13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76B920-CFFE-8FCC-BC07-30F483D5D4C0}"/>
              </a:ext>
            </a:extLst>
          </p:cNvPr>
          <p:cNvGrpSpPr/>
          <p:nvPr/>
        </p:nvGrpSpPr>
        <p:grpSpPr>
          <a:xfrm>
            <a:off x="12883793" y="7659385"/>
            <a:ext cx="1746607" cy="570215"/>
            <a:chOff x="12883793" y="7659385"/>
            <a:chExt cx="1746607" cy="57021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674C272-886A-EBE2-D26C-CD5DAC341DE4}"/>
                </a:ext>
              </a:extLst>
            </p:cNvPr>
            <p:cNvSpPr/>
            <p:nvPr/>
          </p:nvSpPr>
          <p:spPr>
            <a:xfrm>
              <a:off x="12883793" y="7659385"/>
              <a:ext cx="1746607" cy="570215"/>
            </a:xfrm>
            <a:prstGeom prst="rect">
              <a:avLst/>
            </a:prstGeom>
            <a:solidFill>
              <a:srgbClr val="FDFC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00FD30EA-169D-F48C-9EEF-EE7A7C1E280D}"/>
                </a:ext>
              </a:extLst>
            </p:cNvPr>
            <p:cNvSpPr/>
            <p:nvPr/>
          </p:nvSpPr>
          <p:spPr>
            <a:xfrm>
              <a:off x="13757096" y="7899624"/>
              <a:ext cx="723901" cy="2894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400" dirty="0">
                  <a:latin typeface="Montserrat" pitchFamily="34" charset="0"/>
                </a:rPr>
                <a:t>8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75070" y="2338864"/>
            <a:ext cx="431006" cy="431006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6897529" y="2398633"/>
            <a:ext cx="4242078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Integração de APIs é Fundamental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897529" y="2871430"/>
            <a:ext cx="694420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Disponibilidade em tempo real e variedade de formatos de dados exigem arquitetura robusta e adaptável.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75070" y="3752374"/>
            <a:ext cx="431006" cy="431006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897529" y="3812143"/>
            <a:ext cx="3969425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Privacidade e Regulação (RGPD)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897529" y="4284940"/>
            <a:ext cx="694420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 de design devem evitar tracking contínuo, anonimizar percursos e garantir transparência total.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75070" y="5165884"/>
            <a:ext cx="431006" cy="431006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6897529" y="5225653"/>
            <a:ext cx="4180761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Gestão Complexa de Pagamentos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897529" y="5698450"/>
            <a:ext cx="694420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Políticas de depósito, reembolso e no-show requerem regras claras, suporte legal e comunicação transparente.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5070" y="6579394"/>
            <a:ext cx="431006" cy="431006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897529" y="6639163"/>
            <a:ext cx="4235410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Modo Offline e Cache Estratégico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897529" y="7111960"/>
            <a:ext cx="694420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Essencial para qualidade de experiência em áreas com cobertura fraca ou instável.</a:t>
            </a:r>
            <a:endParaRPr lang="en-US" sz="15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C631F3-FB06-9A45-7A44-DEDECBC84C6E}"/>
              </a:ext>
            </a:extLst>
          </p:cNvPr>
          <p:cNvGrpSpPr/>
          <p:nvPr/>
        </p:nvGrpSpPr>
        <p:grpSpPr>
          <a:xfrm>
            <a:off x="12883793" y="7659385"/>
            <a:ext cx="1746607" cy="570215"/>
            <a:chOff x="12883793" y="7659385"/>
            <a:chExt cx="1746607" cy="57021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B3B66E-EDE6-2C98-7A16-9B9E10186023}"/>
                </a:ext>
              </a:extLst>
            </p:cNvPr>
            <p:cNvSpPr/>
            <p:nvPr/>
          </p:nvSpPr>
          <p:spPr>
            <a:xfrm>
              <a:off x="12883793" y="7659385"/>
              <a:ext cx="1746607" cy="570215"/>
            </a:xfrm>
            <a:prstGeom prst="rect">
              <a:avLst/>
            </a:prstGeom>
            <a:solidFill>
              <a:srgbClr val="FDFC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5838331F-81FD-54C8-871E-2BD5BE4CC2FD}"/>
                </a:ext>
              </a:extLst>
            </p:cNvPr>
            <p:cNvSpPr/>
            <p:nvPr/>
          </p:nvSpPr>
          <p:spPr>
            <a:xfrm>
              <a:off x="13757096" y="7899624"/>
              <a:ext cx="723901" cy="2894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400" dirty="0">
                  <a:latin typeface="Montserrat" pitchFamily="34" charset="0"/>
                </a:rPr>
                <a:t>9</a:t>
              </a:r>
              <a:endParaRPr lang="en-US" sz="1250" dirty="0"/>
            </a:p>
          </p:txBody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1F8965AB-E898-B870-E6B7-55847E038427}"/>
              </a:ext>
            </a:extLst>
          </p:cNvPr>
          <p:cNvSpPr/>
          <p:nvPr/>
        </p:nvSpPr>
        <p:spPr>
          <a:xfrm>
            <a:off x="6237543" y="914638"/>
            <a:ext cx="10894933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Aprendizagens</a:t>
            </a: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38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Críticas</a:t>
            </a: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38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na</a:t>
            </a: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38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análise</a:t>
            </a:r>
            <a:endParaRPr lang="en-US" sz="3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363986"/>
            <a:ext cx="907256" cy="12825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68897" y="2545437"/>
            <a:ext cx="260842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Refinar Especificação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368897" y="2993350"/>
            <a:ext cx="6467713" cy="47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Consolidar entrada de stakeholders, desenvolvimento técnico e validação de casos de uso críticos.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646527"/>
            <a:ext cx="907256" cy="12825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68897" y="3827978"/>
            <a:ext cx="271831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Protótipos de Interface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368897" y="4275892"/>
            <a:ext cx="6467713" cy="47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requisitos de interação, fluxo de pagamentos e experiência de utilizador em contextos reais.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929068"/>
            <a:ext cx="907256" cy="12825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68897" y="5110520"/>
            <a:ext cx="613523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PT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</a:rPr>
              <a:t>Análise e Mapeamento de Regras de Negócio</a:t>
            </a:r>
          </a:p>
        </p:txBody>
      </p:sp>
      <p:sp>
        <p:nvSpPr>
          <p:cNvPr id="12" name="Text 6"/>
          <p:cNvSpPr/>
          <p:nvPr/>
        </p:nvSpPr>
        <p:spPr>
          <a:xfrm>
            <a:off x="7368897" y="5413470"/>
            <a:ext cx="7027327" cy="47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pt-PT" sz="1400" dirty="0">
                <a:solidFill>
                  <a:srgbClr val="67534F"/>
                </a:solidFill>
                <a:latin typeface="Montserrat" pitchFamily="34" charset="0"/>
              </a:rPr>
              <a:t>Documentar, validar e priorizar as regras de negócio críticas (core business rules), garantindo que estejam alinhadas aos objetivos estratégicos e que sirvam de base para os requisitos funcionais do sistema.</a:t>
            </a:r>
            <a:endParaRPr lang="en-US" sz="1400" dirty="0">
              <a:solidFill>
                <a:srgbClr val="67534F"/>
              </a:solidFill>
              <a:latin typeface="Montserrat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211610"/>
            <a:ext cx="907256" cy="128254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68897" y="6393061"/>
            <a:ext cx="306312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Métricas e Monitorização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7368897" y="6840974"/>
            <a:ext cx="6467713" cy="47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Estabelecer KPIs de latência, disponibilidade, satisfação de utilizador e conformidade regulatória.</a:t>
            </a:r>
            <a:endParaRPr lang="en-US" sz="1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3D3E23-B84C-A9FE-2DB5-A8685992A07C}"/>
              </a:ext>
            </a:extLst>
          </p:cNvPr>
          <p:cNvGrpSpPr/>
          <p:nvPr/>
        </p:nvGrpSpPr>
        <p:grpSpPr>
          <a:xfrm>
            <a:off x="12883793" y="7659385"/>
            <a:ext cx="1746607" cy="570215"/>
            <a:chOff x="12883793" y="7659385"/>
            <a:chExt cx="1746607" cy="57021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02B0675-1474-C498-D89D-45D66C097C0D}"/>
                </a:ext>
              </a:extLst>
            </p:cNvPr>
            <p:cNvSpPr/>
            <p:nvPr/>
          </p:nvSpPr>
          <p:spPr>
            <a:xfrm>
              <a:off x="12883793" y="7659385"/>
              <a:ext cx="1746607" cy="570215"/>
            </a:xfrm>
            <a:prstGeom prst="rect">
              <a:avLst/>
            </a:prstGeom>
            <a:solidFill>
              <a:srgbClr val="FDFC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69BF3B89-6246-8297-89CF-1AFBBFD4DFA8}"/>
                </a:ext>
              </a:extLst>
            </p:cNvPr>
            <p:cNvSpPr/>
            <p:nvPr/>
          </p:nvSpPr>
          <p:spPr>
            <a:xfrm>
              <a:off x="13757096" y="7899624"/>
              <a:ext cx="723901" cy="2894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400" dirty="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</a:t>
              </a:r>
              <a:endParaRPr lang="en-US" sz="1250" dirty="0"/>
            </a:p>
          </p:txBody>
        </p:sp>
      </p:grpSp>
      <p:sp>
        <p:nvSpPr>
          <p:cNvPr id="19" name="Text 0">
            <a:extLst>
              <a:ext uri="{FF2B5EF4-FFF2-40B4-BE49-F238E27FC236}">
                <a16:creationId xmlns:a16="http://schemas.microsoft.com/office/drawing/2014/main" id="{AC9CA6F9-AF9B-1440-156E-789A61CBEE44}"/>
              </a:ext>
            </a:extLst>
          </p:cNvPr>
          <p:cNvSpPr/>
          <p:nvPr/>
        </p:nvSpPr>
        <p:spPr>
          <a:xfrm>
            <a:off x="6385293" y="1075015"/>
            <a:ext cx="9677162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Próximos</a:t>
            </a: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Passos</a:t>
            </a:r>
            <a:endParaRPr lang="en-US" sz="3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704</Words>
  <Application>Microsoft Office PowerPoint</Application>
  <PresentationFormat>Custom</PresentationFormat>
  <Paragraphs>122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Marcellus</vt:lpstr>
      <vt:lpstr>Montserrat</vt:lpstr>
      <vt:lpstr>Arial</vt:lpstr>
      <vt:lpstr>Marcellus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João Cardoso</cp:lastModifiedBy>
  <cp:revision>13</cp:revision>
  <dcterms:created xsi:type="dcterms:W3CDTF">2025-10-28T01:01:10Z</dcterms:created>
  <dcterms:modified xsi:type="dcterms:W3CDTF">2025-10-29T10:43:10Z</dcterms:modified>
</cp:coreProperties>
</file>